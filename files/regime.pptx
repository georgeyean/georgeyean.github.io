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8"/>
  </p:notesMasterIdLst>
  <p:sldIdLst>
    <p:sldId id="256" r:id="rId2"/>
    <p:sldId id="299" r:id="rId3"/>
    <p:sldId id="258" r:id="rId4"/>
    <p:sldId id="292" r:id="rId5"/>
    <p:sldId id="295" r:id="rId6"/>
    <p:sldId id="297" r:id="rId7"/>
    <p:sldId id="261" r:id="rId8"/>
    <p:sldId id="262" r:id="rId9"/>
    <p:sldId id="267" r:id="rId10"/>
    <p:sldId id="291" r:id="rId11"/>
    <p:sldId id="264" r:id="rId12"/>
    <p:sldId id="298" r:id="rId13"/>
    <p:sldId id="289" r:id="rId14"/>
    <p:sldId id="288" r:id="rId15"/>
    <p:sldId id="273" r:id="rId16"/>
    <p:sldId id="274" r:id="rId17"/>
    <p:sldId id="294" r:id="rId18"/>
    <p:sldId id="304" r:id="rId19"/>
    <p:sldId id="275" r:id="rId20"/>
    <p:sldId id="276" r:id="rId21"/>
    <p:sldId id="280" r:id="rId22"/>
    <p:sldId id="287" r:id="rId23"/>
    <p:sldId id="282" r:id="rId24"/>
    <p:sldId id="303" r:id="rId25"/>
    <p:sldId id="284" r:id="rId26"/>
    <p:sldId id="301" r:id="rId27"/>
    <p:sldId id="302" r:id="rId28"/>
    <p:sldId id="285" r:id="rId29"/>
    <p:sldId id="286" r:id="rId30"/>
    <p:sldId id="300" r:id="rId31"/>
    <p:sldId id="278" r:id="rId32"/>
    <p:sldId id="279" r:id="rId33"/>
    <p:sldId id="269" r:id="rId34"/>
    <p:sldId id="277" r:id="rId35"/>
    <p:sldId id="290" r:id="rId36"/>
    <p:sldId id="257" r:id="rId3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65B8"/>
    <a:srgbClr val="376EC8"/>
    <a:srgbClr val="3A75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962"/>
    <p:restoredTop sz="78700"/>
  </p:normalViewPr>
  <p:slideViewPr>
    <p:cSldViewPr snapToGrid="0">
      <p:cViewPr varScale="1">
        <p:scale>
          <a:sx n="130" d="100"/>
          <a:sy n="130" d="100"/>
        </p:scale>
        <p:origin x="2152"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1T00:40:34.641"/>
    </inkml:context>
    <inkml:brush xml:id="br0">
      <inkml:brushProperty name="width" value="0.05" units="cm"/>
      <inkml:brushProperty name="height" value="0.05" units="cm"/>
      <inkml:brushProperty name="color" value="#E71224"/>
    </inkml:brush>
  </inkml:definitions>
  <inkml:trace contextRef="#ctx0" brushRef="#br0">1111 402 24575,'-39'0'0,"-10"0"0,-39 0 0,-8 0 0,45 0 0,0 0 0,-48 0 0,11 6 0,13 7 0,13 8 0,11 4 0,11-3 0,15-5 0,6-3 0,-1 1 0,-3 1 0,-4 2 0,2 1 0,6-4 0,8-3 0,1 0 0,-4 8 0,-5 12 0,-6 17 0,-1 15 0,3 8 0,5 2 0,7-5 0,6-6 0,3-4 0,4-4 0,3 0 0,5-1 0,8-5 0,4 0 0,4-3 0,5-2 0,2 2 0,3-1 0,0-7 0,-3-5 0,6-8 0,7-6 0,16 0 0,19-2 0,-30-9 0,2-1 0,10-1 0,2-1 0,8-1 0,1-1 0,6-1 0,-1-1 0,-2 0 0,0-1 0,-1 1 0,0-2 0,-2 1 0,1-1 0,2-1 0,-1-1 0,0-1 0,-1-1 0,-2-2 0,0 0 0,-5-2 0,-2 0 0,-7 0 0,0-1 0,-4-1 0,-1-2 0,38-12 0,-12-4 0,-11-3 0,-9-2 0,-5-8 0,-4-5 0,0-8 0,-6-1 0,-7 5 0,-9 7 0,-8 12 0,-5 2 0,1-5 0,3-13 0,3-10 0,1-4 0,-3 4 0,-3 7 0,-6 0 0,-5 1 0,-4-3 0,-3-4 0,-3-1 0,-12-5 0,-17-2 0,-15 0 0,-15 3 0,-7 5 0,-6 5 0,-7 3 0,-3 5 0,0 3 0,2 7 0,2 6 0,7 5 0,4 9 0,2 5 0,-3 4 0,-4 5 0,-5 0 0,-6 4 0,3 3 0,6 4 0,4 4 0,9 1 0,2 1 0,7-1 0,13-2 0,14-2 0,12-4 0,3 0 0,-1 4 0,-3 4 0,-2 2 0,4-1 0,5-4 0,5-6 0,-3 1 0,-7 2 0,-5 6 0,-3 4 0,3-2 0,8-5 0,6-6 0,4-3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 name="Google Shape;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biggest puzzle for me is why democracies were pretty good doing back </a:t>
            </a:r>
            <a:r>
              <a:rPr lang="en-US"/>
              <a:t>to pre-2000s?</a:t>
            </a:r>
            <a:endParaRPr lang="en-US" dirty="0"/>
          </a:p>
        </p:txBody>
      </p:sp>
    </p:spTree>
    <p:extLst>
      <p:ext uri="{BB962C8B-B14F-4D97-AF65-F5344CB8AC3E}">
        <p14:creationId xmlns:p14="http://schemas.microsoft.com/office/powerpoint/2010/main" val="1785980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96263de2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“trade and economic </a:t>
            </a:r>
            <a:r>
              <a:rPr lang="en-US" dirty="0" err="1"/>
              <a:t>endeavour</a:t>
            </a:r>
            <a:r>
              <a:rPr lang="en-US" dirty="0"/>
              <a:t> should be conducted with a view to raising standards of living, ensuring full employment and a large and steadily growing volume of real income and effective demand, developing the full use of the resources of the world and expanding the production and exchange of goods.”</a:t>
            </a:r>
            <a:br>
              <a:rPr lang="en-US" dirty="0"/>
            </a:br>
            <a:br>
              <a:rPr lang="en-US" dirty="0"/>
            </a:br>
            <a:r>
              <a:rPr lang="en-US" dirty="0"/>
              <a:t>Institutional development frequently depends on prior outcomes ("path dependence") and evolutionary forces. As institutions evolve, rational design choices can arise in two ways. First, participants may modify institutions in stages, by making purposeful decisions as new circumstances arise, by imitating features from other institutions that work well in similar settings, or by designing explicit institutions to strengthen tacit cooperation. Second, institutions may evolve as states (and other international actors) select among them over time. States favor some institutions because they are better suited to new conditions or new problems and abandon or downplay those that are not. For example, the obvious place to handle intellectual property rights would seem to be the World Intellectual Property Organization, but the countries that generate most patents chose to move the issue to the WTO because it offered better enforcement mechanisms. Thus the institutionalization of the issue evolved significantly, not because an older institution was modified, but because another one offered a better institutional design.</a:t>
            </a:r>
          </a:p>
          <a:p>
            <a:pPr marL="0" lvl="0" indent="0" algn="l" rtl="0">
              <a:spcBef>
                <a:spcPts val="0"/>
              </a:spcBef>
              <a:spcAft>
                <a:spcPts val="0"/>
              </a:spcAft>
              <a:buNone/>
            </a:pPr>
            <a:endParaRPr dirty="0"/>
          </a:p>
        </p:txBody>
      </p:sp>
      <p:sp>
        <p:nvSpPr>
          <p:cNvPr id="78" name="Google Shape;78;g296263de2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38fc1e5800_0_4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But nearly end of 1980, autocracies lost out in computerization. </a:t>
            </a:r>
            <a:endParaRPr dirty="0"/>
          </a:p>
        </p:txBody>
      </p:sp>
      <p:sp>
        <p:nvSpPr>
          <p:cNvPr id="97" name="Google Shape;97;g338fc1e5800_0_4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0081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Fundamental problems for </a:t>
            </a:r>
            <a:r>
              <a:rPr lang="en-US" dirty="0" err="1"/>
              <a:t>aut</a:t>
            </a:r>
            <a:r>
              <a:rPr lang="en-US" dirty="0"/>
              <a:t> even with smart leaders: weak demand, low credibility if no trade and </a:t>
            </a:r>
            <a:r>
              <a:rPr lang="en-US" dirty="0" err="1"/>
              <a:t>inst</a:t>
            </a:r>
            <a:r>
              <a:rPr lang="en-US" dirty="0"/>
              <a:t> reform.</a:t>
            </a:r>
          </a:p>
        </p:txBody>
      </p:sp>
    </p:spTree>
    <p:extLst>
      <p:ext uri="{BB962C8B-B14F-4D97-AF65-F5344CB8AC3E}">
        <p14:creationId xmlns:p14="http://schemas.microsoft.com/office/powerpoint/2010/main" val="559995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38f882fc4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Globalization met two conditions, and allows demand competition, </a:t>
            </a:r>
          </a:p>
          <a:p>
            <a:pPr algn="l"/>
            <a:r>
              <a:rPr lang="en-US" b="0" i="0" dirty="0">
                <a:solidFill>
                  <a:srgbClr val="6E6C68"/>
                </a:solidFill>
                <a:effectLst/>
                <a:latin typeface="Anthropic Sans"/>
              </a:rPr>
              <a:t>Pre-1990: Growth required mobilizing domestic demand → inclusive institutions (redistribution, labor rights, consumption) were </a:t>
            </a:r>
            <a:r>
              <a:rPr lang="en-US" b="0" i="1" dirty="0">
                <a:solidFill>
                  <a:srgbClr val="6E6C68"/>
                </a:solidFill>
                <a:effectLst/>
                <a:latin typeface="Anthropic Sans"/>
              </a:rPr>
              <a:t>functional</a:t>
            </a:r>
            <a:r>
              <a:rPr lang="en-US" b="0" i="0" dirty="0">
                <a:solidFill>
                  <a:srgbClr val="6E6C68"/>
                </a:solidFill>
                <a:effectLst/>
                <a:latin typeface="Anthropic Sans"/>
              </a:rPr>
              <a:t> for growth → democratic advantage</a:t>
            </a:r>
          </a:p>
          <a:p>
            <a:pPr algn="l"/>
            <a:r>
              <a:rPr lang="en-US" b="0" i="0">
                <a:solidFill>
                  <a:srgbClr val="6E6C68"/>
                </a:solidFill>
                <a:effectLst/>
                <a:latin typeface="Anthropic Sans"/>
              </a:rPr>
              <a:t>Post-1990: Growth requires competing for external demand → inclusive institutions become </a:t>
            </a:r>
            <a:r>
              <a:rPr lang="en-US" b="0" i="1">
                <a:solidFill>
                  <a:srgbClr val="6E6C68"/>
                </a:solidFill>
                <a:effectLst/>
                <a:latin typeface="Anthropic Sans"/>
              </a:rPr>
              <a:t>costly</a:t>
            </a:r>
            <a:r>
              <a:rPr lang="en-US" b="0" i="0">
                <a:solidFill>
                  <a:srgbClr val="6E6C68"/>
                </a:solidFill>
                <a:effectLst/>
                <a:latin typeface="Anthropic Sans"/>
              </a:rPr>
              <a:t> (higher wages, slower policy, distributional politics) → autocratic advantage conditional on engagement + reform</a:t>
            </a:r>
          </a:p>
          <a:p>
            <a:pPr marL="0" lvl="0" indent="0" algn="l" rtl="0">
              <a:spcBef>
                <a:spcPts val="0"/>
              </a:spcBef>
              <a:spcAft>
                <a:spcPts val="0"/>
              </a:spcAft>
              <a:buNone/>
            </a:pPr>
            <a:endParaRPr dirty="0"/>
          </a:p>
        </p:txBody>
      </p:sp>
      <p:sp>
        <p:nvSpPr>
          <p:cNvPr id="106" name="Google Shape;106;g338f882fc4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38fc1e5800_0_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g338fc1e5800_0_4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38fc1e5800_0_4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Active and passive</a:t>
            </a:r>
            <a:endParaRPr dirty="0"/>
          </a:p>
        </p:txBody>
      </p:sp>
      <p:sp>
        <p:nvSpPr>
          <p:cNvPr id="155" name="Google Shape;155;g338fc1e5800_0_4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38fc1e5800_0_4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-These measures, partly because they work, were used to manage resistance, enforce compliance, and stabilize systems that prioritize market logic </a:t>
            </a:r>
          </a:p>
          <a:p>
            <a:pPr marL="0" lvl="0" indent="0" algn="l" rtl="0">
              <a:spcBef>
                <a:spcPts val="0"/>
              </a:spcBef>
              <a:spcAft>
                <a:spcPts val="0"/>
              </a:spcAft>
              <a:buNone/>
            </a:pPr>
            <a:r>
              <a:rPr lang="en-US" dirty="0"/>
              <a:t>-some regime characteristics that may otherwise be disadvantages in a relatively closed economy can indeed become advantageous, since the goal is about competing for external demand</a:t>
            </a:r>
          </a:p>
          <a:p>
            <a:pPr marL="0" lvl="0" indent="0" algn="l" rtl="0">
              <a:spcBef>
                <a:spcPts val="0"/>
              </a:spcBef>
              <a:spcAft>
                <a:spcPts val="0"/>
              </a:spcAft>
              <a:buNone/>
            </a:pPr>
            <a:r>
              <a:rPr lang="en-US" dirty="0"/>
              <a:t>-In contrast, many Latin American democracies even have stricter labor regulations than OECD countries (</a:t>
            </a:r>
            <a:r>
              <a:rPr lang="en-US" dirty="0" err="1"/>
              <a:t>Feierherd</a:t>
            </a:r>
            <a:r>
              <a:rPr lang="en-US" dirty="0"/>
              <a:t> 2024)</a:t>
            </a:r>
            <a:endParaRPr dirty="0"/>
          </a:p>
        </p:txBody>
      </p:sp>
      <p:sp>
        <p:nvSpPr>
          <p:cNvPr id="155" name="Google Shape;155;g338fc1e5800_0_4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0094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95ab1ea15c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global trade system, combined with floating exchange rates and freer capital flows</a:t>
            </a:r>
            <a:endParaRPr dirty="0"/>
          </a:p>
        </p:txBody>
      </p:sp>
      <p:sp>
        <p:nvSpPr>
          <p:cNvPr id="133" name="Google Shape;133;g295ab1ea15c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95ab1ea15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9" name="Google Shape;169;g295ab1ea15c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975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2d53e224d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g32d53e224d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3351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2d53e224d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7" name="Google Shape;197;g32d53e224d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38fc1e5800_0_27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04" name="Google Shape;204;g338fc1e5800_0_27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38fc1e5800_0_27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04" name="Google Shape;204;g338fc1e5800_0_27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344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38fc1e5800_0_27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04" name="Google Shape;204;g338fc1e5800_0_27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99356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38fc1e5800_0_1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15" name="Google Shape;215;g338fc1e5800_0_1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38fc1e5800_0_10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g338fc1e5800_0_10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38fc1e5800_0_10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56" name="Google Shape;256;g338fc1e5800_0_10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2d53e224d4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32d53e224d4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2d53e224d4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g32d53e224d4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236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2d53e224d4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83" name="Google Shape;283;g32d53e224d4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2d53e224d4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83" name="Google Shape;283;g32d53e224d4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46654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2d53e224d4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83" name="Google Shape;283;g32d53e224d4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90046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3947c5f68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g33947c5f68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38fc1e5800_0_1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98" name="Google Shape;298;g338fc1e5800_0_1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33173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38fc1e5800_0_10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g338fc1e5800_0_10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38fc1e5800_0_1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Although it’s hard to know the counterfactual of reform effect of  when joiners are not in WTO, we can still get some effect</a:t>
            </a:r>
            <a:endParaRPr dirty="0"/>
          </a:p>
        </p:txBody>
      </p:sp>
      <p:sp>
        <p:nvSpPr>
          <p:cNvPr id="248" name="Google Shape;248;g338fc1e5800_0_1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95ab1ea15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9" name="Google Shape;169;g295ab1ea15c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2d53e224d4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2" name="Google Shape;232;g32d53e224d4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2d53e224d4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g32d53e224d4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87817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dcc1a2d96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0" name="Google Shape;60;g2dcc1a2d96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customXml" Target="../ink/ink1.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1.xml"/><Relationship Id="rId5" Type="http://schemas.openxmlformats.org/officeDocument/2006/relationships/image" Target="../media/image27.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sp>
        <p:nvSpPr>
          <p:cNvPr id="54" name="Google Shape;54;p13"/>
          <p:cNvSpPr/>
          <p:nvPr/>
        </p:nvSpPr>
        <p:spPr>
          <a:xfrm>
            <a:off x="0" y="0"/>
            <a:ext cx="9144000" cy="51435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5" name="Google Shape;55;p13"/>
          <p:cNvSpPr/>
          <p:nvPr/>
        </p:nvSpPr>
        <p:spPr>
          <a:xfrm>
            <a:off x="912473" y="1327600"/>
            <a:ext cx="7243331" cy="5808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r>
              <a:rPr lang="en-US" sz="2600" b="1" dirty="0">
                <a:solidFill>
                  <a:schemeClr val="dk1"/>
                </a:solidFill>
                <a:latin typeface="Palatino" pitchFamily="2" charset="77"/>
                <a:ea typeface="Palatino" pitchFamily="2" charset="77"/>
              </a:rPr>
              <a:t>The Globalization Origins of Autocratic Rise</a:t>
            </a:r>
          </a:p>
          <a:p>
            <a:pPr marL="0" marR="0" lvl="0" indent="0" algn="l" rtl="0">
              <a:lnSpc>
                <a:spcPct val="90000"/>
              </a:lnSpc>
              <a:spcBef>
                <a:spcPts val="0"/>
              </a:spcBef>
              <a:spcAft>
                <a:spcPts val="0"/>
              </a:spcAft>
              <a:buNone/>
            </a:pPr>
            <a:endParaRPr sz="2700" b="1" dirty="0">
              <a:solidFill>
                <a:schemeClr val="dk1"/>
              </a:solidFill>
              <a:latin typeface="Palatino" pitchFamily="2" charset="77"/>
              <a:ea typeface="Palatino" pitchFamily="2" charset="77"/>
            </a:endParaRPr>
          </a:p>
          <a:p>
            <a:pPr marL="0" marR="0" lvl="0" indent="0" algn="l" rtl="0">
              <a:lnSpc>
                <a:spcPct val="90000"/>
              </a:lnSpc>
              <a:spcBef>
                <a:spcPts val="0"/>
              </a:spcBef>
              <a:spcAft>
                <a:spcPts val="0"/>
              </a:spcAft>
              <a:buNone/>
            </a:pPr>
            <a:r>
              <a:rPr lang="en-US" sz="2100" b="1" dirty="0">
                <a:solidFill>
                  <a:schemeClr val="dk1"/>
                </a:solidFill>
                <a:latin typeface="Palatino" pitchFamily="2" charset="77"/>
                <a:ea typeface="Palatino" pitchFamily="2" charset="77"/>
              </a:rPr>
              <a:t>    </a:t>
            </a:r>
            <a:endParaRPr sz="2400" b="1" dirty="0">
              <a:solidFill>
                <a:schemeClr val="dk1"/>
              </a:solidFill>
              <a:latin typeface="Palatino" pitchFamily="2" charset="77"/>
              <a:ea typeface="Palatino" pitchFamily="2" charset="77"/>
            </a:endParaRPr>
          </a:p>
        </p:txBody>
      </p:sp>
      <p:sp>
        <p:nvSpPr>
          <p:cNvPr id="56" name="Google Shape;56;p13"/>
          <p:cNvSpPr txBox="1"/>
          <p:nvPr/>
        </p:nvSpPr>
        <p:spPr>
          <a:xfrm>
            <a:off x="3075648" y="3376967"/>
            <a:ext cx="2935685" cy="8866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504"/>
              </a:spcBef>
              <a:spcAft>
                <a:spcPts val="0"/>
              </a:spcAft>
              <a:buNone/>
            </a:pPr>
            <a:r>
              <a:rPr lang="en-US" sz="1512" b="1" i="0" u="none" strike="noStrike" cap="none" dirty="0">
                <a:solidFill>
                  <a:schemeClr val="dk1"/>
                </a:solidFill>
                <a:latin typeface="Palatino" pitchFamily="2" charset="77"/>
                <a:ea typeface="Palatino" pitchFamily="2" charset="77"/>
                <a:sym typeface="Arial"/>
              </a:rPr>
              <a:t>George Yean</a:t>
            </a:r>
            <a:endParaRPr sz="1512" b="1" dirty="0">
              <a:solidFill>
                <a:schemeClr val="dk1"/>
              </a:solidFill>
              <a:latin typeface="Palatino" pitchFamily="2" charset="77"/>
              <a:ea typeface="Palatino" pitchFamily="2" charset="77"/>
            </a:endParaRPr>
          </a:p>
          <a:p>
            <a:pPr marL="0" marR="0" lvl="0" indent="0" algn="ctr" rtl="0">
              <a:lnSpc>
                <a:spcPct val="100000"/>
              </a:lnSpc>
              <a:spcBef>
                <a:spcPts val="504"/>
              </a:spcBef>
              <a:spcAft>
                <a:spcPts val="0"/>
              </a:spcAft>
              <a:buNone/>
            </a:pPr>
            <a:r>
              <a:rPr lang="en-US" sz="1200" b="1" dirty="0">
                <a:solidFill>
                  <a:schemeClr val="dk1"/>
                </a:solidFill>
                <a:latin typeface="Palatino" pitchFamily="2" charset="77"/>
                <a:ea typeface="Palatino" pitchFamily="2" charset="77"/>
              </a:rPr>
              <a:t>PhD Candidate, Harvard University</a:t>
            </a:r>
          </a:p>
          <a:p>
            <a:pPr marL="0" marR="0" lvl="0" indent="0" algn="ctr" rtl="0">
              <a:lnSpc>
                <a:spcPct val="100000"/>
              </a:lnSpc>
              <a:spcBef>
                <a:spcPts val="504"/>
              </a:spcBef>
              <a:spcAft>
                <a:spcPts val="0"/>
              </a:spcAft>
              <a:buNone/>
            </a:pPr>
            <a:r>
              <a:rPr lang="en-US" sz="1200" b="1" dirty="0">
                <a:solidFill>
                  <a:schemeClr val="dk1"/>
                </a:solidFill>
                <a:latin typeface="Palatino" pitchFamily="2" charset="77"/>
                <a:ea typeface="Palatino" pitchFamily="2" charset="77"/>
              </a:rPr>
              <a:t>BYU, 2026</a:t>
            </a:r>
            <a:endParaRPr sz="1200" b="1" dirty="0">
              <a:solidFill>
                <a:schemeClr val="dk1"/>
              </a:solidFill>
              <a:latin typeface="Palatino" pitchFamily="2" charset="77"/>
              <a:ea typeface="Palatino" pitchFamily="2" charset="7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B6E3D5-3AC3-63A3-464A-494544BD6D61}"/>
              </a:ext>
            </a:extLst>
          </p:cNvPr>
          <p:cNvSpPr txBox="1"/>
          <p:nvPr/>
        </p:nvSpPr>
        <p:spPr>
          <a:xfrm>
            <a:off x="1015999" y="820234"/>
            <a:ext cx="6925733" cy="2909001"/>
          </a:xfrm>
          <a:prstGeom prst="rect">
            <a:avLst/>
          </a:prstGeom>
          <a:solidFill>
            <a:schemeClr val="tx1"/>
          </a:solidFill>
        </p:spPr>
        <p:txBody>
          <a:bodyPr wrap="square">
            <a:spAutoFit/>
          </a:bodyPr>
          <a:lstStyle/>
          <a:p>
            <a:pPr>
              <a:lnSpc>
                <a:spcPct val="150000"/>
              </a:lnSpc>
            </a:pPr>
            <a:r>
              <a:rPr lang="en-US" sz="1600" dirty="0">
                <a:solidFill>
                  <a:schemeClr val="bg1"/>
                </a:solidFill>
                <a:highlight>
                  <a:srgbClr val="000000"/>
                </a:highlight>
                <a:latin typeface="Book Antiqua" panose="02040602050305030304" pitchFamily="18" charset="0"/>
              </a:rPr>
              <a:t>”… With the spectacular economic growth under nondemocracy in China, the eclipse of the Arab Spring, and the recent rise of populist politics in Europe and the United States, the view that </a:t>
            </a:r>
            <a:r>
              <a:rPr lang="en-US" sz="1600" u="sng" dirty="0">
                <a:solidFill>
                  <a:schemeClr val="bg1"/>
                </a:solidFill>
                <a:highlight>
                  <a:srgbClr val="000000"/>
                </a:highlight>
                <a:latin typeface="Book Antiqua" panose="02040602050305030304" pitchFamily="18" charset="0"/>
              </a:rPr>
              <a:t>democratic institutions</a:t>
            </a:r>
            <a:r>
              <a:rPr lang="en-US" sz="1600" b="1" u="sng" dirty="0">
                <a:solidFill>
                  <a:schemeClr val="bg1"/>
                </a:solidFill>
                <a:highlight>
                  <a:srgbClr val="000000"/>
                </a:highlight>
                <a:latin typeface="Book Antiqua" panose="02040602050305030304" pitchFamily="18" charset="0"/>
              </a:rPr>
              <a:t> </a:t>
            </a:r>
            <a:r>
              <a:rPr lang="en-US" sz="1600" u="sng" dirty="0">
                <a:solidFill>
                  <a:schemeClr val="bg1"/>
                </a:solidFill>
                <a:highlight>
                  <a:srgbClr val="000000"/>
                </a:highlight>
                <a:latin typeface="Book Antiqua" panose="02040602050305030304" pitchFamily="18" charset="0"/>
              </a:rPr>
              <a:t>are at best irrelevant and at worst a hindrance</a:t>
            </a:r>
            <a:r>
              <a:rPr lang="en-US" sz="1600" dirty="0">
                <a:solidFill>
                  <a:schemeClr val="bg1"/>
                </a:solidFill>
                <a:highlight>
                  <a:srgbClr val="000000"/>
                </a:highlight>
                <a:latin typeface="Book Antiqua" panose="02040602050305030304" pitchFamily="18" charset="0"/>
              </a:rPr>
              <a:t> for economic growth has become increasingly popular in both academia and policy discourse …”</a:t>
            </a:r>
          </a:p>
          <a:p>
            <a:pPr>
              <a:lnSpc>
                <a:spcPct val="150000"/>
              </a:lnSpc>
            </a:pPr>
            <a:endParaRPr lang="en-US" sz="1200" dirty="0">
              <a:solidFill>
                <a:schemeClr val="bg1"/>
              </a:solidFill>
              <a:highlight>
                <a:srgbClr val="000000"/>
              </a:highlight>
              <a:latin typeface="Book Antiqua" panose="02040602050305030304" pitchFamily="18" charset="0"/>
            </a:endParaRPr>
          </a:p>
          <a:p>
            <a:pPr algn="r">
              <a:lnSpc>
                <a:spcPct val="150000"/>
              </a:lnSpc>
            </a:pPr>
            <a:r>
              <a:rPr lang="en-US" sz="1600" dirty="0">
                <a:solidFill>
                  <a:schemeClr val="bg1"/>
                </a:solidFill>
                <a:highlight>
                  <a:srgbClr val="000000"/>
                </a:highlight>
                <a:latin typeface="Book Antiqua" panose="02040602050305030304" pitchFamily="18" charset="0"/>
              </a:rPr>
              <a:t>–– Acemoglu et al. 2019, JPE</a:t>
            </a:r>
          </a:p>
          <a:p>
            <a:pPr algn="r">
              <a:lnSpc>
                <a:spcPct val="150000"/>
              </a:lnSpc>
            </a:pPr>
            <a:endParaRPr lang="en-US" sz="1600" dirty="0">
              <a:solidFill>
                <a:schemeClr val="bg1"/>
              </a:solidFill>
              <a:highlight>
                <a:srgbClr val="000000"/>
              </a:highlight>
              <a:latin typeface="Book Antiqua" panose="02040602050305030304" pitchFamily="18" charset="0"/>
            </a:endParaRPr>
          </a:p>
        </p:txBody>
      </p:sp>
      <p:sp>
        <p:nvSpPr>
          <p:cNvPr id="4" name="TextBox 3">
            <a:extLst>
              <a:ext uri="{FF2B5EF4-FFF2-40B4-BE49-F238E27FC236}">
                <a16:creationId xmlns:a16="http://schemas.microsoft.com/office/drawing/2014/main" id="{DD494A83-8E18-6555-87BF-4D7E79F0E1EC}"/>
              </a:ext>
            </a:extLst>
          </p:cNvPr>
          <p:cNvSpPr txBox="1"/>
          <p:nvPr/>
        </p:nvSpPr>
        <p:spPr>
          <a:xfrm>
            <a:off x="4142875" y="4138600"/>
            <a:ext cx="2460930" cy="369332"/>
          </a:xfrm>
          <a:prstGeom prst="rect">
            <a:avLst/>
          </a:prstGeom>
          <a:noFill/>
        </p:spPr>
        <p:txBody>
          <a:bodyPr wrap="none" rtlCol="0">
            <a:spAutoFit/>
          </a:bodyPr>
          <a:lstStyle/>
          <a:p>
            <a:r>
              <a:rPr lang="en-US" sz="1800" b="1" dirty="0">
                <a:latin typeface="Palatino" pitchFamily="2" charset="77"/>
                <a:ea typeface="Palatino" pitchFamily="2" charset="77"/>
                <a:sym typeface="Wingdings" pitchFamily="2" charset="2"/>
              </a:rPr>
              <a:t>Pessimistic, but why?</a:t>
            </a:r>
            <a:endParaRPr lang="en-US" sz="1800" b="1" dirty="0">
              <a:latin typeface="Palatino" pitchFamily="2" charset="77"/>
              <a:ea typeface="Palatino" pitchFamily="2" charset="77"/>
            </a:endParaRPr>
          </a:p>
        </p:txBody>
      </p:sp>
    </p:spTree>
    <p:extLst>
      <p:ext uri="{BB962C8B-B14F-4D97-AF65-F5344CB8AC3E}">
        <p14:creationId xmlns:p14="http://schemas.microsoft.com/office/powerpoint/2010/main" val="123364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
        <p:cNvGrpSpPr/>
        <p:nvPr/>
      </p:nvGrpSpPr>
      <p:grpSpPr>
        <a:xfrm>
          <a:off x="0" y="0"/>
          <a:ext cx="0" cy="0"/>
          <a:chOff x="0" y="0"/>
          <a:chExt cx="0" cy="0"/>
        </a:xfrm>
      </p:grpSpPr>
      <p:sp>
        <p:nvSpPr>
          <p:cNvPr id="80" name="Google Shape;80;p15"/>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81" name="Google Shape;81;p15"/>
          <p:cNvSpPr txBox="1"/>
          <p:nvPr/>
        </p:nvSpPr>
        <p:spPr>
          <a:xfrm>
            <a:off x="0" y="526029"/>
            <a:ext cx="861141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Autocratic Rise: Economic </a:t>
            </a:r>
            <a:endParaRPr sz="2400" b="1" dirty="0">
              <a:solidFill>
                <a:schemeClr val="bg2">
                  <a:lumMod val="40000"/>
                  <a:lumOff val="60000"/>
                </a:schemeClr>
              </a:solidFill>
              <a:latin typeface="Palatino" pitchFamily="2" charset="77"/>
              <a:ea typeface="Palatino" pitchFamily="2" charset="77"/>
            </a:endParaRPr>
          </a:p>
        </p:txBody>
      </p:sp>
      <p:pic>
        <p:nvPicPr>
          <p:cNvPr id="2" name="Picture 1">
            <a:extLst>
              <a:ext uri="{FF2B5EF4-FFF2-40B4-BE49-F238E27FC236}">
                <a16:creationId xmlns:a16="http://schemas.microsoft.com/office/drawing/2014/main" id="{AC4D8DD4-3EA4-19D1-2A71-4CFD398B2DF7}"/>
              </a:ext>
            </a:extLst>
          </p:cNvPr>
          <p:cNvPicPr>
            <a:picLocks noChangeAspect="1"/>
          </p:cNvPicPr>
          <p:nvPr/>
        </p:nvPicPr>
        <p:blipFill rotWithShape="1">
          <a:blip r:embed="rId3"/>
          <a:srcRect l="15060" r="15237" b="24544"/>
          <a:stretch/>
        </p:blipFill>
        <p:spPr>
          <a:xfrm>
            <a:off x="-146742" y="1487120"/>
            <a:ext cx="4133088" cy="3167566"/>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D0CC2034-715F-4B1A-4A1C-39BDB07E9E5F}"/>
                  </a:ext>
                </a:extLst>
              </p14:cNvPr>
              <p14:cNvContentPartPr/>
              <p14:nvPr/>
            </p14:nvContentPartPr>
            <p14:xfrm>
              <a:off x="7419672" y="4271616"/>
              <a:ext cx="1093320" cy="633960"/>
            </p14:xfrm>
          </p:contentPart>
        </mc:Choice>
        <mc:Fallback xmlns="">
          <p:pic>
            <p:nvPicPr>
              <p:cNvPr id="3" name="Ink 2">
                <a:extLst>
                  <a:ext uri="{FF2B5EF4-FFF2-40B4-BE49-F238E27FC236}">
                    <a16:creationId xmlns:a16="http://schemas.microsoft.com/office/drawing/2014/main" id="{D0CC2034-715F-4B1A-4A1C-39BDB07E9E5F}"/>
                  </a:ext>
                </a:extLst>
              </p:cNvPr>
              <p:cNvPicPr/>
              <p:nvPr/>
            </p:nvPicPr>
            <p:blipFill>
              <a:blip r:embed="rId7"/>
              <a:stretch>
                <a:fillRect/>
              </a:stretch>
            </p:blipFill>
            <p:spPr>
              <a:xfrm>
                <a:off x="7410672" y="4262976"/>
                <a:ext cx="1110960" cy="651600"/>
              </a:xfrm>
              <a:prstGeom prst="rect">
                <a:avLst/>
              </a:prstGeom>
            </p:spPr>
          </p:pic>
        </mc:Fallback>
      </mc:AlternateContent>
      <p:pic>
        <p:nvPicPr>
          <p:cNvPr id="4" name="Picture 3">
            <a:extLst>
              <a:ext uri="{FF2B5EF4-FFF2-40B4-BE49-F238E27FC236}">
                <a16:creationId xmlns:a16="http://schemas.microsoft.com/office/drawing/2014/main" id="{49A1B708-BAFF-9ECA-ADFF-47E7BE195364}"/>
              </a:ext>
            </a:extLst>
          </p:cNvPr>
          <p:cNvPicPr>
            <a:picLocks noChangeAspect="1"/>
          </p:cNvPicPr>
          <p:nvPr/>
        </p:nvPicPr>
        <p:blipFill>
          <a:blip r:embed="rId8"/>
          <a:stretch>
            <a:fillRect/>
          </a:stretch>
        </p:blipFill>
        <p:spPr>
          <a:xfrm>
            <a:off x="3495486" y="257590"/>
            <a:ext cx="5768390" cy="2641130"/>
          </a:xfrm>
          <a:prstGeom prst="rect">
            <a:avLst/>
          </a:prstGeom>
        </p:spPr>
      </p:pic>
      <p:pic>
        <p:nvPicPr>
          <p:cNvPr id="84" name="Google Shape;84;p15"/>
          <p:cNvPicPr preferRelativeResize="0"/>
          <p:nvPr/>
        </p:nvPicPr>
        <p:blipFill rotWithShape="1">
          <a:blip r:embed="rId9">
            <a:alphaModFix/>
          </a:blip>
          <a:srcRect l="16936" b="22797"/>
          <a:stretch/>
        </p:blipFill>
        <p:spPr>
          <a:xfrm>
            <a:off x="4649525" y="2898720"/>
            <a:ext cx="4133088" cy="208293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17"/>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100" name="Google Shape;100;p17"/>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bg1"/>
                </a:solidFill>
                <a:latin typeface="Palatino" pitchFamily="2" charset="77"/>
                <a:ea typeface="Palatino" pitchFamily="2" charset="77"/>
              </a:rPr>
              <a:t>What Does Literature Say?</a:t>
            </a:r>
            <a:endParaRPr sz="2400" b="1" dirty="0">
              <a:solidFill>
                <a:schemeClr val="lt1"/>
              </a:solidFill>
              <a:latin typeface="Palatino" pitchFamily="2" charset="77"/>
              <a:ea typeface="Palatino" pitchFamily="2" charset="77"/>
            </a:endParaRPr>
          </a:p>
        </p:txBody>
      </p:sp>
      <p:sp>
        <p:nvSpPr>
          <p:cNvPr id="101" name="Google Shape;101;p17"/>
          <p:cNvSpPr txBox="1"/>
          <p:nvPr/>
        </p:nvSpPr>
        <p:spPr>
          <a:xfrm>
            <a:off x="374673" y="1701608"/>
            <a:ext cx="4731490" cy="3571767"/>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Clr>
                <a:schemeClr val="dk1"/>
              </a:buClr>
              <a:buSzPts val="1800"/>
              <a:buChar char="●"/>
            </a:pPr>
            <a:r>
              <a:rPr lang="en-US" sz="1600" u="sng" dirty="0">
                <a:solidFill>
                  <a:schemeClr val="dk1"/>
                </a:solidFill>
                <a:latin typeface="Book Antiqua" panose="02040602050305030304" pitchFamily="18" charset="0"/>
                <a:cs typeface="Calibri" panose="020F0502020204030204" pitchFamily="34" charset="0"/>
              </a:rPr>
              <a:t>Growth</a:t>
            </a:r>
            <a:r>
              <a:rPr lang="en-US" sz="1600" dirty="0">
                <a:solidFill>
                  <a:schemeClr val="dk1"/>
                </a:solidFill>
                <a:latin typeface="Book Antiqua" panose="02040602050305030304" pitchFamily="18" charset="0"/>
                <a:cs typeface="Calibri" panose="020F0502020204030204" pitchFamily="34" charset="0"/>
              </a:rPr>
              <a:t>: mixed</a:t>
            </a:r>
          </a:p>
          <a:p>
            <a:pPr marL="114300" lvl="0" algn="l" rtl="0">
              <a:lnSpc>
                <a:spcPct val="150000"/>
              </a:lnSpc>
              <a:spcBef>
                <a:spcPts val="0"/>
              </a:spcBef>
              <a:spcAft>
                <a:spcPts val="0"/>
              </a:spcAft>
              <a:buClr>
                <a:schemeClr val="dk1"/>
              </a:buClr>
              <a:buSzPts val="1800"/>
            </a:pPr>
            <a:r>
              <a:rPr lang="en-US" sz="1200" dirty="0">
                <a:solidFill>
                  <a:srgbClr val="B7B7B7"/>
                </a:solidFill>
                <a:latin typeface="Book Antiqua" panose="02040602050305030304" pitchFamily="18" charset="0"/>
                <a:cs typeface="Calibri" panose="020F0502020204030204" pitchFamily="34" charset="0"/>
              </a:rPr>
              <a:t>         (</a:t>
            </a:r>
            <a:r>
              <a:rPr lang="en-US" sz="1200" dirty="0" err="1">
                <a:solidFill>
                  <a:srgbClr val="B7B7B7"/>
                </a:solidFill>
                <a:latin typeface="Book Antiqua" panose="02040602050305030304" pitchFamily="18" charset="0"/>
                <a:cs typeface="Calibri" panose="020F0502020204030204" pitchFamily="34" charset="0"/>
              </a:rPr>
              <a:t>Przeworski</a:t>
            </a:r>
            <a:r>
              <a:rPr lang="en-US" sz="1200" dirty="0">
                <a:solidFill>
                  <a:srgbClr val="B7B7B7"/>
                </a:solidFill>
                <a:latin typeface="Book Antiqua" panose="02040602050305030304" pitchFamily="18" charset="0"/>
                <a:cs typeface="Calibri" panose="020F0502020204030204" pitchFamily="34" charset="0"/>
              </a:rPr>
              <a:t> et al. 2000; Barro 1996)</a:t>
            </a:r>
            <a:endParaRPr sz="1600" dirty="0">
              <a:solidFill>
                <a:schemeClr val="dk1"/>
              </a:solidFill>
              <a:latin typeface="Book Antiqua" panose="02040602050305030304" pitchFamily="18" charset="0"/>
              <a:cs typeface="Calibri" panose="020F0502020204030204" pitchFamily="34" charset="0"/>
            </a:endParaRPr>
          </a:p>
          <a:p>
            <a:pPr marL="457200" lvl="0" indent="-342900" algn="l" rtl="0">
              <a:lnSpc>
                <a:spcPct val="150000"/>
              </a:lnSpc>
              <a:spcBef>
                <a:spcPts val="600"/>
              </a:spcBef>
              <a:spcAft>
                <a:spcPts val="0"/>
              </a:spcAft>
              <a:buClr>
                <a:schemeClr val="dk1"/>
              </a:buClr>
              <a:buSzPts val="1800"/>
              <a:buChar char="●"/>
            </a:pPr>
            <a:r>
              <a:rPr lang="en-US" sz="1600" u="sng" dirty="0">
                <a:solidFill>
                  <a:schemeClr val="dk1"/>
                </a:solidFill>
                <a:latin typeface="Book Antiqua" panose="02040602050305030304" pitchFamily="18" charset="0"/>
                <a:cs typeface="Calibri" panose="020F0502020204030204" pitchFamily="34" charset="0"/>
              </a:rPr>
              <a:t>Exports</a:t>
            </a:r>
            <a:r>
              <a:rPr lang="en-US" sz="1600" dirty="0">
                <a:solidFill>
                  <a:schemeClr val="dk1"/>
                </a:solidFill>
                <a:latin typeface="Book Antiqua" panose="02040602050305030304" pitchFamily="18" charset="0"/>
                <a:cs typeface="Calibri" panose="020F0502020204030204" pitchFamily="34" charset="0"/>
              </a:rPr>
              <a:t>: democracy is better </a:t>
            </a:r>
          </a:p>
          <a:p>
            <a:pPr marL="114300" lvl="0" algn="l" rtl="0">
              <a:spcAft>
                <a:spcPts val="0"/>
              </a:spcAft>
              <a:buClr>
                <a:schemeClr val="dk1"/>
              </a:buClr>
              <a:buSzPts val="1800"/>
            </a:pPr>
            <a:r>
              <a:rPr lang="en-US" sz="1600" dirty="0">
                <a:solidFill>
                  <a:schemeClr val="dk1"/>
                </a:solidFill>
                <a:latin typeface="Book Antiqua" panose="02040602050305030304" pitchFamily="18" charset="0"/>
                <a:cs typeface="Calibri" panose="020F0502020204030204" pitchFamily="34" charset="0"/>
              </a:rPr>
              <a:t>       </a:t>
            </a:r>
            <a:r>
              <a:rPr lang="en-US" sz="1200" dirty="0">
                <a:solidFill>
                  <a:srgbClr val="B7B7B7"/>
                </a:solidFill>
                <a:latin typeface="Book Antiqua" panose="02040602050305030304" pitchFamily="18" charset="0"/>
                <a:cs typeface="Calibri" panose="020F0502020204030204" pitchFamily="34" charset="0"/>
              </a:rPr>
              <a:t>(</a:t>
            </a:r>
            <a:r>
              <a:rPr lang="en-US" sz="1200" dirty="0" err="1">
                <a:solidFill>
                  <a:srgbClr val="B7B7B7"/>
                </a:solidFill>
                <a:latin typeface="Book Antiqua" panose="02040602050305030304" pitchFamily="18" charset="0"/>
                <a:cs typeface="Calibri" panose="020F0502020204030204" pitchFamily="34" charset="0"/>
              </a:rPr>
              <a:t>Eichengreen</a:t>
            </a:r>
            <a:r>
              <a:rPr lang="en-US" sz="1200" dirty="0">
                <a:solidFill>
                  <a:srgbClr val="B7B7B7"/>
                </a:solidFill>
                <a:latin typeface="Book Antiqua" panose="02040602050305030304" pitchFamily="18" charset="0"/>
                <a:cs typeface="Calibri" panose="020F0502020204030204" pitchFamily="34" charset="0"/>
              </a:rPr>
              <a:t> and </a:t>
            </a:r>
            <a:r>
              <a:rPr lang="en-US" sz="1200" dirty="0" err="1">
                <a:solidFill>
                  <a:srgbClr val="B7B7B7"/>
                </a:solidFill>
                <a:latin typeface="Book Antiqua" panose="02040602050305030304" pitchFamily="18" charset="0"/>
                <a:cs typeface="Calibri" panose="020F0502020204030204" pitchFamily="34" charset="0"/>
              </a:rPr>
              <a:t>Leblang</a:t>
            </a:r>
            <a:r>
              <a:rPr lang="en-US" sz="1200" dirty="0">
                <a:solidFill>
                  <a:srgbClr val="B7B7B7"/>
                </a:solidFill>
                <a:latin typeface="Book Antiqua" panose="02040602050305030304" pitchFamily="18" charset="0"/>
                <a:cs typeface="Calibri" panose="020F0502020204030204" pitchFamily="34" charset="0"/>
              </a:rPr>
              <a:t> 2007; Levchenko 2007; Yu 2010)</a:t>
            </a:r>
          </a:p>
          <a:p>
            <a:pPr marL="457200" indent="-342900">
              <a:lnSpc>
                <a:spcPct val="150000"/>
              </a:lnSpc>
              <a:spcBef>
                <a:spcPts val="600"/>
              </a:spcBef>
              <a:buClr>
                <a:schemeClr val="dk1"/>
              </a:buClr>
              <a:buSzPts val="1800"/>
              <a:buFont typeface="Arial"/>
              <a:buChar char="●"/>
            </a:pPr>
            <a:r>
              <a:rPr lang="en-US" sz="1600" u="sng" dirty="0">
                <a:solidFill>
                  <a:schemeClr val="dk1"/>
                </a:solidFill>
                <a:latin typeface="Book Antiqua" panose="02040602050305030304" pitchFamily="18" charset="0"/>
                <a:cs typeface="Calibri" panose="020F0502020204030204" pitchFamily="34" charset="0"/>
              </a:rPr>
              <a:t>Institutionalism</a:t>
            </a:r>
            <a:r>
              <a:rPr lang="en-US" sz="1600" dirty="0">
                <a:solidFill>
                  <a:schemeClr val="dk1"/>
                </a:solidFill>
                <a:latin typeface="Book Antiqua" panose="02040602050305030304" pitchFamily="18" charset="0"/>
                <a:cs typeface="Calibri" panose="020F0502020204030204" pitchFamily="34" charset="0"/>
              </a:rPr>
              <a:t>: inclusiveness is better </a:t>
            </a:r>
          </a:p>
          <a:p>
            <a:pPr marL="114300">
              <a:lnSpc>
                <a:spcPct val="150000"/>
              </a:lnSpc>
              <a:buClr>
                <a:schemeClr val="dk1"/>
              </a:buClr>
              <a:buSzPts val="1800"/>
            </a:pPr>
            <a:r>
              <a:rPr lang="en-US" sz="1200" dirty="0">
                <a:solidFill>
                  <a:srgbClr val="B7B7B7"/>
                </a:solidFill>
                <a:latin typeface="Book Antiqua" panose="02040602050305030304" pitchFamily="18" charset="0"/>
                <a:cs typeface="Calibri" panose="020F0502020204030204" pitchFamily="34" charset="0"/>
              </a:rPr>
              <a:t>         (Acemoglu et al. 2001; Acemoglu et al. 2012; North 1990)</a:t>
            </a:r>
          </a:p>
          <a:p>
            <a:pPr marL="457200" lvl="0" indent="-342900">
              <a:lnSpc>
                <a:spcPct val="150000"/>
              </a:lnSpc>
              <a:spcBef>
                <a:spcPts val="600"/>
              </a:spcBef>
              <a:buClr>
                <a:schemeClr val="dk1"/>
              </a:buClr>
              <a:buSzPts val="1800"/>
              <a:buChar char="●"/>
            </a:pPr>
            <a:endParaRPr lang="en-US" sz="1200" dirty="0">
              <a:solidFill>
                <a:srgbClr val="B7B7B7"/>
              </a:solidFill>
              <a:latin typeface="Book Antiqua" panose="02040602050305030304" pitchFamily="18" charset="0"/>
              <a:cs typeface="Calibri" panose="020F0502020204030204" pitchFamily="34" charset="0"/>
            </a:endParaRPr>
          </a:p>
          <a:p>
            <a:pPr marL="114300">
              <a:lnSpc>
                <a:spcPct val="150000"/>
              </a:lnSpc>
              <a:buClr>
                <a:schemeClr val="dk1"/>
              </a:buClr>
              <a:buSzPts val="1800"/>
            </a:pPr>
            <a:endParaRPr lang="en-US" sz="1200" dirty="0">
              <a:solidFill>
                <a:srgbClr val="B7B7B7"/>
              </a:solidFill>
              <a:latin typeface="Book Antiqua" panose="02040602050305030304" pitchFamily="18" charset="0"/>
              <a:cs typeface="Calibri" panose="020F0502020204030204" pitchFamily="34" charset="0"/>
            </a:endParaRPr>
          </a:p>
          <a:p>
            <a:pPr marL="457200" lvl="0" indent="-342900" algn="l" rtl="0">
              <a:lnSpc>
                <a:spcPct val="150000"/>
              </a:lnSpc>
              <a:spcBef>
                <a:spcPts val="600"/>
              </a:spcBef>
              <a:spcAft>
                <a:spcPts val="0"/>
              </a:spcAft>
              <a:buClr>
                <a:schemeClr val="dk1"/>
              </a:buClr>
              <a:buSzPts val="1800"/>
              <a:buChar char="●"/>
            </a:pPr>
            <a:endParaRPr sz="1200" dirty="0">
              <a:solidFill>
                <a:srgbClr val="B7B7B7"/>
              </a:solidFill>
              <a:latin typeface="Book Antiqua" panose="02040602050305030304" pitchFamily="18" charset="0"/>
              <a:cs typeface="Calibri" panose="020F0502020204030204" pitchFamily="34" charset="0"/>
            </a:endParaRPr>
          </a:p>
          <a:p>
            <a:pPr marL="0" lvl="0" indent="0" algn="l" rtl="0">
              <a:spcBef>
                <a:spcPts val="0"/>
              </a:spcBef>
              <a:spcAft>
                <a:spcPts val="0"/>
              </a:spcAft>
              <a:buNone/>
            </a:pPr>
            <a:endParaRPr sz="1600" dirty="0">
              <a:solidFill>
                <a:schemeClr val="dk1"/>
              </a:solidFill>
              <a:latin typeface="Book Antiqua" panose="02040602050305030304" pitchFamily="18" charset="0"/>
              <a:cs typeface="Calibri" panose="020F0502020204030204" pitchFamily="34" charset="0"/>
            </a:endParaRPr>
          </a:p>
          <a:p>
            <a:pPr marL="914400" lvl="0" indent="0" algn="l" rtl="0">
              <a:spcBef>
                <a:spcPts val="0"/>
              </a:spcBef>
              <a:spcAft>
                <a:spcPts val="0"/>
              </a:spcAft>
              <a:buNone/>
            </a:pPr>
            <a:endParaRPr sz="1600" b="1" i="1" dirty="0">
              <a:solidFill>
                <a:schemeClr val="dk1"/>
              </a:solidFill>
              <a:latin typeface="Book Antiqua" panose="02040602050305030304" pitchFamily="18" charset="0"/>
              <a:cs typeface="Calibri" panose="020F0502020204030204" pitchFamily="34" charset="0"/>
            </a:endParaRPr>
          </a:p>
          <a:p>
            <a:pPr marL="914400" lvl="0" indent="0" algn="l" rtl="0">
              <a:spcBef>
                <a:spcPts val="0"/>
              </a:spcBef>
              <a:spcAft>
                <a:spcPts val="0"/>
              </a:spcAft>
              <a:buNone/>
            </a:pPr>
            <a:endParaRPr sz="1600" b="1" i="1" dirty="0">
              <a:solidFill>
                <a:schemeClr val="dk1"/>
              </a:solidFill>
              <a:latin typeface="Book Antiqua" panose="02040602050305030304" pitchFamily="18" charset="0"/>
              <a:cs typeface="Calibri" panose="020F0502020204030204" pitchFamily="34" charset="0"/>
            </a:endParaRPr>
          </a:p>
          <a:p>
            <a:pPr marL="914400" lvl="0" indent="0" algn="l" rtl="0">
              <a:spcBef>
                <a:spcPts val="0"/>
              </a:spcBef>
              <a:spcAft>
                <a:spcPts val="0"/>
              </a:spcAft>
              <a:buNone/>
            </a:pPr>
            <a:endParaRPr sz="1600" b="1" i="1" dirty="0">
              <a:solidFill>
                <a:schemeClr val="dk1"/>
              </a:solidFill>
              <a:latin typeface="Book Antiqua" panose="02040602050305030304" pitchFamily="18" charset="0"/>
              <a:cs typeface="Calibri" panose="020F0502020204030204" pitchFamily="34" charset="0"/>
            </a:endParaRPr>
          </a:p>
          <a:p>
            <a:pPr marL="914400" lvl="0" indent="0" algn="l" rtl="0">
              <a:spcBef>
                <a:spcPts val="0"/>
              </a:spcBef>
              <a:spcAft>
                <a:spcPts val="0"/>
              </a:spcAft>
              <a:buNone/>
            </a:pPr>
            <a:endParaRPr sz="1600" b="1" i="1" dirty="0">
              <a:solidFill>
                <a:schemeClr val="dk1"/>
              </a:solidFill>
              <a:latin typeface="Book Antiqua" panose="02040602050305030304" pitchFamily="18" charset="0"/>
              <a:cs typeface="Calibri" panose="020F0502020204030204" pitchFamily="34" charset="0"/>
            </a:endParaRPr>
          </a:p>
          <a:p>
            <a:pPr marL="914400" lvl="0" indent="0" algn="l" rtl="0">
              <a:spcBef>
                <a:spcPts val="0"/>
              </a:spcBef>
              <a:spcAft>
                <a:spcPts val="0"/>
              </a:spcAft>
              <a:buNone/>
            </a:pPr>
            <a:endParaRPr sz="1600" b="1" i="1" dirty="0">
              <a:solidFill>
                <a:schemeClr val="dk1"/>
              </a:solidFill>
              <a:latin typeface="Book Antiqua" panose="02040602050305030304" pitchFamily="18" charset="0"/>
              <a:cs typeface="Calibri" panose="020F0502020204030204" pitchFamily="34" charset="0"/>
            </a:endParaRPr>
          </a:p>
          <a:p>
            <a:pPr marL="0" lvl="0" indent="0" algn="l" rtl="0">
              <a:spcBef>
                <a:spcPts val="0"/>
              </a:spcBef>
              <a:spcAft>
                <a:spcPts val="0"/>
              </a:spcAft>
              <a:buNone/>
            </a:pPr>
            <a:endParaRPr sz="1600" dirty="0">
              <a:solidFill>
                <a:schemeClr val="dk1"/>
              </a:solidFill>
              <a:latin typeface="Book Antiqua" panose="02040602050305030304" pitchFamily="18" charset="0"/>
              <a:cs typeface="Calibri" panose="020F0502020204030204" pitchFamily="34" charset="0"/>
            </a:endParaRPr>
          </a:p>
          <a:p>
            <a:pPr marL="0" lvl="0" indent="0" algn="l" rtl="0">
              <a:spcBef>
                <a:spcPts val="0"/>
              </a:spcBef>
              <a:spcAft>
                <a:spcPts val="0"/>
              </a:spcAft>
              <a:buNone/>
            </a:pPr>
            <a:endParaRPr sz="1600" dirty="0">
              <a:solidFill>
                <a:schemeClr val="dk1"/>
              </a:solidFill>
              <a:latin typeface="Book Antiqua" panose="02040602050305030304" pitchFamily="18" charset="0"/>
              <a:cs typeface="Calibri" panose="020F0502020204030204" pitchFamily="34" charset="0"/>
            </a:endParaRPr>
          </a:p>
        </p:txBody>
      </p:sp>
      <p:sp>
        <p:nvSpPr>
          <p:cNvPr id="102" name="Google Shape;102;p17"/>
          <p:cNvSpPr txBox="1"/>
          <p:nvPr/>
        </p:nvSpPr>
        <p:spPr>
          <a:xfrm>
            <a:off x="5579600" y="2234995"/>
            <a:ext cx="3659290" cy="1908184"/>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Char char="●"/>
            </a:pPr>
            <a:r>
              <a:rPr lang="en-US" dirty="0">
                <a:solidFill>
                  <a:schemeClr val="dk1"/>
                </a:solidFill>
                <a:latin typeface="Palatino" pitchFamily="2" charset="77"/>
                <a:ea typeface="Palatino" pitchFamily="2" charset="77"/>
                <a:cs typeface="Calibri" panose="020F0502020204030204" pitchFamily="34" charset="0"/>
              </a:rPr>
              <a:t>Mostly </a:t>
            </a:r>
            <a:r>
              <a:rPr lang="en-US" dirty="0">
                <a:solidFill>
                  <a:srgbClr val="C00000"/>
                </a:solidFill>
                <a:latin typeface="Palatino" pitchFamily="2" charset="77"/>
                <a:ea typeface="Palatino" pitchFamily="2" charset="77"/>
                <a:cs typeface="Calibri" panose="020F0502020204030204" pitchFamily="34" charset="0"/>
              </a:rPr>
              <a:t>pre-2000 data</a:t>
            </a:r>
            <a:endParaRPr dirty="0">
              <a:solidFill>
                <a:srgbClr val="C00000"/>
              </a:solidFill>
              <a:latin typeface="Palatino" pitchFamily="2" charset="77"/>
              <a:ea typeface="Palatino" pitchFamily="2" charset="77"/>
              <a:cs typeface="Calibri" panose="020F0502020204030204" pitchFamily="34" charset="0"/>
            </a:endParaRPr>
          </a:p>
          <a:p>
            <a:pPr marL="457200" lvl="0" indent="0" algn="l" rtl="0">
              <a:spcBef>
                <a:spcPts val="0"/>
              </a:spcBef>
              <a:spcAft>
                <a:spcPts val="0"/>
              </a:spcAft>
              <a:buNone/>
            </a:pPr>
            <a:endParaRPr dirty="0">
              <a:solidFill>
                <a:schemeClr val="dk1"/>
              </a:solidFill>
              <a:latin typeface="Palatino" pitchFamily="2" charset="77"/>
              <a:ea typeface="Palatino" pitchFamily="2" charset="77"/>
              <a:cs typeface="Calibri" panose="020F0502020204030204" pitchFamily="34" charset="0"/>
            </a:endParaRPr>
          </a:p>
          <a:p>
            <a:pPr marL="457200" lvl="0" indent="-317500" algn="l" rtl="0">
              <a:spcBef>
                <a:spcPts val="0"/>
              </a:spcBef>
              <a:spcAft>
                <a:spcPts val="0"/>
              </a:spcAft>
              <a:buClr>
                <a:schemeClr val="dk1"/>
              </a:buClr>
              <a:buSzPts val="1400"/>
              <a:buChar char="●"/>
            </a:pPr>
            <a:r>
              <a:rPr lang="en-US" dirty="0">
                <a:solidFill>
                  <a:schemeClr val="dk1"/>
                </a:solidFill>
                <a:latin typeface="Palatino" pitchFamily="2" charset="77"/>
                <a:ea typeface="Palatino" pitchFamily="2" charset="77"/>
                <a:cs typeface="Calibri" panose="020F0502020204030204" pitchFamily="34" charset="0"/>
              </a:rPr>
              <a:t>Primarily </a:t>
            </a:r>
            <a:r>
              <a:rPr lang="en-US" dirty="0">
                <a:solidFill>
                  <a:srgbClr val="C00000"/>
                </a:solidFill>
                <a:latin typeface="Palatino" pitchFamily="2" charset="77"/>
                <a:ea typeface="Palatino" pitchFamily="2" charset="77"/>
                <a:cs typeface="Calibri" panose="020F0502020204030204" pitchFamily="34" charset="0"/>
              </a:rPr>
              <a:t>internal mechanisms (e.g., institutions)</a:t>
            </a:r>
          </a:p>
          <a:p>
            <a:pPr marL="457200" lvl="0" indent="-317500" algn="l" rtl="0">
              <a:spcBef>
                <a:spcPts val="0"/>
              </a:spcBef>
              <a:spcAft>
                <a:spcPts val="0"/>
              </a:spcAft>
              <a:buClr>
                <a:schemeClr val="dk1"/>
              </a:buClr>
              <a:buSzPts val="1400"/>
              <a:buChar char="●"/>
            </a:pPr>
            <a:endParaRPr dirty="0">
              <a:solidFill>
                <a:schemeClr val="dk1"/>
              </a:solidFill>
              <a:latin typeface="Palatino" pitchFamily="2" charset="77"/>
              <a:ea typeface="Palatino" pitchFamily="2" charset="77"/>
              <a:cs typeface="Calibri" panose="020F0502020204030204" pitchFamily="34" charset="0"/>
            </a:endParaRPr>
          </a:p>
          <a:p>
            <a:pPr marL="457200" lvl="0" indent="-317500" algn="l" rtl="0">
              <a:spcBef>
                <a:spcPts val="0"/>
              </a:spcBef>
              <a:spcAft>
                <a:spcPts val="0"/>
              </a:spcAft>
              <a:buClr>
                <a:schemeClr val="dk1"/>
              </a:buClr>
              <a:buSzPts val="1400"/>
              <a:buChar char="●"/>
            </a:pPr>
            <a:r>
              <a:rPr lang="en-US" dirty="0">
                <a:solidFill>
                  <a:schemeClr val="dk1"/>
                </a:solidFill>
                <a:latin typeface="Palatino" pitchFamily="2" charset="77"/>
                <a:ea typeface="Palatino" pitchFamily="2" charset="77"/>
                <a:cs typeface="Calibri" panose="020F0502020204030204" pitchFamily="34" charset="0"/>
              </a:rPr>
              <a:t>Ignores </a:t>
            </a:r>
            <a:r>
              <a:rPr lang="en-US" dirty="0">
                <a:solidFill>
                  <a:srgbClr val="C00000"/>
                </a:solidFill>
                <a:latin typeface="Palatino" pitchFamily="2" charset="77"/>
                <a:ea typeface="Palatino" pitchFamily="2" charset="77"/>
                <a:cs typeface="Calibri" panose="020F0502020204030204" pitchFamily="34" charset="0"/>
              </a:rPr>
              <a:t>contextual transformation</a:t>
            </a:r>
            <a:r>
              <a:rPr lang="en-US" dirty="0">
                <a:solidFill>
                  <a:schemeClr val="dk1"/>
                </a:solidFill>
                <a:latin typeface="Palatino" pitchFamily="2" charset="77"/>
                <a:ea typeface="Palatino" pitchFamily="2" charset="77"/>
                <a:cs typeface="Calibri" panose="020F0502020204030204" pitchFamily="34" charset="0"/>
              </a:rPr>
              <a:t>: post-1990 </a:t>
            </a:r>
            <a:r>
              <a:rPr lang="en-US" dirty="0">
                <a:solidFill>
                  <a:schemeClr val="tx1"/>
                </a:solidFill>
                <a:latin typeface="Palatino" pitchFamily="2" charset="77"/>
                <a:ea typeface="Palatino" pitchFamily="2" charset="77"/>
                <a:cs typeface="Calibri" panose="020F0502020204030204" pitchFamily="34" charset="0"/>
              </a:rPr>
              <a:t>globalization</a:t>
            </a:r>
          </a:p>
          <a:p>
            <a:pPr marL="457200" lvl="0" indent="-317500" algn="l" rtl="0">
              <a:spcBef>
                <a:spcPts val="0"/>
              </a:spcBef>
              <a:spcAft>
                <a:spcPts val="0"/>
              </a:spcAft>
              <a:buClr>
                <a:schemeClr val="dk1"/>
              </a:buClr>
              <a:buSzPts val="1400"/>
              <a:buChar char="●"/>
            </a:pPr>
            <a:endParaRPr lang="en-US" dirty="0">
              <a:solidFill>
                <a:srgbClr val="C00000"/>
              </a:solidFill>
              <a:latin typeface="Palatino" pitchFamily="2" charset="77"/>
              <a:ea typeface="Palatino" pitchFamily="2" charset="77"/>
              <a:cs typeface="Calibri" panose="020F0502020204030204" pitchFamily="34" charset="0"/>
            </a:endParaRPr>
          </a:p>
        </p:txBody>
      </p:sp>
      <p:pic>
        <p:nvPicPr>
          <p:cNvPr id="103" name="Google Shape;103;p17"/>
          <p:cNvPicPr preferRelativeResize="0"/>
          <p:nvPr/>
        </p:nvPicPr>
        <p:blipFill>
          <a:blip r:embed="rId3">
            <a:alphaModFix/>
          </a:blip>
          <a:stretch>
            <a:fillRect/>
          </a:stretch>
        </p:blipFill>
        <p:spPr>
          <a:xfrm>
            <a:off x="5263975" y="1854200"/>
            <a:ext cx="315625" cy="2137544"/>
          </a:xfrm>
          <a:prstGeom prst="rect">
            <a:avLst/>
          </a:prstGeom>
          <a:noFill/>
          <a:ln>
            <a:noFill/>
          </a:ln>
        </p:spPr>
      </p:pic>
    </p:spTree>
    <p:extLst>
      <p:ext uri="{BB962C8B-B14F-4D97-AF65-F5344CB8AC3E}">
        <p14:creationId xmlns:p14="http://schemas.microsoft.com/office/powerpoint/2010/main" val="308198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1">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99;p30">
            <a:extLst>
              <a:ext uri="{FF2B5EF4-FFF2-40B4-BE49-F238E27FC236}">
                <a16:creationId xmlns:a16="http://schemas.microsoft.com/office/drawing/2014/main" id="{AEB12EA7-1A5A-9680-7E3B-1B8C9E88A835}"/>
              </a:ext>
            </a:extLst>
          </p:cNvPr>
          <p:cNvSpPr/>
          <p:nvPr/>
        </p:nvSpPr>
        <p:spPr>
          <a:xfrm>
            <a:off x="0" y="536941"/>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 name="TextBox 1">
            <a:extLst>
              <a:ext uri="{FF2B5EF4-FFF2-40B4-BE49-F238E27FC236}">
                <a16:creationId xmlns:a16="http://schemas.microsoft.com/office/drawing/2014/main" id="{C3147E73-50B4-A73D-AC0C-A6102C4CD923}"/>
              </a:ext>
            </a:extLst>
          </p:cNvPr>
          <p:cNvSpPr txBox="1"/>
          <p:nvPr/>
        </p:nvSpPr>
        <p:spPr>
          <a:xfrm>
            <a:off x="197764" y="571529"/>
            <a:ext cx="7665881" cy="523220"/>
          </a:xfrm>
          <a:prstGeom prst="rect">
            <a:avLst/>
          </a:prstGeom>
          <a:noFill/>
        </p:spPr>
        <p:txBody>
          <a:bodyPr wrap="none" rtlCol="0">
            <a:spAutoFit/>
          </a:bodyPr>
          <a:lstStyle/>
          <a:p>
            <a:r>
              <a:rPr lang="en-US" sz="2800" b="1" dirty="0">
                <a:solidFill>
                  <a:schemeClr val="bg1"/>
                </a:solidFill>
                <a:latin typeface="Book Antiqua" panose="02040602050305030304" pitchFamily="18" charset="0"/>
              </a:rPr>
              <a:t>Globalization: transformational &amp; contextual </a:t>
            </a:r>
          </a:p>
        </p:txBody>
      </p:sp>
      <p:sp>
        <p:nvSpPr>
          <p:cNvPr id="7" name="TextBox 6">
            <a:extLst>
              <a:ext uri="{FF2B5EF4-FFF2-40B4-BE49-F238E27FC236}">
                <a16:creationId xmlns:a16="http://schemas.microsoft.com/office/drawing/2014/main" id="{95ACC30A-02C1-2EF3-F46E-780F55970E42}"/>
              </a:ext>
            </a:extLst>
          </p:cNvPr>
          <p:cNvSpPr txBox="1"/>
          <p:nvPr/>
        </p:nvSpPr>
        <p:spPr>
          <a:xfrm>
            <a:off x="325781" y="1535001"/>
            <a:ext cx="3944468" cy="1523494"/>
          </a:xfrm>
          <a:prstGeom prst="rect">
            <a:avLst/>
          </a:prstGeom>
          <a:noFill/>
        </p:spPr>
        <p:txBody>
          <a:bodyPr wrap="square">
            <a:spAutoFit/>
          </a:bodyPr>
          <a:lstStyle/>
          <a:p>
            <a:r>
              <a:rPr lang="en-US" sz="1600" b="1" dirty="0">
                <a:latin typeface="Palatino" pitchFamily="2" charset="77"/>
                <a:ea typeface="Palatino" pitchFamily="2" charset="77"/>
                <a:cs typeface="Palace Script MT" panose="020F0502020204030204" pitchFamily="34" charset="0"/>
              </a:rPr>
              <a:t>Pre-1990 (Cold War): </a:t>
            </a:r>
          </a:p>
          <a:p>
            <a:pPr marL="285750" indent="-285750">
              <a:spcBef>
                <a:spcPts val="600"/>
              </a:spcBef>
              <a:buFont typeface="Arial" panose="020B0604020202020204" pitchFamily="34" charset="0"/>
              <a:buChar char="•"/>
            </a:pPr>
            <a:r>
              <a:rPr lang="en-US" sz="1200" dirty="0">
                <a:latin typeface="Palatino" pitchFamily="2" charset="77"/>
                <a:ea typeface="Palatino" pitchFamily="2" charset="77"/>
                <a:cs typeface="Palace Script MT" panose="020F0502020204030204" pitchFamily="34" charset="0"/>
              </a:rPr>
              <a:t>Limited econ exchange, regional blocs</a:t>
            </a:r>
          </a:p>
          <a:p>
            <a:pPr marL="285750" indent="-285750">
              <a:spcBef>
                <a:spcPts val="600"/>
              </a:spcBef>
              <a:buFont typeface="Arial" panose="020B0604020202020204" pitchFamily="34" charset="0"/>
              <a:buChar char="•"/>
            </a:pPr>
            <a:r>
              <a:rPr lang="en-US" sz="1200" dirty="0">
                <a:latin typeface="Palatino" pitchFamily="2" charset="77"/>
                <a:ea typeface="Palatino" pitchFamily="2" charset="77"/>
                <a:cs typeface="Palace Script MT" panose="020F0502020204030204" pitchFamily="34" charset="0"/>
              </a:rPr>
              <a:t>Most developing nations closed/inward-looking (e.g., ISI), “trade skepticism” </a:t>
            </a:r>
            <a:r>
              <a:rPr lang="en-US" sz="1200" dirty="0">
                <a:solidFill>
                  <a:schemeClr val="bg2">
                    <a:lumMod val="60000"/>
                    <a:lumOff val="40000"/>
                  </a:schemeClr>
                </a:solidFill>
                <a:latin typeface="Palatino" pitchFamily="2" charset="77"/>
                <a:ea typeface="Palatino" pitchFamily="2" charset="77"/>
                <a:cs typeface="Palace Script MT" panose="020F0502020204030204" pitchFamily="34" charset="0"/>
              </a:rPr>
              <a:t> </a:t>
            </a:r>
            <a:r>
              <a:rPr lang="en-US" sz="1000" dirty="0">
                <a:solidFill>
                  <a:schemeClr val="bg2">
                    <a:lumMod val="60000"/>
                    <a:lumOff val="40000"/>
                  </a:schemeClr>
                </a:solidFill>
                <a:latin typeface="Palatino" pitchFamily="2" charset="77"/>
                <a:ea typeface="Palatino" pitchFamily="2" charset="77"/>
                <a:cs typeface="Palace Script MT" panose="020F0502020204030204" pitchFamily="34" charset="0"/>
              </a:rPr>
              <a:t>(Sachs and Warner 1995)</a:t>
            </a:r>
            <a:endParaRPr lang="en-US" sz="1000" dirty="0">
              <a:latin typeface="Palatino" pitchFamily="2" charset="77"/>
              <a:ea typeface="Palatino" pitchFamily="2" charset="77"/>
              <a:cs typeface="Palace Script MT" panose="020F0502020204030204" pitchFamily="34" charset="0"/>
            </a:endParaRPr>
          </a:p>
          <a:p>
            <a:pPr marL="285750" indent="-285750">
              <a:spcBef>
                <a:spcPts val="600"/>
              </a:spcBef>
              <a:buFont typeface="Arial" panose="020B0604020202020204" pitchFamily="34" charset="0"/>
              <a:buChar char="•"/>
            </a:pPr>
            <a:r>
              <a:rPr lang="en-US" sz="1200" dirty="0">
                <a:latin typeface="Palatino" pitchFamily="2" charset="77"/>
                <a:ea typeface="Palatino" pitchFamily="2" charset="77"/>
                <a:cs typeface="Palace Script MT" panose="020F0502020204030204" pitchFamily="34" charset="0"/>
              </a:rPr>
              <a:t>Stagnation/crisis in 1980s-90s  </a:t>
            </a:r>
            <a:endParaRPr lang="en-US" sz="1200" dirty="0">
              <a:solidFill>
                <a:schemeClr val="bg2">
                  <a:lumMod val="60000"/>
                  <a:lumOff val="40000"/>
                </a:schemeClr>
              </a:solidFill>
              <a:latin typeface="Palatino" pitchFamily="2" charset="77"/>
              <a:ea typeface="Palatino" pitchFamily="2" charset="77"/>
              <a:cs typeface="Palace Script MT" panose="020F0502020204030204" pitchFamily="34" charset="0"/>
            </a:endParaRPr>
          </a:p>
          <a:p>
            <a:endParaRPr lang="en-US" dirty="0">
              <a:latin typeface="Palatino" pitchFamily="2" charset="77"/>
              <a:ea typeface="Palatino" pitchFamily="2" charset="77"/>
              <a:cs typeface="Palace Script MT" panose="020F0502020204030204" pitchFamily="34" charset="0"/>
            </a:endParaRPr>
          </a:p>
        </p:txBody>
      </p:sp>
      <p:sp>
        <p:nvSpPr>
          <p:cNvPr id="10" name="TextBox 9">
            <a:extLst>
              <a:ext uri="{FF2B5EF4-FFF2-40B4-BE49-F238E27FC236}">
                <a16:creationId xmlns:a16="http://schemas.microsoft.com/office/drawing/2014/main" id="{E9D198EB-2672-2F1F-152E-1848504E1008}"/>
              </a:ext>
            </a:extLst>
          </p:cNvPr>
          <p:cNvSpPr txBox="1"/>
          <p:nvPr/>
        </p:nvSpPr>
        <p:spPr>
          <a:xfrm>
            <a:off x="6333423" y="3994890"/>
            <a:ext cx="2473693" cy="577081"/>
          </a:xfrm>
          <a:prstGeom prst="rect">
            <a:avLst/>
          </a:prstGeom>
          <a:noFill/>
        </p:spPr>
        <p:txBody>
          <a:bodyPr wrap="square" rtlCol="0">
            <a:spAutoFit/>
          </a:bodyPr>
          <a:lstStyle/>
          <a:p>
            <a:r>
              <a:rPr lang="en-US" sz="1050" b="1" dirty="0">
                <a:latin typeface="Palatino" pitchFamily="2" charset="77"/>
                <a:ea typeface="Palatino" pitchFamily="2" charset="77"/>
                <a:sym typeface="Wingdings" pitchFamily="2" charset="2"/>
              </a:rPr>
              <a:t>Critical for autocracy</a:t>
            </a:r>
            <a:r>
              <a:rPr lang="en-US" sz="1050" dirty="0">
                <a:latin typeface="Palatino" pitchFamily="2" charset="77"/>
                <a:ea typeface="Palatino" pitchFamily="2" charset="77"/>
                <a:sym typeface="Wingdings" pitchFamily="2" charset="2"/>
              </a:rPr>
              <a:t>: poli </a:t>
            </a:r>
            <a:r>
              <a:rPr lang="en-US" sz="1050" dirty="0" err="1">
                <a:latin typeface="Palatino" pitchFamily="2" charset="77"/>
                <a:ea typeface="Palatino" pitchFamily="2" charset="77"/>
                <a:sym typeface="Wingdings" pitchFamily="2" charset="2"/>
              </a:rPr>
              <a:t>inst</a:t>
            </a:r>
            <a:r>
              <a:rPr lang="en-US" sz="1050" dirty="0">
                <a:latin typeface="Palatino" pitchFamily="2" charset="77"/>
                <a:ea typeface="Palatino" pitchFamily="2" charset="77"/>
                <a:sym typeface="Wingdings" pitchFamily="2" charset="2"/>
              </a:rPr>
              <a:t> produces weak internal demand &amp; credibility</a:t>
            </a:r>
            <a:endParaRPr lang="en-US" sz="1200" dirty="0">
              <a:latin typeface="Palatino" pitchFamily="2" charset="77"/>
              <a:ea typeface="Palatino" pitchFamily="2" charset="77"/>
            </a:endParaRPr>
          </a:p>
        </p:txBody>
      </p:sp>
      <p:sp>
        <p:nvSpPr>
          <p:cNvPr id="11" name="TextBox 10">
            <a:extLst>
              <a:ext uri="{FF2B5EF4-FFF2-40B4-BE49-F238E27FC236}">
                <a16:creationId xmlns:a16="http://schemas.microsoft.com/office/drawing/2014/main" id="{D8D106A6-E1EC-D4B6-F173-DCDD4D0315E2}"/>
              </a:ext>
            </a:extLst>
          </p:cNvPr>
          <p:cNvSpPr txBox="1"/>
          <p:nvPr/>
        </p:nvSpPr>
        <p:spPr>
          <a:xfrm rot="5246917">
            <a:off x="7235270" y="3647830"/>
            <a:ext cx="377026" cy="307777"/>
          </a:xfrm>
          <a:prstGeom prst="rect">
            <a:avLst/>
          </a:prstGeom>
          <a:noFill/>
        </p:spPr>
        <p:txBody>
          <a:bodyPr wrap="none" rtlCol="0">
            <a:spAutoFit/>
          </a:bodyPr>
          <a:lstStyle/>
          <a:p>
            <a:r>
              <a:rPr lang="en-US" dirty="0">
                <a:sym typeface="Wingdings" pitchFamily="2" charset="2"/>
              </a:rPr>
              <a:t></a:t>
            </a:r>
            <a:endParaRPr lang="en-US" dirty="0"/>
          </a:p>
        </p:txBody>
      </p:sp>
      <p:sp>
        <p:nvSpPr>
          <p:cNvPr id="12" name="TextBox 11">
            <a:extLst>
              <a:ext uri="{FF2B5EF4-FFF2-40B4-BE49-F238E27FC236}">
                <a16:creationId xmlns:a16="http://schemas.microsoft.com/office/drawing/2014/main" id="{026975EB-72A1-41F9-4214-73F56E54A866}"/>
              </a:ext>
            </a:extLst>
          </p:cNvPr>
          <p:cNvSpPr txBox="1"/>
          <p:nvPr/>
        </p:nvSpPr>
        <p:spPr>
          <a:xfrm>
            <a:off x="4884132" y="1379116"/>
            <a:ext cx="3843883" cy="2385268"/>
          </a:xfrm>
          <a:prstGeom prst="rect">
            <a:avLst/>
          </a:prstGeom>
          <a:noFill/>
        </p:spPr>
        <p:txBody>
          <a:bodyPr wrap="square" rtlCol="0">
            <a:spAutoFit/>
          </a:bodyPr>
          <a:lstStyle/>
          <a:p>
            <a:endParaRPr lang="en-US" sz="1200" dirty="0">
              <a:latin typeface="Palatino" pitchFamily="2" charset="77"/>
              <a:ea typeface="Palatino" pitchFamily="2" charset="77"/>
            </a:endParaRPr>
          </a:p>
          <a:p>
            <a:r>
              <a:rPr lang="en-US" sz="1600" b="1" dirty="0">
                <a:latin typeface="Palatino" pitchFamily="2" charset="77"/>
                <a:ea typeface="Palatino" pitchFamily="2" charset="77"/>
              </a:rPr>
              <a:t>Post-1990: </a:t>
            </a:r>
          </a:p>
          <a:p>
            <a:pPr marL="285750" indent="-285750">
              <a:spcBef>
                <a:spcPts val="600"/>
              </a:spcBef>
              <a:buFont typeface="Arial" panose="020B0604020202020204" pitchFamily="34" charset="0"/>
              <a:buChar char="•"/>
            </a:pPr>
            <a:r>
              <a:rPr lang="en-US" sz="1200" dirty="0">
                <a:latin typeface="Palatino" pitchFamily="2" charset="77"/>
                <a:ea typeface="Palatino" pitchFamily="2" charset="77"/>
              </a:rPr>
              <a:t>“Hyper-globalization”: trade, finance, GVC, migration… </a:t>
            </a:r>
            <a:r>
              <a:rPr lang="en-US" sz="1000" dirty="0">
                <a:solidFill>
                  <a:schemeClr val="bg2">
                    <a:lumMod val="60000"/>
                    <a:lumOff val="40000"/>
                  </a:schemeClr>
                </a:solidFill>
                <a:latin typeface="Palatino" pitchFamily="2" charset="77"/>
                <a:ea typeface="Palatino" pitchFamily="2" charset="77"/>
              </a:rPr>
              <a:t>(Baldwin 2016; Rodrik 2012)</a:t>
            </a:r>
          </a:p>
          <a:p>
            <a:pPr marL="285750" indent="-285750">
              <a:spcBef>
                <a:spcPts val="600"/>
              </a:spcBef>
              <a:buFont typeface="Arial" panose="020B0604020202020204" pitchFamily="34" charset="0"/>
              <a:buChar char="•"/>
            </a:pPr>
            <a:r>
              <a:rPr lang="en-US" sz="1200" dirty="0">
                <a:latin typeface="Palatino" pitchFamily="2" charset="77"/>
                <a:ea typeface="Palatino" pitchFamily="2" charset="77"/>
              </a:rPr>
              <a:t>Market-oriented, outward-looking reforms (e.g., Washington Consensus)</a:t>
            </a:r>
          </a:p>
          <a:p>
            <a:pPr marL="285750" indent="-285750">
              <a:spcBef>
                <a:spcPts val="600"/>
              </a:spcBef>
              <a:buFont typeface="Arial" panose="020B0604020202020204" pitchFamily="34" charset="0"/>
              <a:buChar char="•"/>
            </a:pPr>
            <a:r>
              <a:rPr lang="en-US" sz="1200" dirty="0">
                <a:latin typeface="Palatino" pitchFamily="2" charset="77"/>
                <a:ea typeface="Palatino" pitchFamily="2" charset="77"/>
              </a:rPr>
              <a:t>Western engagement (e.g., WTO/IMF): credibility, market access, capital, technology, info … </a:t>
            </a:r>
            <a:r>
              <a:rPr lang="en-US" sz="1000" dirty="0">
                <a:solidFill>
                  <a:schemeClr val="bg2">
                    <a:lumMod val="60000"/>
                    <a:lumOff val="40000"/>
                  </a:schemeClr>
                </a:solidFill>
                <a:latin typeface="Palatino" pitchFamily="2" charset="77"/>
                <a:ea typeface="Palatino" pitchFamily="2" charset="77"/>
              </a:rPr>
              <a:t>(Arias et al. 2018; </a:t>
            </a:r>
            <a:r>
              <a:rPr lang="en-US" sz="1000" dirty="0" err="1">
                <a:solidFill>
                  <a:schemeClr val="bg2">
                    <a:lumMod val="60000"/>
                    <a:lumOff val="40000"/>
                  </a:schemeClr>
                </a:solidFill>
                <a:latin typeface="Palatino" pitchFamily="2" charset="77"/>
                <a:ea typeface="Palatino" pitchFamily="2" charset="77"/>
              </a:rPr>
              <a:t>Baccini</a:t>
            </a:r>
            <a:r>
              <a:rPr lang="en-US" sz="1000" dirty="0">
                <a:solidFill>
                  <a:schemeClr val="bg2">
                    <a:lumMod val="60000"/>
                    <a:lumOff val="40000"/>
                  </a:schemeClr>
                </a:solidFill>
                <a:latin typeface="Palatino" pitchFamily="2" charset="77"/>
                <a:ea typeface="Palatino" pitchFamily="2" charset="77"/>
              </a:rPr>
              <a:t> and </a:t>
            </a:r>
            <a:r>
              <a:rPr lang="en-US" sz="1000" dirty="0" err="1">
                <a:solidFill>
                  <a:schemeClr val="bg2">
                    <a:lumMod val="60000"/>
                    <a:lumOff val="40000"/>
                  </a:schemeClr>
                </a:solidFill>
                <a:latin typeface="Palatino" pitchFamily="2" charset="77"/>
                <a:ea typeface="Palatino" pitchFamily="2" charset="77"/>
              </a:rPr>
              <a:t>Urpelainen</a:t>
            </a:r>
            <a:r>
              <a:rPr lang="en-US" sz="1000" dirty="0">
                <a:solidFill>
                  <a:schemeClr val="bg2">
                    <a:lumMod val="60000"/>
                    <a:lumOff val="40000"/>
                  </a:schemeClr>
                </a:solidFill>
                <a:latin typeface="Palatino" pitchFamily="2" charset="77"/>
                <a:ea typeface="Palatino" pitchFamily="2" charset="77"/>
              </a:rPr>
              <a:t> 2015; Baldwin 2016; Hafner-Burton and Schneider 2019). </a:t>
            </a:r>
          </a:p>
          <a:p>
            <a:endParaRPr lang="en-US" sz="1200" dirty="0">
              <a:latin typeface="Palatino" pitchFamily="2" charset="77"/>
              <a:ea typeface="Palatino" pitchFamily="2" charset="77"/>
            </a:endParaRPr>
          </a:p>
        </p:txBody>
      </p:sp>
    </p:spTree>
    <p:extLst>
      <p:ext uri="{BB962C8B-B14F-4D97-AF65-F5344CB8AC3E}">
        <p14:creationId xmlns:p14="http://schemas.microsoft.com/office/powerpoint/2010/main" val="46642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99;p30">
            <a:extLst>
              <a:ext uri="{FF2B5EF4-FFF2-40B4-BE49-F238E27FC236}">
                <a16:creationId xmlns:a16="http://schemas.microsoft.com/office/drawing/2014/main" id="{AEB12EA7-1A5A-9680-7E3B-1B8C9E88A835}"/>
              </a:ext>
            </a:extLst>
          </p:cNvPr>
          <p:cNvSpPr/>
          <p:nvPr/>
        </p:nvSpPr>
        <p:spPr>
          <a:xfrm>
            <a:off x="-8467" y="536941"/>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 name="TextBox 1">
            <a:extLst>
              <a:ext uri="{FF2B5EF4-FFF2-40B4-BE49-F238E27FC236}">
                <a16:creationId xmlns:a16="http://schemas.microsoft.com/office/drawing/2014/main" id="{C3147E73-50B4-A73D-AC0C-A6102C4CD923}"/>
              </a:ext>
            </a:extLst>
          </p:cNvPr>
          <p:cNvSpPr txBox="1"/>
          <p:nvPr/>
        </p:nvSpPr>
        <p:spPr>
          <a:xfrm>
            <a:off x="197764" y="571529"/>
            <a:ext cx="2738250" cy="523220"/>
          </a:xfrm>
          <a:prstGeom prst="rect">
            <a:avLst/>
          </a:prstGeom>
          <a:noFill/>
        </p:spPr>
        <p:txBody>
          <a:bodyPr wrap="none" rtlCol="0">
            <a:spAutoFit/>
          </a:bodyPr>
          <a:lstStyle/>
          <a:p>
            <a:r>
              <a:rPr lang="en-US" sz="2800" b="1" dirty="0">
                <a:solidFill>
                  <a:schemeClr val="bg1"/>
                </a:solidFill>
                <a:latin typeface="Palatino" pitchFamily="2" charset="77"/>
                <a:ea typeface="Palatino" pitchFamily="2" charset="77"/>
              </a:rPr>
              <a:t>Example: Trade</a:t>
            </a:r>
          </a:p>
        </p:txBody>
      </p:sp>
      <p:pic>
        <p:nvPicPr>
          <p:cNvPr id="4" name="Picture 3">
            <a:extLst>
              <a:ext uri="{FF2B5EF4-FFF2-40B4-BE49-F238E27FC236}">
                <a16:creationId xmlns:a16="http://schemas.microsoft.com/office/drawing/2014/main" id="{A701B4A3-9C56-87F2-D197-B6CAF2616697}"/>
              </a:ext>
            </a:extLst>
          </p:cNvPr>
          <p:cNvPicPr>
            <a:picLocks noChangeAspect="1"/>
          </p:cNvPicPr>
          <p:nvPr/>
        </p:nvPicPr>
        <p:blipFill>
          <a:blip r:embed="rId2"/>
          <a:stretch>
            <a:fillRect/>
          </a:stretch>
        </p:blipFill>
        <p:spPr>
          <a:xfrm>
            <a:off x="-263215" y="1123829"/>
            <a:ext cx="4538632" cy="2430893"/>
          </a:xfrm>
          <a:prstGeom prst="rect">
            <a:avLst/>
          </a:prstGeom>
        </p:spPr>
      </p:pic>
      <p:pic>
        <p:nvPicPr>
          <p:cNvPr id="5" name="Picture 4">
            <a:extLst>
              <a:ext uri="{FF2B5EF4-FFF2-40B4-BE49-F238E27FC236}">
                <a16:creationId xmlns:a16="http://schemas.microsoft.com/office/drawing/2014/main" id="{8125FE33-DBBD-8685-922A-0783A39886B9}"/>
              </a:ext>
            </a:extLst>
          </p:cNvPr>
          <p:cNvPicPr>
            <a:picLocks noChangeAspect="1"/>
          </p:cNvPicPr>
          <p:nvPr/>
        </p:nvPicPr>
        <p:blipFill>
          <a:blip r:embed="rId3"/>
          <a:stretch>
            <a:fillRect/>
          </a:stretch>
        </p:blipFill>
        <p:spPr>
          <a:xfrm>
            <a:off x="4275417" y="2675050"/>
            <a:ext cx="4538632" cy="2136112"/>
          </a:xfrm>
          <a:prstGeom prst="rect">
            <a:avLst/>
          </a:prstGeom>
        </p:spPr>
      </p:pic>
    </p:spTree>
    <p:extLst>
      <p:ext uri="{BB962C8B-B14F-4D97-AF65-F5344CB8AC3E}">
        <p14:creationId xmlns:p14="http://schemas.microsoft.com/office/powerpoint/2010/main" val="1951688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
        <p:cNvGrpSpPr/>
        <p:nvPr/>
      </p:nvGrpSpPr>
      <p:grpSpPr>
        <a:xfrm>
          <a:off x="0" y="0"/>
          <a:ext cx="0" cy="0"/>
          <a:chOff x="0" y="0"/>
          <a:chExt cx="0" cy="0"/>
        </a:xfrm>
      </p:grpSpPr>
      <p:sp>
        <p:nvSpPr>
          <p:cNvPr id="108" name="Google Shape;108;p18"/>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109" name="Google Shape;109;p18"/>
          <p:cNvSpPr txBox="1"/>
          <p:nvPr/>
        </p:nvSpPr>
        <p:spPr>
          <a:xfrm>
            <a:off x="376369" y="506567"/>
            <a:ext cx="8408100" cy="5586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Why? Theory</a:t>
            </a:r>
            <a:endParaRPr sz="2400" b="1" i="0" u="none" strike="noStrike" cap="none" dirty="0">
              <a:solidFill>
                <a:schemeClr val="lt1"/>
              </a:solidFill>
              <a:latin typeface="Palatino" pitchFamily="2" charset="77"/>
              <a:ea typeface="Palatino" pitchFamily="2" charset="77"/>
            </a:endParaRPr>
          </a:p>
        </p:txBody>
      </p:sp>
      <p:sp>
        <p:nvSpPr>
          <p:cNvPr id="110" name="Google Shape;110;p18"/>
          <p:cNvSpPr/>
          <p:nvPr/>
        </p:nvSpPr>
        <p:spPr>
          <a:xfrm>
            <a:off x="201250" y="1601975"/>
            <a:ext cx="9756566" cy="3051892"/>
          </a:xfrm>
          <a:prstGeom prst="rect">
            <a:avLst/>
          </a:prstGeom>
          <a:noFill/>
          <a:ln>
            <a:noFill/>
          </a:ln>
        </p:spPr>
        <p:txBody>
          <a:bodyPr spcFirstLastPara="1" wrap="square" lIns="91425" tIns="45700" rIns="91425" bIns="45700" anchor="t" anchorCtr="0">
            <a:noAutofit/>
          </a:bodyPr>
          <a:lstStyle/>
          <a:p>
            <a:pPr marL="457200" marR="0" lvl="0" indent="-342900" algn="l" rtl="0">
              <a:lnSpc>
                <a:spcPct val="100000"/>
              </a:lnSpc>
              <a:spcBef>
                <a:spcPts val="300"/>
              </a:spcBef>
              <a:spcAft>
                <a:spcPts val="0"/>
              </a:spcAft>
              <a:buClr>
                <a:schemeClr val="dk1"/>
              </a:buClr>
              <a:buSzPts val="1800"/>
              <a:buChar char="●"/>
            </a:pPr>
            <a:r>
              <a:rPr lang="en-US" sz="1600" dirty="0">
                <a:solidFill>
                  <a:schemeClr val="dk1"/>
                </a:solidFill>
                <a:latin typeface="Palatino" pitchFamily="2" charset="77"/>
                <a:ea typeface="Palatino" pitchFamily="2" charset="77"/>
                <a:cs typeface="Calibri" panose="020F0502020204030204" pitchFamily="34" charset="0"/>
              </a:rPr>
              <a:t>Driven by a special form of autocratic regimes: “</a:t>
            </a:r>
            <a:r>
              <a:rPr lang="en-US" sz="1600" b="1" dirty="0">
                <a:solidFill>
                  <a:schemeClr val="tx1"/>
                </a:solidFill>
                <a:latin typeface="Palatino" pitchFamily="2" charset="77"/>
                <a:ea typeface="Palatino" pitchFamily="2" charset="77"/>
                <a:cs typeface="Calibri" panose="020F0502020204030204" pitchFamily="34" charset="0"/>
              </a:rPr>
              <a:t>engaged reformers</a:t>
            </a:r>
            <a:r>
              <a:rPr lang="en-US" sz="1600" dirty="0">
                <a:solidFill>
                  <a:schemeClr val="tx1"/>
                </a:solidFill>
                <a:latin typeface="Palatino" pitchFamily="2" charset="77"/>
                <a:ea typeface="Palatino" pitchFamily="2" charset="77"/>
                <a:cs typeface="Calibri" panose="020F0502020204030204" pitchFamily="34" charset="0"/>
              </a:rPr>
              <a:t>”</a:t>
            </a:r>
            <a:r>
              <a:rPr lang="en-US" sz="1600" dirty="0">
                <a:solidFill>
                  <a:schemeClr val="dk1"/>
                </a:solidFill>
                <a:latin typeface="Palatino" pitchFamily="2" charset="77"/>
                <a:ea typeface="Palatino" pitchFamily="2" charset="77"/>
                <a:cs typeface="Calibri" panose="020F0502020204030204" pitchFamily="34" charset="0"/>
              </a:rPr>
              <a:t> </a:t>
            </a:r>
          </a:p>
          <a:p>
            <a:pPr marL="457200" marR="0" lvl="0" indent="-342900" algn="l" rtl="0">
              <a:lnSpc>
                <a:spcPct val="100000"/>
              </a:lnSpc>
              <a:spcBef>
                <a:spcPts val="300"/>
              </a:spcBef>
              <a:spcAft>
                <a:spcPts val="0"/>
              </a:spcAft>
              <a:buClr>
                <a:schemeClr val="dk1"/>
              </a:buClr>
              <a:buSzPts val="1800"/>
              <a:buChar char="●"/>
            </a:pPr>
            <a:r>
              <a:rPr lang="en-US" sz="1600" dirty="0">
                <a:solidFill>
                  <a:schemeClr val="dk1"/>
                </a:solidFill>
                <a:latin typeface="Palatino" pitchFamily="2" charset="77"/>
                <a:ea typeface="Palatino" pitchFamily="2" charset="77"/>
                <a:cs typeface="Calibri" panose="020F0502020204030204" pitchFamily="34" charset="0"/>
              </a:rPr>
              <a:t>Under globalization (outward-looking)</a:t>
            </a:r>
          </a:p>
          <a:p>
            <a:pPr marL="571500" lvl="1">
              <a:lnSpc>
                <a:spcPct val="150000"/>
              </a:lnSpc>
              <a:spcBef>
                <a:spcPts val="600"/>
              </a:spcBef>
              <a:buClr>
                <a:schemeClr val="dk1"/>
              </a:buClr>
              <a:buSzPts val="1800"/>
            </a:pPr>
            <a:r>
              <a:rPr lang="en-US" dirty="0">
                <a:solidFill>
                  <a:schemeClr val="dk1"/>
                </a:solidFill>
                <a:latin typeface="Palatino" pitchFamily="2" charset="77"/>
                <a:ea typeface="Palatino" pitchFamily="2" charset="77"/>
                <a:cs typeface="Calibri" panose="020F0502020204030204" pitchFamily="34" charset="0"/>
              </a:rPr>
              <a:t>  1) </a:t>
            </a:r>
            <a:r>
              <a:rPr lang="en-US" b="1" dirty="0">
                <a:solidFill>
                  <a:schemeClr val="dk1"/>
                </a:solidFill>
                <a:latin typeface="Palatino" pitchFamily="2" charset="77"/>
                <a:ea typeface="Palatino" pitchFamily="2" charset="77"/>
                <a:cs typeface="Calibri" panose="020F0502020204030204" pitchFamily="34" charset="0"/>
              </a:rPr>
              <a:t>economically reformed</a:t>
            </a:r>
            <a:r>
              <a:rPr lang="en-US" dirty="0">
                <a:solidFill>
                  <a:schemeClr val="dk1"/>
                </a:solidFill>
                <a:latin typeface="Palatino" pitchFamily="2" charset="77"/>
                <a:ea typeface="Palatino" pitchFamily="2" charset="77"/>
                <a:cs typeface="Calibri" panose="020F0502020204030204" pitchFamily="34" charset="0"/>
              </a:rPr>
              <a:t>: e.g., rule-of-law, PR-protection (credibility, incentive)</a:t>
            </a:r>
          </a:p>
          <a:p>
            <a:pPr marL="571500" lvl="1">
              <a:lnSpc>
                <a:spcPct val="150000"/>
              </a:lnSpc>
              <a:buClr>
                <a:schemeClr val="dk1"/>
              </a:buClr>
              <a:buSzPts val="1800"/>
            </a:pPr>
            <a:r>
              <a:rPr lang="en-US" dirty="0">
                <a:solidFill>
                  <a:schemeClr val="dk1"/>
                </a:solidFill>
                <a:latin typeface="Palatino" pitchFamily="2" charset="77"/>
                <a:ea typeface="Palatino" pitchFamily="2" charset="77"/>
                <a:cs typeface="Calibri" panose="020F0502020204030204" pitchFamily="34" charset="0"/>
              </a:rPr>
              <a:t>  2) </a:t>
            </a:r>
            <a:r>
              <a:rPr lang="en-US" b="1" dirty="0">
                <a:solidFill>
                  <a:schemeClr val="dk1"/>
                </a:solidFill>
                <a:latin typeface="Palatino" pitchFamily="2" charset="77"/>
                <a:ea typeface="Palatino" pitchFamily="2" charset="77"/>
                <a:cs typeface="Calibri" panose="020F0502020204030204" pitchFamily="34" charset="0"/>
              </a:rPr>
              <a:t>economically engaged</a:t>
            </a:r>
            <a:r>
              <a:rPr lang="en-US" dirty="0">
                <a:solidFill>
                  <a:schemeClr val="dk1"/>
                </a:solidFill>
                <a:latin typeface="Palatino" pitchFamily="2" charset="77"/>
                <a:ea typeface="Palatino" pitchFamily="2" charset="77"/>
                <a:cs typeface="Calibri" panose="020F0502020204030204" pitchFamily="34" charset="0"/>
              </a:rPr>
              <a:t>: e.g., WTO membership (market access, resource, info)</a:t>
            </a:r>
          </a:p>
          <a:p>
            <a:pPr marL="571500" lvl="1">
              <a:buClr>
                <a:schemeClr val="dk1"/>
              </a:buClr>
              <a:buSzPts val="1800"/>
            </a:pPr>
            <a:endParaRPr lang="en-US" dirty="0">
              <a:solidFill>
                <a:schemeClr val="dk1"/>
              </a:solidFill>
              <a:latin typeface="Palatino" pitchFamily="2" charset="77"/>
              <a:ea typeface="Palatino" pitchFamily="2" charset="77"/>
              <a:cs typeface="Calibri" panose="020F0502020204030204" pitchFamily="34" charset="0"/>
            </a:endParaRPr>
          </a:p>
          <a:p>
            <a:pPr marL="571500" lvl="1">
              <a:buClr>
                <a:schemeClr val="dk1"/>
              </a:buClr>
              <a:buSzPts val="1800"/>
            </a:pPr>
            <a:r>
              <a:rPr lang="en-US" dirty="0">
                <a:solidFill>
                  <a:schemeClr val="dk1"/>
                </a:solidFill>
                <a:latin typeface="Palatino" pitchFamily="2" charset="77"/>
                <a:ea typeface="Palatino" pitchFamily="2" charset="77"/>
                <a:cs typeface="Calibri" panose="020F0502020204030204" pitchFamily="34" charset="0"/>
              </a:rPr>
              <a:t>       </a:t>
            </a:r>
            <a:endParaRPr lang="en-US" i="1" dirty="0">
              <a:solidFill>
                <a:schemeClr val="tx1"/>
              </a:solidFill>
              <a:latin typeface="Palatino" pitchFamily="2" charset="77"/>
              <a:ea typeface="Palatino" pitchFamily="2" charset="77"/>
              <a:cs typeface="Calibri" panose="020F0502020204030204" pitchFamily="34" charset="0"/>
            </a:endParaRPr>
          </a:p>
          <a:p>
            <a:pPr marL="571500" marR="0" lvl="1" algn="l" rtl="0">
              <a:lnSpc>
                <a:spcPct val="150000"/>
              </a:lnSpc>
              <a:spcBef>
                <a:spcPts val="0"/>
              </a:spcBef>
              <a:spcAft>
                <a:spcPts val="0"/>
              </a:spcAft>
              <a:buClr>
                <a:schemeClr val="dk1"/>
              </a:buClr>
              <a:buSzPts val="1800"/>
            </a:pPr>
            <a:r>
              <a:rPr lang="en-US" sz="1200" i="1" dirty="0">
                <a:solidFill>
                  <a:schemeClr val="dk1"/>
                </a:solidFill>
                <a:latin typeface="Palatino" pitchFamily="2" charset="77"/>
                <a:ea typeface="Palatino" pitchFamily="2" charset="77"/>
                <a:cs typeface="Calibri" panose="020F0502020204030204" pitchFamily="34" charset="0"/>
              </a:rPr>
              <a:t>              Stronger</a:t>
            </a:r>
            <a:r>
              <a:rPr lang="en-US" sz="1200" dirty="0">
                <a:solidFill>
                  <a:schemeClr val="dk1"/>
                </a:solidFill>
                <a:latin typeface="Palatino" pitchFamily="2" charset="77"/>
                <a:ea typeface="Palatino" pitchFamily="2" charset="77"/>
                <a:cs typeface="Calibri" panose="020F0502020204030204" pitchFamily="34" charset="0"/>
              </a:rPr>
              <a:t> inst./non-inst. abilities to compete for </a:t>
            </a:r>
            <a:r>
              <a:rPr lang="en-US" sz="1200" i="1" u="sng" dirty="0">
                <a:solidFill>
                  <a:schemeClr val="tx1"/>
                </a:solidFill>
                <a:latin typeface="Palatino" pitchFamily="2" charset="77"/>
                <a:ea typeface="Palatino" pitchFamily="2" charset="77"/>
                <a:cs typeface="Calibri" panose="020F0502020204030204" pitchFamily="34" charset="0"/>
              </a:rPr>
              <a:t>external demand</a:t>
            </a:r>
            <a:r>
              <a:rPr lang="en-US" sz="1200" i="1" dirty="0">
                <a:solidFill>
                  <a:schemeClr val="tx1"/>
                </a:solidFill>
                <a:latin typeface="Palatino" pitchFamily="2" charset="77"/>
                <a:ea typeface="Palatino" pitchFamily="2" charset="77"/>
                <a:cs typeface="Calibri" panose="020F0502020204030204" pitchFamily="34" charset="0"/>
              </a:rPr>
              <a:t> </a:t>
            </a:r>
            <a:r>
              <a:rPr lang="en-US" sz="1200" dirty="0">
                <a:solidFill>
                  <a:schemeClr val="tx1"/>
                </a:solidFill>
                <a:latin typeface="Palatino" pitchFamily="2" charset="77"/>
                <a:ea typeface="Palatino" pitchFamily="2" charset="77"/>
                <a:cs typeface="Calibri" panose="020F0502020204030204" pitchFamily="34" charset="0"/>
              </a:rPr>
              <a:t>than its democratic “counterfactual”</a:t>
            </a:r>
          </a:p>
          <a:p>
            <a:pPr marL="571500" lvl="1">
              <a:lnSpc>
                <a:spcPct val="150000"/>
              </a:lnSpc>
              <a:buClr>
                <a:schemeClr val="dk1"/>
              </a:buClr>
              <a:buSzPts val="1800"/>
            </a:pPr>
            <a:r>
              <a:rPr lang="en-US" sz="1200" dirty="0">
                <a:solidFill>
                  <a:schemeClr val="dk1"/>
                </a:solidFill>
                <a:latin typeface="Palatino" pitchFamily="2" charset="77"/>
                <a:ea typeface="Palatino" pitchFamily="2" charset="77"/>
                <a:cs typeface="Calibri" panose="020F0502020204030204" pitchFamily="34" charset="0"/>
              </a:rPr>
              <a:t>             </a:t>
            </a:r>
            <a:r>
              <a:rPr lang="en-US" sz="1200" i="1" dirty="0">
                <a:solidFill>
                  <a:schemeClr val="dk1"/>
                </a:solidFill>
                <a:latin typeface="Palatino" pitchFamily="2" charset="77"/>
                <a:ea typeface="Palatino" pitchFamily="2" charset="77"/>
                <a:cs typeface="Calibri" panose="020F0502020204030204" pitchFamily="34" charset="0"/>
              </a:rPr>
              <a:t> Weaker </a:t>
            </a:r>
            <a:r>
              <a:rPr lang="en-US" sz="1200" i="1" u="sng" dirty="0">
                <a:solidFill>
                  <a:schemeClr val="tx1"/>
                </a:solidFill>
                <a:latin typeface="Palatino" pitchFamily="2" charset="77"/>
                <a:ea typeface="Palatino" pitchFamily="2" charset="77"/>
                <a:cs typeface="Calibri" panose="020F0502020204030204" pitchFamily="34" charset="0"/>
              </a:rPr>
              <a:t>internal demand</a:t>
            </a:r>
            <a:r>
              <a:rPr lang="en-US" sz="1200" i="1" dirty="0">
                <a:solidFill>
                  <a:schemeClr val="tx1"/>
                </a:solidFill>
                <a:latin typeface="Palatino" pitchFamily="2" charset="77"/>
                <a:ea typeface="Palatino" pitchFamily="2" charset="77"/>
                <a:cs typeface="Calibri" panose="020F0502020204030204" pitchFamily="34" charset="0"/>
              </a:rPr>
              <a:t> </a:t>
            </a:r>
            <a:r>
              <a:rPr lang="en-US" sz="1200" dirty="0">
                <a:solidFill>
                  <a:schemeClr val="tx1"/>
                </a:solidFill>
                <a:latin typeface="Palatino" pitchFamily="2" charset="77"/>
                <a:ea typeface="Palatino" pitchFamily="2" charset="77"/>
                <a:cs typeface="Calibri" panose="020F0502020204030204" pitchFamily="34" charset="0"/>
              </a:rPr>
              <a:t>due to </a:t>
            </a:r>
            <a:r>
              <a:rPr lang="en-US" sz="1200" dirty="0">
                <a:solidFill>
                  <a:schemeClr val="dk1"/>
                </a:solidFill>
                <a:latin typeface="Palatino" pitchFamily="2" charset="77"/>
                <a:ea typeface="Palatino" pitchFamily="2" charset="77"/>
                <a:cs typeface="Calibri" panose="020F0502020204030204" pitchFamily="34" charset="0"/>
              </a:rPr>
              <a:t>non-inclusive poli. inst. </a:t>
            </a:r>
            <a:r>
              <a:rPr lang="en-US" sz="1200" dirty="0">
                <a:solidFill>
                  <a:schemeClr val="dk1"/>
                </a:solidFill>
                <a:latin typeface="Palatino" pitchFamily="2" charset="77"/>
                <a:ea typeface="Palatino" pitchFamily="2" charset="77"/>
                <a:cs typeface="Calibri" panose="020F0502020204030204" pitchFamily="34" charset="0"/>
                <a:sym typeface="Wingdings" pitchFamily="2" charset="2"/>
              </a:rPr>
              <a:t> fundamental problem absent globalization</a:t>
            </a:r>
            <a:endParaRPr lang="en-US" sz="1200" dirty="0">
              <a:solidFill>
                <a:schemeClr val="dk1"/>
              </a:solidFill>
              <a:latin typeface="Palatino" pitchFamily="2" charset="77"/>
              <a:ea typeface="Palatino" pitchFamily="2" charset="77"/>
              <a:cs typeface="Calibri" panose="020F0502020204030204" pitchFamily="34" charset="0"/>
            </a:endParaRPr>
          </a:p>
          <a:p>
            <a:pPr marL="914400" marR="0" lvl="1" indent="-342900" algn="l" rtl="0">
              <a:lnSpc>
                <a:spcPct val="150000"/>
              </a:lnSpc>
              <a:spcBef>
                <a:spcPts val="0"/>
              </a:spcBef>
              <a:spcAft>
                <a:spcPts val="0"/>
              </a:spcAft>
              <a:buClr>
                <a:schemeClr val="dk1"/>
              </a:buClr>
              <a:buSzPts val="1800"/>
              <a:buChar char="○"/>
            </a:pPr>
            <a:endParaRPr lang="en-US" sz="1200" dirty="0">
              <a:solidFill>
                <a:schemeClr val="tx1"/>
              </a:solidFill>
              <a:latin typeface="Palatino" pitchFamily="2" charset="77"/>
              <a:ea typeface="Palatino" pitchFamily="2" charset="77"/>
              <a:cs typeface="Calibri" panose="020F0502020204030204" pitchFamily="34" charset="0"/>
            </a:endParaRPr>
          </a:p>
          <a:p>
            <a:pPr marL="457200" marR="0" lvl="0" indent="0" algn="l" rtl="0">
              <a:lnSpc>
                <a:spcPct val="100000"/>
              </a:lnSpc>
              <a:spcBef>
                <a:spcPts val="0"/>
              </a:spcBef>
              <a:spcAft>
                <a:spcPts val="0"/>
              </a:spcAft>
              <a:buNone/>
            </a:pPr>
            <a:endParaRPr dirty="0">
              <a:solidFill>
                <a:schemeClr val="dk1"/>
              </a:solidFill>
              <a:latin typeface="Palatino" pitchFamily="2" charset="77"/>
              <a:ea typeface="Palatino" pitchFamily="2" charset="77"/>
              <a:cs typeface="Calibri" panose="020F0502020204030204" pitchFamily="34" charset="0"/>
            </a:endParaRPr>
          </a:p>
          <a:p>
            <a:pPr marL="457200" marR="0" lvl="0" indent="0" algn="l" rtl="0">
              <a:lnSpc>
                <a:spcPct val="100000"/>
              </a:lnSpc>
              <a:spcBef>
                <a:spcPts val="0"/>
              </a:spcBef>
              <a:spcAft>
                <a:spcPts val="0"/>
              </a:spcAft>
              <a:buNone/>
            </a:pPr>
            <a:endParaRPr sz="1800" dirty="0">
              <a:solidFill>
                <a:schemeClr val="dk1"/>
              </a:solidFill>
              <a:latin typeface="Palatino" pitchFamily="2" charset="77"/>
              <a:ea typeface="Palatino" pitchFamily="2" charset="77"/>
              <a:cs typeface="Calibri" panose="020F0502020204030204" pitchFamily="34" charset="0"/>
            </a:endParaRPr>
          </a:p>
          <a:p>
            <a:pPr marL="457200" lvl="2" indent="-342900">
              <a:buClr>
                <a:schemeClr val="dk1"/>
              </a:buClr>
              <a:buSzPts val="1800"/>
              <a:buChar char="●"/>
            </a:pPr>
            <a:endParaRPr sz="1600" dirty="0">
              <a:solidFill>
                <a:schemeClr val="dk1"/>
              </a:solidFill>
              <a:latin typeface="Palatino" pitchFamily="2" charset="77"/>
              <a:ea typeface="Palatino" pitchFamily="2" charset="77"/>
              <a:cs typeface="Calibri" panose="020F0502020204030204" pitchFamily="34" charset="0"/>
            </a:endParaRPr>
          </a:p>
        </p:txBody>
      </p:sp>
      <p:pic>
        <p:nvPicPr>
          <p:cNvPr id="2" name="Google Shape;103;p17">
            <a:extLst>
              <a:ext uri="{FF2B5EF4-FFF2-40B4-BE49-F238E27FC236}">
                <a16:creationId xmlns:a16="http://schemas.microsoft.com/office/drawing/2014/main" id="{1EAE8A3D-544B-2707-5CB0-A414A5E86D16}"/>
              </a:ext>
            </a:extLst>
          </p:cNvPr>
          <p:cNvPicPr preferRelativeResize="0"/>
          <p:nvPr/>
        </p:nvPicPr>
        <p:blipFill>
          <a:blip r:embed="rId3">
            <a:alphaModFix/>
          </a:blip>
          <a:stretch>
            <a:fillRect/>
          </a:stretch>
        </p:blipFill>
        <p:spPr>
          <a:xfrm rot="10800000">
            <a:off x="1030573" y="3387797"/>
            <a:ext cx="315625" cy="521212"/>
          </a:xfrm>
          <a:prstGeom prst="rect">
            <a:avLst/>
          </a:prstGeom>
          <a:noFill/>
          <a:ln>
            <a:noFill/>
          </a:ln>
        </p:spPr>
      </p:pic>
      <p:pic>
        <p:nvPicPr>
          <p:cNvPr id="3" name="Google Shape;103;p17">
            <a:extLst>
              <a:ext uri="{FF2B5EF4-FFF2-40B4-BE49-F238E27FC236}">
                <a16:creationId xmlns:a16="http://schemas.microsoft.com/office/drawing/2014/main" id="{6F1D3E83-2CC9-6E0D-E741-F4A28610CE43}"/>
              </a:ext>
            </a:extLst>
          </p:cNvPr>
          <p:cNvPicPr preferRelativeResize="0"/>
          <p:nvPr/>
        </p:nvPicPr>
        <p:blipFill>
          <a:blip r:embed="rId3">
            <a:alphaModFix/>
          </a:blip>
          <a:stretch>
            <a:fillRect/>
          </a:stretch>
        </p:blipFill>
        <p:spPr>
          <a:xfrm>
            <a:off x="7348889" y="2371539"/>
            <a:ext cx="315625" cy="521212"/>
          </a:xfrm>
          <a:prstGeom prst="rect">
            <a:avLst/>
          </a:prstGeom>
          <a:noFill/>
          <a:ln>
            <a:noFill/>
          </a:ln>
        </p:spPr>
      </p:pic>
      <p:sp>
        <p:nvSpPr>
          <p:cNvPr id="5" name="TextBox 4">
            <a:extLst>
              <a:ext uri="{FF2B5EF4-FFF2-40B4-BE49-F238E27FC236}">
                <a16:creationId xmlns:a16="http://schemas.microsoft.com/office/drawing/2014/main" id="{E2B30B83-DBF1-A770-96A0-F09858E38249}"/>
              </a:ext>
            </a:extLst>
          </p:cNvPr>
          <p:cNvSpPr txBox="1"/>
          <p:nvPr/>
        </p:nvSpPr>
        <p:spPr>
          <a:xfrm>
            <a:off x="7653528" y="2439756"/>
            <a:ext cx="4608576" cy="307777"/>
          </a:xfrm>
          <a:prstGeom prst="rect">
            <a:avLst/>
          </a:prstGeom>
          <a:noFill/>
        </p:spPr>
        <p:txBody>
          <a:bodyPr wrap="square">
            <a:spAutoFit/>
          </a:bodyPr>
          <a:lstStyle/>
          <a:p>
            <a:r>
              <a:rPr lang="en-US" sz="1400" b="1" dirty="0">
                <a:solidFill>
                  <a:schemeClr val="tx1"/>
                </a:solidFill>
                <a:latin typeface="Palatino" pitchFamily="2" charset="77"/>
                <a:ea typeface="Palatino" pitchFamily="2" charset="77"/>
                <a:cs typeface="Calibri" panose="020F0502020204030204" pitchFamily="34" charset="0"/>
              </a:rPr>
              <a:t>scope condition</a:t>
            </a:r>
            <a:endParaRPr lang="en-US" dirty="0">
              <a:latin typeface="Palatino" pitchFamily="2" charset="77"/>
              <a:ea typeface="Palatino" pitchFamily="2" charset="77"/>
            </a:endParaRPr>
          </a:p>
        </p:txBody>
      </p:sp>
      <p:cxnSp>
        <p:nvCxnSpPr>
          <p:cNvPr id="8" name="Curved Connector 7">
            <a:extLst>
              <a:ext uri="{FF2B5EF4-FFF2-40B4-BE49-F238E27FC236}">
                <a16:creationId xmlns:a16="http://schemas.microsoft.com/office/drawing/2014/main" id="{3682D1B2-2136-E04C-02B9-58F9F49B16DD}"/>
              </a:ext>
            </a:extLst>
          </p:cNvPr>
          <p:cNvCxnSpPr>
            <a:cxnSpLocks/>
          </p:cNvCxnSpPr>
          <p:nvPr/>
        </p:nvCxnSpPr>
        <p:spPr>
          <a:xfrm>
            <a:off x="713232" y="3358921"/>
            <a:ext cx="317341" cy="154775"/>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0">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0">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0">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0">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0">
                                            <p:txEl>
                                              <p:pRg st="3" end="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0">
                                            <p:txEl>
                                              <p:pRg st="5" end="5"/>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0">
                                            <p:txEl>
                                              <p:pRg st="6" end="6"/>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0">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0">
                                            <p:txEl>
                                              <p:pRg st="6" end="6"/>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uiExpand="1" build="allAtOnce"/>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4"/>
        <p:cNvGrpSpPr/>
        <p:nvPr/>
      </p:nvGrpSpPr>
      <p:grpSpPr>
        <a:xfrm>
          <a:off x="0" y="0"/>
          <a:ext cx="0" cy="0"/>
          <a:chOff x="0" y="0"/>
          <a:chExt cx="0" cy="0"/>
        </a:xfrm>
      </p:grpSpPr>
      <p:sp>
        <p:nvSpPr>
          <p:cNvPr id="115" name="Google Shape;115;p19"/>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116" name="Google Shape;116;p19"/>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“Engaged Reformer”: Face Validation</a:t>
            </a:r>
            <a:endParaRPr lang="en-US" sz="2400" b="1" i="0" u="none" strike="noStrike" cap="none" dirty="0">
              <a:solidFill>
                <a:schemeClr val="lt1"/>
              </a:solidFill>
              <a:latin typeface="Palatino" pitchFamily="2" charset="77"/>
              <a:ea typeface="Palatino" pitchFamily="2" charset="77"/>
            </a:endParaRPr>
          </a:p>
        </p:txBody>
      </p:sp>
      <p:pic>
        <p:nvPicPr>
          <p:cNvPr id="2" name="Picture 1">
            <a:extLst>
              <a:ext uri="{FF2B5EF4-FFF2-40B4-BE49-F238E27FC236}">
                <a16:creationId xmlns:a16="http://schemas.microsoft.com/office/drawing/2014/main" id="{9925B353-7C93-5D83-D3F7-2724E5032EAB}"/>
              </a:ext>
            </a:extLst>
          </p:cNvPr>
          <p:cNvPicPr>
            <a:picLocks noChangeAspect="1"/>
          </p:cNvPicPr>
          <p:nvPr/>
        </p:nvPicPr>
        <p:blipFill rotWithShape="1">
          <a:blip r:embed="rId3"/>
          <a:srcRect b="18345"/>
          <a:stretch/>
        </p:blipFill>
        <p:spPr>
          <a:xfrm>
            <a:off x="967120" y="1048233"/>
            <a:ext cx="6333586" cy="39502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6"/>
        <p:cNvGrpSpPr/>
        <p:nvPr/>
      </p:nvGrpSpPr>
      <p:grpSpPr>
        <a:xfrm>
          <a:off x="0" y="0"/>
          <a:ext cx="0" cy="0"/>
          <a:chOff x="0" y="0"/>
          <a:chExt cx="0" cy="0"/>
        </a:xfrm>
      </p:grpSpPr>
      <p:sp>
        <p:nvSpPr>
          <p:cNvPr id="157" name="Google Shape;157;p24"/>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158" name="Google Shape;158;p24"/>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Advantage Formation: Mechanisms</a:t>
            </a:r>
            <a:endParaRPr sz="2400" b="1" i="0" u="none" strike="noStrike" cap="none" dirty="0">
              <a:solidFill>
                <a:schemeClr val="lt1"/>
              </a:solidFill>
              <a:latin typeface="Palatino" pitchFamily="2" charset="77"/>
              <a:ea typeface="Palatino" pitchFamily="2" charset="77"/>
            </a:endParaRPr>
          </a:p>
        </p:txBody>
      </p:sp>
      <p:sp>
        <p:nvSpPr>
          <p:cNvPr id="159" name="Google Shape;159;p24"/>
          <p:cNvSpPr txBox="1"/>
          <p:nvPr/>
        </p:nvSpPr>
        <p:spPr>
          <a:xfrm>
            <a:off x="398775" y="1294025"/>
            <a:ext cx="8529000" cy="3410100"/>
          </a:xfrm>
          <a:prstGeom prst="rect">
            <a:avLst/>
          </a:prstGeom>
          <a:noFill/>
          <a:ln>
            <a:noFill/>
          </a:ln>
        </p:spPr>
        <p:txBody>
          <a:bodyPr spcFirstLastPara="1" wrap="square" lIns="91425" tIns="91425" rIns="91425" bIns="91425" anchor="t" anchorCtr="0">
            <a:noAutofit/>
          </a:bodyPr>
          <a:lstStyle/>
          <a:p>
            <a:pPr marL="120650" lvl="0" algn="l" rtl="0">
              <a:lnSpc>
                <a:spcPct val="115000"/>
              </a:lnSpc>
              <a:spcBef>
                <a:spcPts val="1000"/>
              </a:spcBef>
              <a:spcAft>
                <a:spcPts val="0"/>
              </a:spcAft>
              <a:buClr>
                <a:schemeClr val="dk1"/>
              </a:buClr>
              <a:buSzPts val="1700"/>
            </a:pPr>
            <a:r>
              <a:rPr lang="en-US" sz="1600" b="1" dirty="0">
                <a:solidFill>
                  <a:schemeClr val="dk1"/>
                </a:solidFill>
                <a:latin typeface="Palatino" pitchFamily="2" charset="77"/>
                <a:ea typeface="Palatino" pitchFamily="2" charset="77"/>
                <a:cs typeface="Arial" panose="020B0604020202020204" pitchFamily="34" charset="0"/>
              </a:rPr>
              <a:t>Reform-and-open scenario</a:t>
            </a:r>
            <a:r>
              <a:rPr lang="en-US" sz="1600" dirty="0">
                <a:solidFill>
                  <a:schemeClr val="dk1"/>
                </a:solidFill>
                <a:latin typeface="Palatino" pitchFamily="2" charset="77"/>
                <a:ea typeface="Palatino" pitchFamily="2" charset="77"/>
                <a:cs typeface="Arial" panose="020B0604020202020204" pitchFamily="34" charset="0"/>
              </a:rPr>
              <a:t>: inst. disadvantage </a:t>
            </a:r>
            <a:r>
              <a:rPr lang="en-US" sz="1600" dirty="0">
                <a:solidFill>
                  <a:schemeClr val="dk1"/>
                </a:solidFill>
                <a:latin typeface="Palatino" pitchFamily="2" charset="77"/>
                <a:ea typeface="Palatino" pitchFamily="2" charset="77"/>
                <a:cs typeface="Arial" panose="020B0604020202020204" pitchFamily="34" charset="0"/>
                <a:sym typeface="Wingdings" pitchFamily="2" charset="2"/>
              </a:rPr>
              <a:t></a:t>
            </a:r>
            <a:r>
              <a:rPr lang="en-US" sz="1600" dirty="0">
                <a:solidFill>
                  <a:schemeClr val="dk1"/>
                </a:solidFill>
                <a:latin typeface="Palatino" pitchFamily="2" charset="77"/>
                <a:ea typeface="Palatino" pitchFamily="2" charset="77"/>
                <a:cs typeface="Arial" panose="020B0604020202020204" pitchFamily="34" charset="0"/>
              </a:rPr>
              <a:t> advantage (passive/active)</a:t>
            </a:r>
            <a:endParaRPr sz="1600" dirty="0">
              <a:solidFill>
                <a:schemeClr val="dk1"/>
              </a:solidFill>
              <a:latin typeface="Palatino" pitchFamily="2" charset="77"/>
              <a:ea typeface="Palatino" pitchFamily="2" charset="77"/>
              <a:cs typeface="Arial" panose="020B0604020202020204" pitchFamily="34" charset="0"/>
            </a:endParaRPr>
          </a:p>
          <a:p>
            <a:pPr marL="571500">
              <a:spcBef>
                <a:spcPts val="1800"/>
              </a:spcBef>
              <a:buClr>
                <a:schemeClr val="dk1"/>
              </a:buClr>
              <a:buSzPts val="1800"/>
            </a:pPr>
            <a:endParaRPr lang="en-US" b="1" i="1" dirty="0">
              <a:solidFill>
                <a:schemeClr val="dk1"/>
              </a:solidFill>
              <a:latin typeface="Palatino" pitchFamily="2" charset="77"/>
              <a:ea typeface="Palatino" pitchFamily="2" charset="77"/>
              <a:cs typeface="Arial" panose="020B0604020202020204" pitchFamily="34" charset="0"/>
            </a:endParaRPr>
          </a:p>
          <a:p>
            <a:pPr marL="914400" indent="-342900">
              <a:spcBef>
                <a:spcPts val="1800"/>
              </a:spcBef>
              <a:buClr>
                <a:schemeClr val="dk1"/>
              </a:buClr>
              <a:buSzPts val="1800"/>
              <a:buChar char="○"/>
            </a:pPr>
            <a:endParaRPr lang="en-US" b="1" i="1" dirty="0">
              <a:solidFill>
                <a:schemeClr val="dk1"/>
              </a:solidFill>
              <a:latin typeface="Palatino" pitchFamily="2" charset="77"/>
              <a:ea typeface="Palatino" pitchFamily="2" charset="77"/>
              <a:cs typeface="Arial" panose="020B0604020202020204" pitchFamily="34" charset="0"/>
            </a:endParaRPr>
          </a:p>
          <a:p>
            <a:pPr marL="914400" indent="-342900">
              <a:spcBef>
                <a:spcPts val="1800"/>
              </a:spcBef>
              <a:buClr>
                <a:schemeClr val="dk1"/>
              </a:buClr>
              <a:buSzPts val="1800"/>
              <a:buChar char="○"/>
            </a:pPr>
            <a:r>
              <a:rPr lang="en-US" b="1" dirty="0">
                <a:solidFill>
                  <a:schemeClr val="dk1"/>
                </a:solidFill>
                <a:latin typeface="Palatino" pitchFamily="2" charset="77"/>
                <a:ea typeface="Palatino" pitchFamily="2" charset="77"/>
                <a:cs typeface="Arial" panose="020B0604020202020204" pitchFamily="34" charset="0"/>
              </a:rPr>
              <a:t>Centralized power</a:t>
            </a:r>
            <a:r>
              <a:rPr lang="en-US" i="1" dirty="0">
                <a:solidFill>
                  <a:schemeClr val="dk1"/>
                </a:solidFill>
                <a:latin typeface="Palatino" pitchFamily="2" charset="77"/>
                <a:ea typeface="Palatino" pitchFamily="2" charset="77"/>
                <a:cs typeface="Arial" panose="020B0604020202020204" pitchFamily="34" charset="0"/>
              </a:rPr>
              <a:t>: </a:t>
            </a:r>
            <a:r>
              <a:rPr lang="en-US" sz="1200" dirty="0">
                <a:solidFill>
                  <a:schemeClr val="dk1"/>
                </a:solidFill>
                <a:latin typeface="Palatino" pitchFamily="2" charset="77"/>
                <a:ea typeface="Palatino" pitchFamily="2" charset="77"/>
                <a:cs typeface="Arial" panose="020B0604020202020204" pitchFamily="34" charset="0"/>
              </a:rPr>
              <a:t>swift response, economic resilience, consistent planning, state support </a:t>
            </a:r>
            <a:r>
              <a:rPr lang="en-US" sz="1000" dirty="0">
                <a:solidFill>
                  <a:schemeClr val="bg2">
                    <a:lumMod val="60000"/>
                    <a:lumOff val="40000"/>
                  </a:schemeClr>
                </a:solidFill>
                <a:latin typeface="Palatino" pitchFamily="2" charset="77"/>
                <a:ea typeface="Palatino" pitchFamily="2" charset="77"/>
                <a:cs typeface="Arial" panose="020B0604020202020204" pitchFamily="34" charset="0"/>
              </a:rPr>
              <a:t>(Clegg et al. 2018; Haggard 1990; Kim 2018; Wade 1990; Wu 2016) </a:t>
            </a:r>
            <a:endParaRPr sz="1000" dirty="0">
              <a:solidFill>
                <a:schemeClr val="bg2">
                  <a:lumMod val="60000"/>
                  <a:lumOff val="40000"/>
                </a:schemeClr>
              </a:solidFill>
              <a:latin typeface="Palatino" pitchFamily="2" charset="77"/>
              <a:ea typeface="Palatino" pitchFamily="2" charset="77"/>
              <a:cs typeface="Arial" panose="020B0604020202020204" pitchFamily="34" charset="0"/>
            </a:endParaRPr>
          </a:p>
          <a:p>
            <a:pPr marL="914400" indent="-323850">
              <a:lnSpc>
                <a:spcPct val="115000"/>
              </a:lnSpc>
              <a:spcBef>
                <a:spcPts val="300"/>
              </a:spcBef>
              <a:buClr>
                <a:schemeClr val="dk1"/>
              </a:buClr>
              <a:buSzPts val="1500"/>
              <a:buChar char="○"/>
            </a:pPr>
            <a:r>
              <a:rPr lang="en-US" b="1" dirty="0">
                <a:solidFill>
                  <a:schemeClr val="dk1"/>
                </a:solidFill>
                <a:latin typeface="Palatino" pitchFamily="2" charset="77"/>
                <a:ea typeface="Palatino" pitchFamily="2" charset="77"/>
                <a:cs typeface="Arial" panose="020B0604020202020204" pitchFamily="34" charset="0"/>
              </a:rPr>
              <a:t>Weak inst. constraints (</a:t>
            </a:r>
            <a:r>
              <a:rPr lang="en-US" b="1" i="1" dirty="0">
                <a:solidFill>
                  <a:schemeClr val="dk1"/>
                </a:solidFill>
                <a:latin typeface="Palatino" pitchFamily="2" charset="77"/>
                <a:ea typeface="Palatino" pitchFamily="2" charset="77"/>
                <a:cs typeface="Arial" panose="020B0604020202020204" pitchFamily="34" charset="0"/>
              </a:rPr>
              <a:t>ex ante</a:t>
            </a:r>
            <a:r>
              <a:rPr lang="en-US" b="1" dirty="0">
                <a:solidFill>
                  <a:schemeClr val="dk1"/>
                </a:solidFill>
                <a:latin typeface="Palatino" pitchFamily="2" charset="77"/>
                <a:ea typeface="Palatino" pitchFamily="2" charset="77"/>
                <a:cs typeface="Arial" panose="020B0604020202020204" pitchFamily="34" charset="0"/>
              </a:rPr>
              <a:t>)</a:t>
            </a:r>
            <a:r>
              <a:rPr lang="en-US" dirty="0">
                <a:solidFill>
                  <a:schemeClr val="dk1"/>
                </a:solidFill>
                <a:latin typeface="Palatino" pitchFamily="2" charset="77"/>
                <a:ea typeface="Palatino" pitchFamily="2" charset="77"/>
                <a:cs typeface="Arial" panose="020B0604020202020204" pitchFamily="34" charset="0"/>
              </a:rPr>
              <a:t>: </a:t>
            </a:r>
            <a:r>
              <a:rPr lang="en-US" sz="1200" dirty="0">
                <a:solidFill>
                  <a:schemeClr val="dk1"/>
                </a:solidFill>
                <a:latin typeface="Palatino" pitchFamily="2" charset="77"/>
                <a:ea typeface="Palatino" pitchFamily="2" charset="77"/>
                <a:cs typeface="Arial" panose="020B0604020202020204" pitchFamily="34" charset="0"/>
              </a:rPr>
              <a:t>weak opposition, large winning set, resource allocation, MNCs attraction, policy flexibility</a:t>
            </a:r>
            <a:r>
              <a:rPr lang="en-US" dirty="0">
                <a:solidFill>
                  <a:schemeClr val="dk1"/>
                </a:solidFill>
                <a:latin typeface="Palatino" pitchFamily="2" charset="77"/>
                <a:ea typeface="Palatino" pitchFamily="2" charset="77"/>
                <a:cs typeface="Arial" panose="020B0604020202020204" pitchFamily="34" charset="0"/>
              </a:rPr>
              <a:t> </a:t>
            </a:r>
            <a:r>
              <a:rPr lang="en-US" sz="1000" dirty="0">
                <a:solidFill>
                  <a:schemeClr val="bg2">
                    <a:lumMod val="60000"/>
                    <a:lumOff val="40000"/>
                  </a:schemeClr>
                </a:solidFill>
                <a:latin typeface="Palatino" pitchFamily="2" charset="77"/>
                <a:ea typeface="Palatino" pitchFamily="2" charset="77"/>
                <a:cs typeface="Arial" panose="020B0604020202020204" pitchFamily="34" charset="0"/>
              </a:rPr>
              <a:t>(Allen &amp; Ge working; </a:t>
            </a:r>
            <a:r>
              <a:rPr lang="en-US" sz="1000" dirty="0" err="1">
                <a:solidFill>
                  <a:schemeClr val="bg2">
                    <a:lumMod val="60000"/>
                    <a:lumOff val="40000"/>
                  </a:schemeClr>
                </a:solidFill>
                <a:latin typeface="Palatino" pitchFamily="2" charset="77"/>
                <a:ea typeface="Palatino" pitchFamily="2" charset="77"/>
                <a:cs typeface="Arial" panose="020B0604020202020204" pitchFamily="34" charset="0"/>
              </a:rPr>
              <a:t>Brune</a:t>
            </a:r>
            <a:r>
              <a:rPr lang="en-US" sz="1000" dirty="0">
                <a:solidFill>
                  <a:schemeClr val="bg2">
                    <a:lumMod val="60000"/>
                    <a:lumOff val="40000"/>
                  </a:schemeClr>
                </a:solidFill>
                <a:latin typeface="Palatino" pitchFamily="2" charset="77"/>
                <a:ea typeface="Palatino" pitchFamily="2" charset="77"/>
                <a:cs typeface="Arial" panose="020B0604020202020204" pitchFamily="34" charset="0"/>
              </a:rPr>
              <a:t> et al. 2001; Steinberg and Malhotra 2014; </a:t>
            </a:r>
            <a:r>
              <a:rPr lang="en-US" sz="1000" dirty="0" err="1">
                <a:solidFill>
                  <a:schemeClr val="bg2">
                    <a:lumMod val="60000"/>
                    <a:lumOff val="40000"/>
                  </a:schemeClr>
                </a:solidFill>
                <a:latin typeface="Palatino" pitchFamily="2" charset="77"/>
                <a:ea typeface="Palatino" pitchFamily="2" charset="77"/>
                <a:cs typeface="Arial" panose="020B0604020202020204" pitchFamily="34" charset="0"/>
              </a:rPr>
              <a:t>Lipscy</a:t>
            </a:r>
            <a:r>
              <a:rPr lang="en-US" sz="1000" dirty="0">
                <a:solidFill>
                  <a:schemeClr val="bg2">
                    <a:lumMod val="60000"/>
                    <a:lumOff val="40000"/>
                  </a:schemeClr>
                </a:solidFill>
                <a:latin typeface="Palatino" pitchFamily="2" charset="77"/>
                <a:ea typeface="Palatino" pitchFamily="2" charset="77"/>
                <a:cs typeface="Arial" panose="020B0604020202020204" pitchFamily="34" charset="0"/>
              </a:rPr>
              <a:t> 2018; Putnam 1995)</a:t>
            </a:r>
            <a:endParaRPr sz="1000" dirty="0">
              <a:solidFill>
                <a:schemeClr val="bg2">
                  <a:lumMod val="60000"/>
                  <a:lumOff val="40000"/>
                </a:schemeClr>
              </a:solidFill>
              <a:latin typeface="Palatino" pitchFamily="2" charset="77"/>
              <a:ea typeface="Palatino" pitchFamily="2" charset="77"/>
              <a:cs typeface="Arial" panose="020B0604020202020204" pitchFamily="34" charset="0"/>
            </a:endParaRPr>
          </a:p>
          <a:p>
            <a:pPr marL="914400" indent="-323850">
              <a:lnSpc>
                <a:spcPct val="115000"/>
              </a:lnSpc>
              <a:spcBef>
                <a:spcPts val="300"/>
              </a:spcBef>
              <a:buClr>
                <a:schemeClr val="dk1"/>
              </a:buClr>
              <a:buSzPts val="1500"/>
              <a:buChar char="○"/>
            </a:pPr>
            <a:r>
              <a:rPr lang="en-US" b="1" dirty="0">
                <a:solidFill>
                  <a:schemeClr val="dk1"/>
                </a:solidFill>
                <a:latin typeface="Palatino" pitchFamily="2" charset="77"/>
                <a:ea typeface="Palatino" pitchFamily="2" charset="77"/>
                <a:cs typeface="Arial" panose="020B0604020202020204" pitchFamily="34" charset="0"/>
              </a:rPr>
              <a:t>Low accountability (</a:t>
            </a:r>
            <a:r>
              <a:rPr lang="en-US" b="1" i="1" dirty="0">
                <a:solidFill>
                  <a:schemeClr val="dk1"/>
                </a:solidFill>
                <a:latin typeface="Palatino" pitchFamily="2" charset="77"/>
                <a:ea typeface="Palatino" pitchFamily="2" charset="77"/>
                <a:cs typeface="Arial" panose="020B0604020202020204" pitchFamily="34" charset="0"/>
              </a:rPr>
              <a:t>ex post</a:t>
            </a:r>
            <a:r>
              <a:rPr lang="en-US" b="1" dirty="0">
                <a:solidFill>
                  <a:schemeClr val="dk1"/>
                </a:solidFill>
                <a:latin typeface="Palatino" pitchFamily="2" charset="77"/>
                <a:ea typeface="Palatino" pitchFamily="2" charset="77"/>
                <a:cs typeface="Arial" panose="020B0604020202020204" pitchFamily="34" charset="0"/>
              </a:rPr>
              <a:t>)</a:t>
            </a:r>
            <a:r>
              <a:rPr lang="en-US" dirty="0">
                <a:solidFill>
                  <a:schemeClr val="dk1"/>
                </a:solidFill>
                <a:latin typeface="Palatino" pitchFamily="2" charset="77"/>
                <a:ea typeface="Palatino" pitchFamily="2" charset="77"/>
                <a:cs typeface="Arial" panose="020B0604020202020204" pitchFamily="34" charset="0"/>
              </a:rPr>
              <a:t>:</a:t>
            </a:r>
            <a:r>
              <a:rPr lang="en-US" i="1" dirty="0">
                <a:solidFill>
                  <a:schemeClr val="dk1"/>
                </a:solidFill>
                <a:latin typeface="Palatino" pitchFamily="2" charset="77"/>
                <a:ea typeface="Palatino" pitchFamily="2" charset="77"/>
                <a:cs typeface="Arial" panose="020B0604020202020204" pitchFamily="34" charset="0"/>
              </a:rPr>
              <a:t> </a:t>
            </a:r>
            <a:r>
              <a:rPr lang="en-US" sz="1200" dirty="0">
                <a:solidFill>
                  <a:schemeClr val="dk1"/>
                </a:solidFill>
                <a:latin typeface="Palatino" pitchFamily="2" charset="77"/>
                <a:ea typeface="Palatino" pitchFamily="2" charset="77"/>
                <a:cs typeface="Arial" panose="020B0604020202020204" pitchFamily="34" charset="0"/>
              </a:rPr>
              <a:t>limited redistribution, labor/env/corporatist group suppression, enforced austerity/saving </a:t>
            </a:r>
            <a:r>
              <a:rPr lang="en-US" sz="1000" dirty="0">
                <a:solidFill>
                  <a:schemeClr val="bg2">
                    <a:lumMod val="60000"/>
                    <a:lumOff val="40000"/>
                  </a:schemeClr>
                </a:solidFill>
                <a:latin typeface="Palatino" pitchFamily="2" charset="77"/>
                <a:ea typeface="Palatino" pitchFamily="2" charset="77"/>
                <a:cs typeface="Arial" panose="020B0604020202020204" pitchFamily="34" charset="0"/>
              </a:rPr>
              <a:t>(Quinn and Woolley 2001; Sah 1991; Zakaria 1997; Rodrik 1999; Manger and Sattler 2015; </a:t>
            </a:r>
            <a:r>
              <a:rPr lang="en-US" sz="1000" dirty="0" err="1">
                <a:solidFill>
                  <a:schemeClr val="bg2">
                    <a:lumMod val="60000"/>
                    <a:lumOff val="40000"/>
                  </a:schemeClr>
                </a:solidFill>
                <a:latin typeface="Palatino" pitchFamily="2" charset="77"/>
                <a:ea typeface="Palatino" pitchFamily="2" charset="77"/>
                <a:cs typeface="Arial" panose="020B0604020202020204" pitchFamily="34" charset="0"/>
              </a:rPr>
              <a:t>Feierherd</a:t>
            </a:r>
            <a:r>
              <a:rPr lang="en-US" sz="1000" dirty="0">
                <a:solidFill>
                  <a:schemeClr val="bg2">
                    <a:lumMod val="60000"/>
                    <a:lumOff val="40000"/>
                  </a:schemeClr>
                </a:solidFill>
                <a:latin typeface="Palatino" pitchFamily="2" charset="77"/>
                <a:ea typeface="Palatino" pitchFamily="2" charset="77"/>
                <a:cs typeface="Arial" panose="020B0604020202020204" pitchFamily="34" charset="0"/>
              </a:rPr>
              <a:t> 2024; Krueger 1974)</a:t>
            </a:r>
            <a:endParaRPr sz="700" dirty="0">
              <a:solidFill>
                <a:schemeClr val="bg2">
                  <a:lumMod val="60000"/>
                  <a:lumOff val="40000"/>
                </a:schemeClr>
              </a:solidFill>
              <a:latin typeface="Palatino" pitchFamily="2" charset="77"/>
              <a:ea typeface="Palatino" pitchFamily="2" charset="77"/>
              <a:cs typeface="Arial" panose="020B0604020202020204" pitchFamily="34" charset="0"/>
            </a:endParaRPr>
          </a:p>
          <a:p>
            <a:pPr marL="914400" indent="-323850">
              <a:lnSpc>
                <a:spcPct val="115000"/>
              </a:lnSpc>
              <a:spcBef>
                <a:spcPts val="300"/>
              </a:spcBef>
              <a:buClr>
                <a:schemeClr val="dk1"/>
              </a:buClr>
              <a:buSzPts val="1500"/>
              <a:buChar char="○"/>
            </a:pPr>
            <a:r>
              <a:rPr lang="en-US" sz="1200" dirty="0">
                <a:solidFill>
                  <a:schemeClr val="dk1"/>
                </a:solidFill>
                <a:latin typeface="Palatino" pitchFamily="2" charset="77"/>
                <a:ea typeface="Palatino" pitchFamily="2" charset="77"/>
                <a:cs typeface="Arial" panose="020B0604020202020204" pitchFamily="34" charset="0"/>
              </a:rPr>
              <a:t>Other: resource endowment, consumption-discouraging norms</a:t>
            </a:r>
            <a:endParaRPr sz="1200" dirty="0">
              <a:solidFill>
                <a:schemeClr val="dk1"/>
              </a:solidFill>
              <a:latin typeface="Palatino" pitchFamily="2" charset="77"/>
              <a:ea typeface="Palatino" pitchFamily="2" charset="77"/>
              <a:cs typeface="Arial" panose="020B0604020202020204" pitchFamily="34" charset="0"/>
            </a:endParaRPr>
          </a:p>
        </p:txBody>
      </p:sp>
      <p:sp>
        <p:nvSpPr>
          <p:cNvPr id="2" name="TextBox 1">
            <a:extLst>
              <a:ext uri="{FF2B5EF4-FFF2-40B4-BE49-F238E27FC236}">
                <a16:creationId xmlns:a16="http://schemas.microsoft.com/office/drawing/2014/main" id="{329F847B-D9F0-007D-7121-A6EB4DBFDD1A}"/>
              </a:ext>
            </a:extLst>
          </p:cNvPr>
          <p:cNvSpPr txBox="1"/>
          <p:nvPr/>
        </p:nvSpPr>
        <p:spPr>
          <a:xfrm flipH="1">
            <a:off x="796522" y="2006109"/>
            <a:ext cx="7733506" cy="938719"/>
          </a:xfrm>
          <a:prstGeom prst="rect">
            <a:avLst/>
          </a:prstGeom>
          <a:noFill/>
        </p:spPr>
        <p:txBody>
          <a:bodyPr wrap="square" rtlCol="0">
            <a:spAutoFit/>
          </a:bodyPr>
          <a:lstStyle/>
          <a:p>
            <a:r>
              <a:rPr lang="en-US" sz="1100" i="1" dirty="0">
                <a:latin typeface="Palatino" pitchFamily="2" charset="77"/>
                <a:ea typeface="Palatino" pitchFamily="2" charset="77"/>
              </a:rPr>
              <a:t>Example</a:t>
            </a:r>
            <a:r>
              <a:rPr lang="en-US" sz="1100" dirty="0">
                <a:latin typeface="Palatino" pitchFamily="2" charset="77"/>
                <a:ea typeface="Palatino" pitchFamily="2" charset="77"/>
              </a:rPr>
              <a:t>: wage/welfare suppression weakens domestic consumption, </a:t>
            </a:r>
            <a:r>
              <a:rPr lang="en-US" sz="1100" b="1" dirty="0">
                <a:latin typeface="Palatino" pitchFamily="2" charset="77"/>
                <a:ea typeface="Palatino" pitchFamily="2" charset="77"/>
              </a:rPr>
              <a:t>unless</a:t>
            </a:r>
            <a:r>
              <a:rPr lang="en-US" sz="1100" dirty="0">
                <a:latin typeface="Palatino" pitchFamily="2" charset="77"/>
                <a:ea typeface="Palatino" pitchFamily="2" charset="77"/>
              </a:rPr>
              <a:t> resulted cost competitiveness captures more external markets and investments.</a:t>
            </a:r>
          </a:p>
          <a:p>
            <a:endParaRPr lang="en-US" sz="1100" dirty="0">
              <a:latin typeface="Palatino" pitchFamily="2" charset="77"/>
              <a:ea typeface="Palatino" pitchFamily="2" charset="77"/>
            </a:endParaRPr>
          </a:p>
          <a:p>
            <a:endParaRPr lang="en-US" sz="1100" dirty="0">
              <a:latin typeface="Palatino" pitchFamily="2" charset="77"/>
              <a:ea typeface="Palatino" pitchFamily="2" charset="77"/>
            </a:endParaRPr>
          </a:p>
          <a:p>
            <a:endParaRPr lang="en-US" sz="1100" dirty="0">
              <a:latin typeface="Palatino" pitchFamily="2" charset="77"/>
              <a:ea typeface="Palatino" pitchFamily="2" charset="7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6"/>
        <p:cNvGrpSpPr/>
        <p:nvPr/>
      </p:nvGrpSpPr>
      <p:grpSpPr>
        <a:xfrm>
          <a:off x="0" y="0"/>
          <a:ext cx="0" cy="0"/>
          <a:chOff x="0" y="0"/>
          <a:chExt cx="0" cy="0"/>
        </a:xfrm>
      </p:grpSpPr>
      <p:sp>
        <p:nvSpPr>
          <p:cNvPr id="157" name="Google Shape;157;p24"/>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158" name="Google Shape;158;p24"/>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None/>
            </a:pPr>
            <a:r>
              <a:rPr lang="en-US" sz="2400" b="1" i="0" u="none" strike="noStrike" cap="none" dirty="0">
                <a:solidFill>
                  <a:schemeClr val="lt1"/>
                </a:solidFill>
                <a:latin typeface="Palatino" pitchFamily="2" charset="77"/>
                <a:ea typeface="Palatino" pitchFamily="2" charset="77"/>
              </a:rPr>
              <a:t>e.g. Trade Models</a:t>
            </a:r>
            <a:endParaRPr sz="2400" b="1" i="0" u="none" strike="noStrike" cap="none" dirty="0">
              <a:solidFill>
                <a:schemeClr val="lt1"/>
              </a:solidFill>
              <a:latin typeface="Palatino" pitchFamily="2" charset="77"/>
              <a:ea typeface="Palatino" pitchFamily="2" charset="77"/>
            </a:endParaRPr>
          </a:p>
        </p:txBody>
      </p:sp>
      <p:pic>
        <p:nvPicPr>
          <p:cNvPr id="2" name="Picture 1">
            <a:extLst>
              <a:ext uri="{FF2B5EF4-FFF2-40B4-BE49-F238E27FC236}">
                <a16:creationId xmlns:a16="http://schemas.microsoft.com/office/drawing/2014/main" id="{6CE9DDB6-B8A0-DC96-3283-3DEDEB6B9EC7}"/>
              </a:ext>
            </a:extLst>
          </p:cNvPr>
          <p:cNvPicPr>
            <a:picLocks noChangeAspect="1"/>
          </p:cNvPicPr>
          <p:nvPr/>
        </p:nvPicPr>
        <p:blipFill>
          <a:blip r:embed="rId3"/>
          <a:stretch>
            <a:fillRect/>
          </a:stretch>
        </p:blipFill>
        <p:spPr>
          <a:xfrm>
            <a:off x="4111093" y="1541844"/>
            <a:ext cx="2209800" cy="431800"/>
          </a:xfrm>
          <a:prstGeom prst="rect">
            <a:avLst/>
          </a:prstGeom>
        </p:spPr>
      </p:pic>
      <p:sp>
        <p:nvSpPr>
          <p:cNvPr id="3" name="TextBox 2">
            <a:extLst>
              <a:ext uri="{FF2B5EF4-FFF2-40B4-BE49-F238E27FC236}">
                <a16:creationId xmlns:a16="http://schemas.microsoft.com/office/drawing/2014/main" id="{1C839A50-00E5-AEAB-3728-A7C1C1080123}"/>
              </a:ext>
            </a:extLst>
          </p:cNvPr>
          <p:cNvSpPr txBox="1"/>
          <p:nvPr/>
        </p:nvSpPr>
        <p:spPr>
          <a:xfrm>
            <a:off x="1505716" y="1586434"/>
            <a:ext cx="1946367" cy="307777"/>
          </a:xfrm>
          <a:prstGeom prst="rect">
            <a:avLst/>
          </a:prstGeom>
          <a:noFill/>
        </p:spPr>
        <p:txBody>
          <a:bodyPr wrap="none" rtlCol="0">
            <a:spAutoFit/>
          </a:bodyPr>
          <a:lstStyle/>
          <a:p>
            <a:r>
              <a:rPr lang="en-US" dirty="0">
                <a:latin typeface="Palatino" pitchFamily="2" charset="77"/>
                <a:ea typeface="Palatino" pitchFamily="2" charset="77"/>
              </a:rPr>
              <a:t>Eaton &amp; </a:t>
            </a:r>
            <a:r>
              <a:rPr lang="en-US" dirty="0" err="1">
                <a:latin typeface="Palatino" pitchFamily="2" charset="77"/>
                <a:ea typeface="Palatino" pitchFamily="2" charset="77"/>
              </a:rPr>
              <a:t>Kortum</a:t>
            </a:r>
            <a:r>
              <a:rPr lang="en-US" dirty="0">
                <a:latin typeface="Palatino" pitchFamily="2" charset="77"/>
                <a:ea typeface="Palatino" pitchFamily="2" charset="77"/>
              </a:rPr>
              <a:t> 2002:</a:t>
            </a:r>
          </a:p>
        </p:txBody>
      </p:sp>
      <p:sp>
        <p:nvSpPr>
          <p:cNvPr id="4" name="TextBox 3">
            <a:extLst>
              <a:ext uri="{FF2B5EF4-FFF2-40B4-BE49-F238E27FC236}">
                <a16:creationId xmlns:a16="http://schemas.microsoft.com/office/drawing/2014/main" id="{5F66D130-5A1B-F098-8687-33EA4F106E43}"/>
              </a:ext>
            </a:extLst>
          </p:cNvPr>
          <p:cNvSpPr txBox="1"/>
          <p:nvPr/>
        </p:nvSpPr>
        <p:spPr>
          <a:xfrm>
            <a:off x="1505716" y="2132647"/>
            <a:ext cx="1149674" cy="307777"/>
          </a:xfrm>
          <a:prstGeom prst="rect">
            <a:avLst/>
          </a:prstGeom>
          <a:noFill/>
        </p:spPr>
        <p:txBody>
          <a:bodyPr wrap="none" rtlCol="0">
            <a:spAutoFit/>
          </a:bodyPr>
          <a:lstStyle/>
          <a:p>
            <a:r>
              <a:rPr lang="en-US" dirty="0">
                <a:latin typeface="Palatino" pitchFamily="2" charset="77"/>
                <a:ea typeface="Palatino" pitchFamily="2" charset="77"/>
              </a:rPr>
              <a:t>Melitz 2003:</a:t>
            </a:r>
          </a:p>
        </p:txBody>
      </p:sp>
      <p:pic>
        <p:nvPicPr>
          <p:cNvPr id="5" name="Picture 4">
            <a:extLst>
              <a:ext uri="{FF2B5EF4-FFF2-40B4-BE49-F238E27FC236}">
                <a16:creationId xmlns:a16="http://schemas.microsoft.com/office/drawing/2014/main" id="{958A0668-511F-BD40-0D1B-A1A60A7AFA83}"/>
              </a:ext>
            </a:extLst>
          </p:cNvPr>
          <p:cNvPicPr>
            <a:picLocks noChangeAspect="1"/>
          </p:cNvPicPr>
          <p:nvPr/>
        </p:nvPicPr>
        <p:blipFill>
          <a:blip r:embed="rId4"/>
          <a:stretch>
            <a:fillRect/>
          </a:stretch>
        </p:blipFill>
        <p:spPr>
          <a:xfrm>
            <a:off x="4111093" y="2112861"/>
            <a:ext cx="2377519" cy="316222"/>
          </a:xfrm>
          <a:prstGeom prst="rect">
            <a:avLst/>
          </a:prstGeom>
        </p:spPr>
      </p:pic>
      <p:sp>
        <p:nvSpPr>
          <p:cNvPr id="6" name="TextBox 5">
            <a:extLst>
              <a:ext uri="{FF2B5EF4-FFF2-40B4-BE49-F238E27FC236}">
                <a16:creationId xmlns:a16="http://schemas.microsoft.com/office/drawing/2014/main" id="{8CFAAB31-AB41-C621-F64F-B1EC7C446307}"/>
              </a:ext>
            </a:extLst>
          </p:cNvPr>
          <p:cNvSpPr txBox="1"/>
          <p:nvPr/>
        </p:nvSpPr>
        <p:spPr>
          <a:xfrm>
            <a:off x="1505716" y="2609873"/>
            <a:ext cx="1856598" cy="307777"/>
          </a:xfrm>
          <a:prstGeom prst="rect">
            <a:avLst/>
          </a:prstGeom>
          <a:noFill/>
        </p:spPr>
        <p:txBody>
          <a:bodyPr wrap="none" rtlCol="0">
            <a:spAutoFit/>
          </a:bodyPr>
          <a:lstStyle/>
          <a:p>
            <a:r>
              <a:rPr lang="en-US" dirty="0" err="1">
                <a:latin typeface="Palatino" pitchFamily="2" charset="77"/>
                <a:ea typeface="Palatino" pitchFamily="2" charset="77"/>
              </a:rPr>
              <a:t>Arkolakis</a:t>
            </a:r>
            <a:r>
              <a:rPr lang="en-US" dirty="0">
                <a:latin typeface="Palatino" pitchFamily="2" charset="77"/>
                <a:ea typeface="Palatino" pitchFamily="2" charset="77"/>
              </a:rPr>
              <a:t> et al. 2018:</a:t>
            </a:r>
          </a:p>
        </p:txBody>
      </p:sp>
      <p:pic>
        <p:nvPicPr>
          <p:cNvPr id="7" name="Picture 6">
            <a:extLst>
              <a:ext uri="{FF2B5EF4-FFF2-40B4-BE49-F238E27FC236}">
                <a16:creationId xmlns:a16="http://schemas.microsoft.com/office/drawing/2014/main" id="{A3FFB843-68B2-7950-FB65-61F70D5DEC44}"/>
              </a:ext>
            </a:extLst>
          </p:cNvPr>
          <p:cNvPicPr>
            <a:picLocks noChangeAspect="1"/>
          </p:cNvPicPr>
          <p:nvPr/>
        </p:nvPicPr>
        <p:blipFill rotWithShape="1">
          <a:blip r:embed="rId5"/>
          <a:srcRect b="14410"/>
          <a:stretch/>
        </p:blipFill>
        <p:spPr>
          <a:xfrm>
            <a:off x="4111093" y="2651931"/>
            <a:ext cx="1409700" cy="293488"/>
          </a:xfrm>
          <a:prstGeom prst="rect">
            <a:avLst/>
          </a:prstGeom>
        </p:spPr>
      </p:pic>
      <p:sp>
        <p:nvSpPr>
          <p:cNvPr id="8" name="TextBox 7">
            <a:extLst>
              <a:ext uri="{FF2B5EF4-FFF2-40B4-BE49-F238E27FC236}">
                <a16:creationId xmlns:a16="http://schemas.microsoft.com/office/drawing/2014/main" id="{FB0B7E58-927F-4B7E-1DED-D348F05CCF15}"/>
              </a:ext>
            </a:extLst>
          </p:cNvPr>
          <p:cNvSpPr txBox="1"/>
          <p:nvPr/>
        </p:nvSpPr>
        <p:spPr>
          <a:xfrm>
            <a:off x="1985478" y="4499978"/>
            <a:ext cx="5910592" cy="307777"/>
          </a:xfrm>
          <a:prstGeom prst="rect">
            <a:avLst/>
          </a:prstGeom>
          <a:noFill/>
        </p:spPr>
        <p:txBody>
          <a:bodyPr wrap="none" rtlCol="0">
            <a:spAutoFit/>
          </a:bodyPr>
          <a:lstStyle/>
          <a:p>
            <a:r>
              <a:rPr lang="en-US" dirty="0">
                <a:latin typeface="Palatino" pitchFamily="2" charset="77"/>
                <a:ea typeface="Palatino" pitchFamily="2" charset="77"/>
              </a:rPr>
              <a:t>*see paper for a formal model of engaged reformer and trade facilitation</a:t>
            </a:r>
          </a:p>
        </p:txBody>
      </p:sp>
    </p:spTree>
    <p:extLst>
      <p:ext uri="{BB962C8B-B14F-4D97-AF65-F5344CB8AC3E}">
        <p14:creationId xmlns:p14="http://schemas.microsoft.com/office/powerpoint/2010/main" val="3481200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4"/>
        <p:cNvGrpSpPr/>
        <p:nvPr/>
      </p:nvGrpSpPr>
      <p:grpSpPr>
        <a:xfrm>
          <a:off x="0" y="0"/>
          <a:ext cx="0" cy="0"/>
          <a:chOff x="0" y="0"/>
          <a:chExt cx="0" cy="0"/>
        </a:xfrm>
      </p:grpSpPr>
      <p:sp>
        <p:nvSpPr>
          <p:cNvPr id="135" name="Google Shape;135;p21"/>
          <p:cNvSpPr/>
          <p:nvPr/>
        </p:nvSpPr>
        <p:spPr>
          <a:xfrm>
            <a:off x="0" y="4951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136" name="Google Shape;136;p21"/>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Zoom-out: Globalization (</a:t>
            </a:r>
            <a:r>
              <a:rPr lang="en-US" sz="2400" b="1" i="1" dirty="0">
                <a:solidFill>
                  <a:schemeClr val="lt1"/>
                </a:solidFill>
                <a:latin typeface="Palatino" pitchFamily="2" charset="77"/>
                <a:ea typeface="Palatino" pitchFamily="2" charset="77"/>
              </a:rPr>
              <a:t>vs. </a:t>
            </a:r>
            <a:r>
              <a:rPr lang="en-US" sz="2200" b="1" dirty="0">
                <a:solidFill>
                  <a:schemeClr val="lt1"/>
                </a:solidFill>
                <a:latin typeface="Palatino" pitchFamily="2" charset="77"/>
                <a:ea typeface="Palatino" pitchFamily="2" charset="77"/>
              </a:rPr>
              <a:t>Pre-1990</a:t>
            </a:r>
            <a:r>
              <a:rPr lang="en-US" sz="2200" b="1" dirty="0">
                <a:solidFill>
                  <a:schemeClr val="bg1"/>
                </a:solidFill>
                <a:latin typeface="Palatino" pitchFamily="2" charset="77"/>
                <a:ea typeface="Palatino" pitchFamily="2" charset="77"/>
                <a:cs typeface="Arial" panose="020B0604020202020204" pitchFamily="34" charset="0"/>
              </a:rPr>
              <a:t>)</a:t>
            </a:r>
            <a:endParaRPr sz="2200" b="1" i="0" u="none" strike="noStrike" cap="none" dirty="0">
              <a:solidFill>
                <a:schemeClr val="lt1"/>
              </a:solidFill>
              <a:latin typeface="Palatino" pitchFamily="2" charset="77"/>
              <a:ea typeface="Palatino" pitchFamily="2" charset="77"/>
              <a:cs typeface="Arial" panose="020B0604020202020204" pitchFamily="34" charset="0"/>
            </a:endParaRPr>
          </a:p>
        </p:txBody>
      </p:sp>
      <p:sp>
        <p:nvSpPr>
          <p:cNvPr id="137" name="Google Shape;137;p21"/>
          <p:cNvSpPr txBox="1"/>
          <p:nvPr/>
        </p:nvSpPr>
        <p:spPr>
          <a:xfrm>
            <a:off x="443898" y="1507213"/>
            <a:ext cx="8408100" cy="3418200"/>
          </a:xfrm>
          <a:prstGeom prst="rect">
            <a:avLst/>
          </a:prstGeom>
          <a:noFill/>
          <a:ln>
            <a:noFill/>
          </a:ln>
        </p:spPr>
        <p:txBody>
          <a:bodyPr spcFirstLastPara="1" wrap="square" lIns="91425" tIns="91425" rIns="91425" bIns="91425" anchor="t" anchorCtr="0">
            <a:noAutofit/>
          </a:bodyPr>
          <a:lstStyle/>
          <a:p>
            <a:pPr marL="457200" lvl="0" indent="-336550">
              <a:lnSpc>
                <a:spcPct val="115000"/>
              </a:lnSpc>
              <a:buClr>
                <a:schemeClr val="dk1"/>
              </a:buClr>
              <a:buSzPts val="1700"/>
              <a:buChar char="●"/>
            </a:pPr>
            <a:r>
              <a:rPr lang="en-US" sz="1600" b="1" dirty="0">
                <a:latin typeface="Palatino" pitchFamily="2" charset="77"/>
                <a:ea typeface="Palatino" pitchFamily="2" charset="77"/>
              </a:rPr>
              <a:t>Development logic</a:t>
            </a:r>
            <a:r>
              <a:rPr lang="en-US" sz="1600" dirty="0">
                <a:latin typeface="Palatino" pitchFamily="2" charset="77"/>
                <a:ea typeface="Palatino" pitchFamily="2" charset="77"/>
              </a:rPr>
              <a:t>: </a:t>
            </a:r>
            <a:r>
              <a:rPr lang="en-US" dirty="0">
                <a:latin typeface="Palatino" pitchFamily="2" charset="77"/>
                <a:ea typeface="Palatino" pitchFamily="2" charset="77"/>
              </a:rPr>
              <a:t>shifts outward for market, capital, technology, policy and information</a:t>
            </a:r>
          </a:p>
          <a:p>
            <a:pPr marL="120650" lvl="1">
              <a:lnSpc>
                <a:spcPct val="115000"/>
              </a:lnSpc>
              <a:buClr>
                <a:schemeClr val="dk1"/>
              </a:buClr>
              <a:buSzPts val="1700"/>
            </a:pPr>
            <a:r>
              <a:rPr lang="en-US" sz="1200" dirty="0">
                <a:solidFill>
                  <a:schemeClr val="bg2">
                    <a:lumMod val="60000"/>
                    <a:lumOff val="40000"/>
                  </a:schemeClr>
                </a:solidFill>
                <a:latin typeface="Palatino" pitchFamily="2" charset="77"/>
                <a:ea typeface="Palatino" pitchFamily="2" charset="77"/>
              </a:rPr>
              <a:t>        </a:t>
            </a:r>
            <a:r>
              <a:rPr lang="en-US" sz="1000" dirty="0">
                <a:solidFill>
                  <a:schemeClr val="bg2">
                    <a:lumMod val="60000"/>
                    <a:lumOff val="40000"/>
                  </a:schemeClr>
                </a:solidFill>
                <a:latin typeface="Palatino" pitchFamily="2" charset="77"/>
                <a:ea typeface="Palatino" pitchFamily="2" charset="77"/>
              </a:rPr>
              <a:t>(H-O/R-V; Krugman 1979; Grossman and </a:t>
            </a:r>
            <a:r>
              <a:rPr lang="en-US" sz="1000" dirty="0" err="1">
                <a:solidFill>
                  <a:schemeClr val="bg2">
                    <a:lumMod val="60000"/>
                    <a:lumOff val="40000"/>
                  </a:schemeClr>
                </a:solidFill>
                <a:latin typeface="Palatino" pitchFamily="2" charset="77"/>
                <a:ea typeface="Palatino" pitchFamily="2" charset="77"/>
              </a:rPr>
              <a:t>Helpman</a:t>
            </a:r>
            <a:r>
              <a:rPr lang="en-US" sz="1000" dirty="0">
                <a:solidFill>
                  <a:schemeClr val="bg2">
                    <a:lumMod val="60000"/>
                    <a:lumOff val="40000"/>
                  </a:schemeClr>
                </a:solidFill>
                <a:latin typeface="Palatino" pitchFamily="2" charset="77"/>
                <a:ea typeface="Palatino" pitchFamily="2" charset="77"/>
              </a:rPr>
              <a:t> 1991; Melitz 2003; </a:t>
            </a:r>
            <a:r>
              <a:rPr lang="en-US" sz="1000" dirty="0" err="1">
                <a:solidFill>
                  <a:schemeClr val="bg2">
                    <a:lumMod val="60000"/>
                    <a:lumOff val="40000"/>
                  </a:schemeClr>
                </a:solidFill>
                <a:latin typeface="Palatino" pitchFamily="2" charset="77"/>
                <a:ea typeface="Palatino" pitchFamily="2" charset="77"/>
              </a:rPr>
              <a:t>Antras</a:t>
            </a:r>
            <a:r>
              <a:rPr lang="en-US" sz="1000" dirty="0">
                <a:solidFill>
                  <a:schemeClr val="bg2">
                    <a:lumMod val="60000"/>
                    <a:lumOff val="40000"/>
                  </a:schemeClr>
                </a:solidFill>
                <a:latin typeface="Palatino" pitchFamily="2" charset="77"/>
                <a:ea typeface="Palatino" pitchFamily="2" charset="77"/>
              </a:rPr>
              <a:t> 2015; </a:t>
            </a:r>
            <a:r>
              <a:rPr lang="en-US" sz="1000" dirty="0" err="1">
                <a:solidFill>
                  <a:schemeClr val="bg2">
                    <a:lumMod val="60000"/>
                    <a:lumOff val="40000"/>
                  </a:schemeClr>
                </a:solidFill>
                <a:latin typeface="Palatino" pitchFamily="2" charset="77"/>
                <a:ea typeface="Palatino" pitchFamily="2" charset="77"/>
              </a:rPr>
              <a:t>Atkeson</a:t>
            </a:r>
            <a:r>
              <a:rPr lang="en-US" sz="1000" dirty="0">
                <a:solidFill>
                  <a:schemeClr val="bg2">
                    <a:lumMod val="60000"/>
                    <a:lumOff val="40000"/>
                  </a:schemeClr>
                </a:solidFill>
                <a:latin typeface="Palatino" pitchFamily="2" charset="77"/>
                <a:ea typeface="Palatino" pitchFamily="2" charset="77"/>
              </a:rPr>
              <a:t> &amp; Burstein 2010; Burstein &amp; Melitz 2013) </a:t>
            </a:r>
            <a:endParaRPr lang="en-US" sz="1000" dirty="0">
              <a:solidFill>
                <a:schemeClr val="bg2">
                  <a:lumMod val="60000"/>
                  <a:lumOff val="40000"/>
                </a:schemeClr>
              </a:solidFill>
              <a:latin typeface="Palatino" pitchFamily="2" charset="77"/>
              <a:ea typeface="Palatino" pitchFamily="2" charset="77"/>
              <a:sym typeface="Wingdings" pitchFamily="2" charset="2"/>
            </a:endParaRPr>
          </a:p>
          <a:p>
            <a:pPr marL="120650" lvl="1">
              <a:lnSpc>
                <a:spcPct val="115000"/>
              </a:lnSpc>
              <a:spcBef>
                <a:spcPts val="600"/>
              </a:spcBef>
              <a:buClr>
                <a:schemeClr val="dk1"/>
              </a:buClr>
              <a:buSzPts val="1700"/>
            </a:pPr>
            <a:r>
              <a:rPr lang="en-US" dirty="0">
                <a:latin typeface="Palatino" pitchFamily="2" charset="77"/>
                <a:ea typeface="Palatino" pitchFamily="2" charset="77"/>
              </a:rPr>
              <a:t>                       Abandon old game (e.g., ISI); adopt certain level of ”Washington Consensus” </a:t>
            </a:r>
            <a:r>
              <a:rPr lang="en-US" dirty="0">
                <a:latin typeface="Palatino" pitchFamily="2" charset="77"/>
                <a:ea typeface="Palatino" pitchFamily="2" charset="77"/>
                <a:sym typeface="Wingdings" pitchFamily="2" charset="2"/>
              </a:rPr>
              <a:t>on improving exports</a:t>
            </a:r>
            <a:endParaRPr lang="en-US" dirty="0">
              <a:latin typeface="Palatino" pitchFamily="2" charset="77"/>
              <a:ea typeface="Palatino" pitchFamily="2" charset="77"/>
            </a:endParaRPr>
          </a:p>
          <a:p>
            <a:pPr marL="120650" lvl="1">
              <a:lnSpc>
                <a:spcPct val="115000"/>
              </a:lnSpc>
              <a:buClr>
                <a:schemeClr val="dk1"/>
              </a:buClr>
              <a:buSzPts val="1700"/>
            </a:pPr>
            <a:endParaRPr lang="en-US" dirty="0">
              <a:latin typeface="Palatino" pitchFamily="2" charset="77"/>
              <a:ea typeface="Palatino" pitchFamily="2" charset="77"/>
            </a:endParaRPr>
          </a:p>
          <a:p>
            <a:pPr marL="457200" indent="-336550">
              <a:lnSpc>
                <a:spcPct val="115000"/>
              </a:lnSpc>
              <a:spcBef>
                <a:spcPts val="1200"/>
              </a:spcBef>
              <a:buClr>
                <a:schemeClr val="dk1"/>
              </a:buClr>
              <a:buSzPts val="1700"/>
              <a:buFont typeface="Arial"/>
              <a:buChar char="●"/>
            </a:pPr>
            <a:r>
              <a:rPr lang="en-US" sz="1600" b="1" dirty="0">
                <a:latin typeface="Palatino" pitchFamily="2" charset="77"/>
                <a:ea typeface="Palatino" pitchFamily="2" charset="77"/>
              </a:rPr>
              <a:t>Demand competition</a:t>
            </a:r>
            <a:r>
              <a:rPr lang="en-US" sz="1600" dirty="0">
                <a:latin typeface="Palatino" pitchFamily="2" charset="77"/>
                <a:ea typeface="Palatino" pitchFamily="2" charset="77"/>
              </a:rPr>
              <a:t>: </a:t>
            </a:r>
            <a:r>
              <a:rPr lang="en-US" dirty="0">
                <a:latin typeface="Palatino" pitchFamily="2" charset="77"/>
                <a:ea typeface="Palatino" pitchFamily="2" charset="77"/>
              </a:rPr>
              <a:t>creates ample space for self-interested intervention </a:t>
            </a:r>
            <a:endParaRPr lang="en-US" sz="1600" dirty="0">
              <a:latin typeface="Palatino" pitchFamily="2" charset="77"/>
              <a:ea typeface="Palatino" pitchFamily="2" charset="77"/>
            </a:endParaRPr>
          </a:p>
          <a:p>
            <a:pPr marL="120650">
              <a:lnSpc>
                <a:spcPct val="115000"/>
              </a:lnSpc>
              <a:buClr>
                <a:schemeClr val="dk1"/>
              </a:buClr>
              <a:buSzPts val="1700"/>
            </a:pPr>
            <a:r>
              <a:rPr lang="en-US" sz="1600" dirty="0">
                <a:solidFill>
                  <a:schemeClr val="bg2">
                    <a:lumMod val="60000"/>
                    <a:lumOff val="40000"/>
                  </a:schemeClr>
                </a:solidFill>
                <a:latin typeface="Palatino" pitchFamily="2" charset="77"/>
                <a:ea typeface="Palatino" pitchFamily="2" charset="77"/>
              </a:rPr>
              <a:t>      </a:t>
            </a:r>
            <a:r>
              <a:rPr lang="en-US" sz="1000" dirty="0">
                <a:solidFill>
                  <a:schemeClr val="bg2">
                    <a:lumMod val="60000"/>
                    <a:lumOff val="40000"/>
                  </a:schemeClr>
                </a:solidFill>
                <a:latin typeface="Palatino" pitchFamily="2" charset="77"/>
                <a:ea typeface="Palatino" pitchFamily="2" charset="77"/>
              </a:rPr>
              <a:t>(Garret 2000;  “cost advantage” see Eaton &amp; </a:t>
            </a:r>
            <a:r>
              <a:rPr lang="en-US" sz="1000" dirty="0" err="1">
                <a:solidFill>
                  <a:schemeClr val="bg2">
                    <a:lumMod val="60000"/>
                    <a:lumOff val="40000"/>
                  </a:schemeClr>
                </a:solidFill>
                <a:latin typeface="Palatino" pitchFamily="2" charset="77"/>
                <a:ea typeface="Palatino" pitchFamily="2" charset="77"/>
              </a:rPr>
              <a:t>Kortum</a:t>
            </a:r>
            <a:r>
              <a:rPr lang="en-US" sz="1000" dirty="0">
                <a:solidFill>
                  <a:schemeClr val="bg2">
                    <a:lumMod val="60000"/>
                    <a:lumOff val="40000"/>
                  </a:schemeClr>
                </a:solidFill>
                <a:latin typeface="Palatino" pitchFamily="2" charset="77"/>
                <a:ea typeface="Palatino" pitchFamily="2" charset="77"/>
              </a:rPr>
              <a:t> 2002; </a:t>
            </a:r>
            <a:r>
              <a:rPr lang="en-US" sz="1000" dirty="0" err="1">
                <a:solidFill>
                  <a:schemeClr val="bg2">
                    <a:lumMod val="60000"/>
                    <a:lumOff val="40000"/>
                  </a:schemeClr>
                </a:solidFill>
                <a:latin typeface="Palatino" pitchFamily="2" charset="77"/>
                <a:ea typeface="Palatino" pitchFamily="2" charset="77"/>
              </a:rPr>
              <a:t>Arkolakis</a:t>
            </a:r>
            <a:r>
              <a:rPr lang="en-US" sz="1000" dirty="0">
                <a:solidFill>
                  <a:schemeClr val="bg2">
                    <a:lumMod val="60000"/>
                    <a:lumOff val="40000"/>
                  </a:schemeClr>
                </a:solidFill>
                <a:latin typeface="Palatino" pitchFamily="2" charset="77"/>
                <a:ea typeface="Palatino" pitchFamily="2" charset="77"/>
              </a:rPr>
              <a:t> et al. 2018; Melitz 2003; </a:t>
            </a:r>
            <a:r>
              <a:rPr lang="en-US" sz="1000" dirty="0" err="1">
                <a:solidFill>
                  <a:schemeClr val="bg2">
                    <a:lumMod val="60000"/>
                    <a:lumOff val="40000"/>
                  </a:schemeClr>
                </a:solidFill>
                <a:latin typeface="Palatino" pitchFamily="2" charset="77"/>
                <a:ea typeface="Palatino" pitchFamily="2" charset="77"/>
              </a:rPr>
              <a:t>Costinot</a:t>
            </a:r>
            <a:r>
              <a:rPr lang="en-US" sz="1000" dirty="0">
                <a:solidFill>
                  <a:schemeClr val="bg2">
                    <a:lumMod val="60000"/>
                    <a:lumOff val="40000"/>
                  </a:schemeClr>
                </a:solidFill>
                <a:latin typeface="Palatino" pitchFamily="2" charset="77"/>
                <a:ea typeface="Palatino" pitchFamily="2" charset="77"/>
              </a:rPr>
              <a:t> et al. 2013; </a:t>
            </a:r>
            <a:r>
              <a:rPr lang="en-US" sz="1000" dirty="0" err="1">
                <a:solidFill>
                  <a:schemeClr val="bg2">
                    <a:lumMod val="60000"/>
                    <a:lumOff val="40000"/>
                  </a:schemeClr>
                </a:solidFill>
                <a:latin typeface="Palatino" pitchFamily="2" charset="77"/>
                <a:ea typeface="Palatino" pitchFamily="2" charset="77"/>
              </a:rPr>
              <a:t>Epifani</a:t>
            </a:r>
            <a:r>
              <a:rPr lang="en-US" sz="1000" dirty="0">
                <a:solidFill>
                  <a:schemeClr val="bg2">
                    <a:lumMod val="60000"/>
                    <a:lumOff val="40000"/>
                  </a:schemeClr>
                </a:solidFill>
                <a:latin typeface="Palatino" pitchFamily="2" charset="77"/>
                <a:ea typeface="Palatino" pitchFamily="2" charset="77"/>
              </a:rPr>
              <a:t> &amp; </a:t>
            </a:r>
            <a:r>
              <a:rPr lang="en-US" sz="1000" dirty="0" err="1">
                <a:solidFill>
                  <a:schemeClr val="bg2">
                    <a:lumMod val="60000"/>
                    <a:lumOff val="40000"/>
                  </a:schemeClr>
                </a:solidFill>
                <a:latin typeface="Palatino" pitchFamily="2" charset="77"/>
                <a:ea typeface="Palatino" pitchFamily="2" charset="77"/>
              </a:rPr>
              <a:t>Gancia</a:t>
            </a:r>
            <a:r>
              <a:rPr lang="en-US" sz="1000" dirty="0">
                <a:solidFill>
                  <a:schemeClr val="bg2">
                    <a:lumMod val="60000"/>
                    <a:lumOff val="40000"/>
                  </a:schemeClr>
                </a:solidFill>
                <a:latin typeface="Palatino" pitchFamily="2" charset="77"/>
                <a:ea typeface="Palatino" pitchFamily="2" charset="77"/>
              </a:rPr>
              <a:t> 2017) </a:t>
            </a:r>
          </a:p>
          <a:p>
            <a:pPr marL="120650">
              <a:lnSpc>
                <a:spcPct val="115000"/>
              </a:lnSpc>
              <a:spcBef>
                <a:spcPts val="600"/>
              </a:spcBef>
              <a:buClr>
                <a:schemeClr val="dk1"/>
              </a:buClr>
              <a:buSzPts val="1700"/>
            </a:pPr>
            <a:r>
              <a:rPr lang="en-US" dirty="0">
                <a:latin typeface="Palatino" pitchFamily="2" charset="77"/>
                <a:ea typeface="Palatino" pitchFamily="2" charset="77"/>
              </a:rPr>
              <a:t>                       Externalize domestic distortion: e.g., beggar-thy-neighbor</a:t>
            </a:r>
          </a:p>
          <a:p>
            <a:pPr marL="120650">
              <a:lnSpc>
                <a:spcPct val="115000"/>
              </a:lnSpc>
              <a:buClr>
                <a:schemeClr val="dk1"/>
              </a:buClr>
              <a:buSzPts val="1700"/>
            </a:pPr>
            <a:endParaRPr lang="en-US" dirty="0">
              <a:latin typeface="Palatino" pitchFamily="2" charset="77"/>
              <a:ea typeface="Palatino" pitchFamily="2" charset="77"/>
            </a:endParaRPr>
          </a:p>
          <a:p>
            <a:pPr marL="457200" lvl="0" indent="-336550" algn="l" rtl="0">
              <a:lnSpc>
                <a:spcPct val="115000"/>
              </a:lnSpc>
              <a:spcBef>
                <a:spcPts val="1200"/>
              </a:spcBef>
              <a:spcAft>
                <a:spcPts val="0"/>
              </a:spcAft>
              <a:buClr>
                <a:schemeClr val="dk1"/>
              </a:buClr>
              <a:buSzPts val="1700"/>
              <a:buChar char="●"/>
            </a:pPr>
            <a:r>
              <a:rPr lang="en-US" sz="1600" b="1" dirty="0">
                <a:latin typeface="Palatino" pitchFamily="2" charset="77"/>
                <a:ea typeface="Palatino" pitchFamily="2" charset="77"/>
              </a:rPr>
              <a:t>Meet scope condition</a:t>
            </a:r>
            <a:r>
              <a:rPr lang="en-US" sz="1600" dirty="0">
                <a:latin typeface="Palatino" pitchFamily="2" charset="77"/>
                <a:ea typeface="Palatino" pitchFamily="2" charset="77"/>
              </a:rPr>
              <a:t>: </a:t>
            </a:r>
            <a:r>
              <a:rPr lang="en-US" dirty="0">
                <a:latin typeface="Palatino" pitchFamily="2" charset="77"/>
                <a:ea typeface="Palatino" pitchFamily="2" charset="77"/>
              </a:rPr>
              <a:t>for many</a:t>
            </a:r>
            <a:endParaRPr lang="en-US" sz="1600" dirty="0">
              <a:latin typeface="Palatino" pitchFamily="2" charset="77"/>
              <a:ea typeface="Palatino" pitchFamily="2" charset="77"/>
            </a:endParaRPr>
          </a:p>
        </p:txBody>
      </p:sp>
      <p:cxnSp>
        <p:nvCxnSpPr>
          <p:cNvPr id="2" name="Curved Connector 1">
            <a:extLst>
              <a:ext uri="{FF2B5EF4-FFF2-40B4-BE49-F238E27FC236}">
                <a16:creationId xmlns:a16="http://schemas.microsoft.com/office/drawing/2014/main" id="{54E190ED-F30B-0E87-7C90-C6C877B7D7B0}"/>
              </a:ext>
            </a:extLst>
          </p:cNvPr>
          <p:cNvCxnSpPr>
            <a:cxnSpLocks/>
          </p:cNvCxnSpPr>
          <p:nvPr/>
        </p:nvCxnSpPr>
        <p:spPr>
          <a:xfrm>
            <a:off x="1331976" y="2147293"/>
            <a:ext cx="317341" cy="154775"/>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 name="Curved Connector 2">
            <a:extLst>
              <a:ext uri="{FF2B5EF4-FFF2-40B4-BE49-F238E27FC236}">
                <a16:creationId xmlns:a16="http://schemas.microsoft.com/office/drawing/2014/main" id="{76B7775A-D3BD-111B-D0C9-D6706EB585DC}"/>
              </a:ext>
            </a:extLst>
          </p:cNvPr>
          <p:cNvCxnSpPr>
            <a:cxnSpLocks/>
          </p:cNvCxnSpPr>
          <p:nvPr/>
        </p:nvCxnSpPr>
        <p:spPr>
          <a:xfrm>
            <a:off x="1331976" y="3640731"/>
            <a:ext cx="317341" cy="154775"/>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7">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0"/>
        <p:cNvGrpSpPr/>
        <p:nvPr/>
      </p:nvGrpSpPr>
      <p:grpSpPr>
        <a:xfrm>
          <a:off x="0" y="0"/>
          <a:ext cx="0" cy="0"/>
          <a:chOff x="0" y="0"/>
          <a:chExt cx="0" cy="0"/>
        </a:xfrm>
      </p:grpSpPr>
      <p:sp>
        <p:nvSpPr>
          <p:cNvPr id="171" name="Google Shape;171;p26"/>
          <p:cNvSpPr/>
          <p:nvPr/>
        </p:nvSpPr>
        <p:spPr>
          <a:xfrm>
            <a:off x="0" y="1714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2" name="Google Shape;172;p26"/>
          <p:cNvSpPr txBox="1"/>
          <p:nvPr/>
        </p:nvSpPr>
        <p:spPr>
          <a:xfrm>
            <a:off x="367952" y="168283"/>
            <a:ext cx="8408100" cy="5586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Trade Integration</a:t>
            </a:r>
            <a:endParaRPr sz="1600" b="1" i="0" u="none" strike="noStrike" cap="none" dirty="0">
              <a:solidFill>
                <a:schemeClr val="lt1"/>
              </a:solidFill>
              <a:latin typeface="Palatino" pitchFamily="2" charset="77"/>
              <a:ea typeface="Palatino" pitchFamily="2" charset="77"/>
              <a:sym typeface="Arial"/>
            </a:endParaRPr>
          </a:p>
        </p:txBody>
      </p:sp>
      <p:pic>
        <p:nvPicPr>
          <p:cNvPr id="173" name="Google Shape;173;p26"/>
          <p:cNvPicPr preferRelativeResize="0"/>
          <p:nvPr/>
        </p:nvPicPr>
        <p:blipFill>
          <a:blip r:embed="rId3">
            <a:alphaModFix/>
          </a:blip>
          <a:stretch>
            <a:fillRect/>
          </a:stretch>
        </p:blipFill>
        <p:spPr>
          <a:xfrm>
            <a:off x="152400" y="851807"/>
            <a:ext cx="4694729" cy="4120279"/>
          </a:xfrm>
          <a:prstGeom prst="rect">
            <a:avLst/>
          </a:prstGeom>
          <a:noFill/>
          <a:ln>
            <a:noFill/>
          </a:ln>
        </p:spPr>
      </p:pic>
      <p:sp>
        <p:nvSpPr>
          <p:cNvPr id="2" name="TextBox 1">
            <a:extLst>
              <a:ext uri="{FF2B5EF4-FFF2-40B4-BE49-F238E27FC236}">
                <a16:creationId xmlns:a16="http://schemas.microsoft.com/office/drawing/2014/main" id="{D740FD40-961A-2A65-E551-359F50982F3A}"/>
              </a:ext>
            </a:extLst>
          </p:cNvPr>
          <p:cNvSpPr txBox="1"/>
          <p:nvPr/>
        </p:nvSpPr>
        <p:spPr>
          <a:xfrm>
            <a:off x="5038344" y="1645920"/>
            <a:ext cx="4105656" cy="1700466"/>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Palatino" pitchFamily="2" charset="77"/>
                <a:ea typeface="Palatino" pitchFamily="2" charset="77"/>
                <a:cs typeface="Calibri" panose="020F0502020204030204" pitchFamily="34" charset="0"/>
              </a:rPr>
              <a:t>WTO – “the most heralded commercial agreement in history” </a:t>
            </a:r>
            <a:r>
              <a:rPr lang="en-US" sz="1050" dirty="0">
                <a:solidFill>
                  <a:schemeClr val="tx2">
                    <a:lumMod val="75000"/>
                  </a:schemeClr>
                </a:solidFill>
                <a:latin typeface="Palatino" pitchFamily="2" charset="77"/>
                <a:ea typeface="Palatino" pitchFamily="2" charset="77"/>
                <a:cs typeface="Calibri" panose="020F0502020204030204" pitchFamily="34" charset="0"/>
              </a:rPr>
              <a:t>(Bagwell and </a:t>
            </a:r>
            <a:r>
              <a:rPr lang="en-US" sz="1050" dirty="0" err="1">
                <a:solidFill>
                  <a:schemeClr val="tx2">
                    <a:lumMod val="75000"/>
                  </a:schemeClr>
                </a:solidFill>
                <a:latin typeface="Palatino" pitchFamily="2" charset="77"/>
                <a:ea typeface="Palatino" pitchFamily="2" charset="77"/>
                <a:cs typeface="Calibri" panose="020F0502020204030204" pitchFamily="34" charset="0"/>
              </a:rPr>
              <a:t>Staiger</a:t>
            </a:r>
            <a:r>
              <a:rPr lang="en-US" sz="1050" dirty="0">
                <a:solidFill>
                  <a:schemeClr val="tx2">
                    <a:lumMod val="75000"/>
                  </a:schemeClr>
                </a:solidFill>
                <a:latin typeface="Palatino" pitchFamily="2" charset="77"/>
                <a:ea typeface="Palatino" pitchFamily="2" charset="77"/>
                <a:cs typeface="Calibri" panose="020F0502020204030204" pitchFamily="34" charset="0"/>
              </a:rPr>
              <a:t> 2002; Goldstein et al. 2007)</a:t>
            </a:r>
          </a:p>
          <a:p>
            <a:pPr marL="285750" indent="-285750">
              <a:spcBef>
                <a:spcPts val="600"/>
              </a:spcBef>
              <a:buFont typeface="Arial" panose="020B0604020202020204" pitchFamily="34" charset="0"/>
              <a:buChar char="•"/>
            </a:pPr>
            <a:r>
              <a:rPr lang="en-US" dirty="0">
                <a:solidFill>
                  <a:schemeClr val="tx1"/>
                </a:solidFill>
                <a:latin typeface="Palatino" pitchFamily="2" charset="77"/>
                <a:ea typeface="Palatino" pitchFamily="2" charset="77"/>
                <a:cs typeface="Calibri" panose="020F0502020204030204" pitchFamily="34" charset="0"/>
              </a:rPr>
              <a:t>Other: MFN/PTA, RTA</a:t>
            </a:r>
          </a:p>
          <a:p>
            <a:pPr marL="285750" indent="-285750">
              <a:spcBef>
                <a:spcPts val="600"/>
              </a:spcBef>
              <a:buFont typeface="Arial" panose="020B0604020202020204" pitchFamily="34" charset="0"/>
              <a:buChar char="•"/>
            </a:pPr>
            <a:r>
              <a:rPr lang="en-US" dirty="0">
                <a:solidFill>
                  <a:schemeClr val="tx1"/>
                </a:solidFill>
                <a:latin typeface="Palatino" pitchFamily="2" charset="77"/>
                <a:ea typeface="Palatino" pitchFamily="2" charset="77"/>
                <a:cs typeface="Calibri" panose="020F0502020204030204" pitchFamily="34" charset="0"/>
              </a:rPr>
              <a:t>“by 2000, most post-communist countries reoriented trade to Western markets for growth” </a:t>
            </a:r>
            <a:r>
              <a:rPr lang="en-US" sz="1050" dirty="0">
                <a:solidFill>
                  <a:schemeClr val="tx2">
                    <a:lumMod val="75000"/>
                  </a:schemeClr>
                </a:solidFill>
                <a:latin typeface="Palatino" pitchFamily="2" charset="77"/>
                <a:ea typeface="Palatino" pitchFamily="2" charset="77"/>
                <a:cs typeface="Calibri" panose="020F0502020204030204" pitchFamily="34" charset="0"/>
              </a:rPr>
              <a:t>(</a:t>
            </a:r>
            <a:r>
              <a:rPr lang="en-US" sz="1050" dirty="0" err="1">
                <a:solidFill>
                  <a:schemeClr val="tx2">
                    <a:lumMod val="75000"/>
                  </a:schemeClr>
                </a:solidFill>
                <a:latin typeface="Palatino" pitchFamily="2" charset="77"/>
                <a:ea typeface="Palatino" pitchFamily="2" charset="77"/>
                <a:cs typeface="Calibri" panose="020F0502020204030204" pitchFamily="34" charset="0"/>
              </a:rPr>
              <a:t>Aslund</a:t>
            </a:r>
            <a:r>
              <a:rPr lang="en-US" sz="1050" dirty="0">
                <a:solidFill>
                  <a:schemeClr val="tx2">
                    <a:lumMod val="75000"/>
                  </a:schemeClr>
                </a:solidFill>
                <a:latin typeface="Palatino" pitchFamily="2" charset="77"/>
                <a:ea typeface="Palatino" pitchFamily="2" charset="77"/>
                <a:cs typeface="Calibri" panose="020F0502020204030204" pitchFamily="34" charset="0"/>
              </a:rPr>
              <a:t> 2012)</a:t>
            </a:r>
            <a:endParaRPr lang="en-US" dirty="0">
              <a:solidFill>
                <a:schemeClr val="tx2">
                  <a:lumMod val="75000"/>
                </a:schemeClr>
              </a:solidFill>
              <a:latin typeface="Palatino" pitchFamily="2" charset="77"/>
              <a:ea typeface="Palatino" pitchFamily="2" charset="77"/>
              <a:cs typeface="Calibri" panose="020F0502020204030204" pitchFamily="34" charset="0"/>
            </a:endParaRPr>
          </a:p>
        </p:txBody>
      </p:sp>
    </p:spTree>
    <p:extLst>
      <p:ext uri="{BB962C8B-B14F-4D97-AF65-F5344CB8AC3E}">
        <p14:creationId xmlns:p14="http://schemas.microsoft.com/office/powerpoint/2010/main" val="1775117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3"/>
        <p:cNvGrpSpPr/>
        <p:nvPr/>
      </p:nvGrpSpPr>
      <p:grpSpPr>
        <a:xfrm>
          <a:off x="0" y="0"/>
          <a:ext cx="0" cy="0"/>
          <a:chOff x="0" y="0"/>
          <a:chExt cx="0" cy="0"/>
        </a:xfrm>
      </p:grpSpPr>
      <p:sp>
        <p:nvSpPr>
          <p:cNvPr id="164" name="Google Shape;164;p25"/>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165" name="Google Shape;165;p25"/>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Institutional Reform</a:t>
            </a:r>
            <a:endParaRPr sz="2400" b="1" i="0" u="none" strike="noStrike" cap="none" dirty="0">
              <a:solidFill>
                <a:schemeClr val="lt1"/>
              </a:solidFill>
              <a:latin typeface="Palatino" pitchFamily="2" charset="77"/>
              <a:ea typeface="Palatino" pitchFamily="2" charset="77"/>
            </a:endParaRPr>
          </a:p>
        </p:txBody>
      </p:sp>
      <p:pic>
        <p:nvPicPr>
          <p:cNvPr id="166" name="Google Shape;166;p25"/>
          <p:cNvPicPr preferRelativeResize="0"/>
          <p:nvPr/>
        </p:nvPicPr>
        <p:blipFill>
          <a:blip r:embed="rId3">
            <a:alphaModFix/>
          </a:blip>
          <a:stretch>
            <a:fillRect/>
          </a:stretch>
        </p:blipFill>
        <p:spPr>
          <a:xfrm>
            <a:off x="0" y="1279300"/>
            <a:ext cx="6000251" cy="3467626"/>
          </a:xfrm>
          <a:prstGeom prst="rect">
            <a:avLst/>
          </a:prstGeom>
          <a:noFill/>
          <a:ln>
            <a:noFill/>
          </a:ln>
        </p:spPr>
      </p:pic>
      <p:sp>
        <p:nvSpPr>
          <p:cNvPr id="2" name="TextBox 1">
            <a:extLst>
              <a:ext uri="{FF2B5EF4-FFF2-40B4-BE49-F238E27FC236}">
                <a16:creationId xmlns:a16="http://schemas.microsoft.com/office/drawing/2014/main" id="{7DC83628-C791-4632-EF68-58FF7EE0BD26}"/>
              </a:ext>
            </a:extLst>
          </p:cNvPr>
          <p:cNvSpPr txBox="1"/>
          <p:nvPr/>
        </p:nvSpPr>
        <p:spPr>
          <a:xfrm>
            <a:off x="6000251" y="1984248"/>
            <a:ext cx="3015733" cy="984885"/>
          </a:xfrm>
          <a:prstGeom prst="rect">
            <a:avLst/>
          </a:prstGeom>
          <a:noFill/>
        </p:spPr>
        <p:txBody>
          <a:bodyPr wrap="square" rtlCol="0">
            <a:spAutoFit/>
          </a:bodyPr>
          <a:lstStyle/>
          <a:p>
            <a:pPr marL="285750" indent="-285750">
              <a:buFont typeface="Arial" panose="020B0604020202020204" pitchFamily="34" charset="0"/>
              <a:buChar char="•"/>
            </a:pPr>
            <a:r>
              <a:rPr lang="en-US" sz="1200" dirty="0">
                <a:latin typeface="Palatino" pitchFamily="2" charset="77"/>
                <a:ea typeface="Palatino" pitchFamily="2" charset="77"/>
                <a:cs typeface="Calibri" panose="020F0502020204030204" pitchFamily="34" charset="0"/>
              </a:rPr>
              <a:t>Both autocracies and democracies</a:t>
            </a:r>
          </a:p>
          <a:p>
            <a:pPr marL="285750" indent="-285750">
              <a:spcBef>
                <a:spcPts val="600"/>
              </a:spcBef>
              <a:buFont typeface="Arial" panose="020B0604020202020204" pitchFamily="34" charset="0"/>
              <a:buChar char="•"/>
            </a:pPr>
            <a:r>
              <a:rPr lang="en-US" sz="1200" dirty="0">
                <a:latin typeface="Palatino" pitchFamily="2" charset="77"/>
                <a:ea typeface="Palatino" pitchFamily="2" charset="77"/>
                <a:cs typeface="Calibri" panose="020F0502020204030204" pitchFamily="34" charset="0"/>
              </a:rPr>
              <a:t>Market</a:t>
            </a:r>
            <a:r>
              <a:rPr lang="en-US" altLang="zh-CN" sz="1200" dirty="0">
                <a:latin typeface="Palatino" pitchFamily="2" charset="77"/>
                <a:ea typeface="Palatino" pitchFamily="2" charset="77"/>
                <a:cs typeface="Calibri" panose="020F0502020204030204" pitchFamily="34" charset="0"/>
              </a:rPr>
              <a:t>-oriented </a:t>
            </a:r>
            <a:r>
              <a:rPr lang="en-US" sz="1200" dirty="0">
                <a:latin typeface="Palatino" pitchFamily="2" charset="77"/>
                <a:ea typeface="Palatino" pitchFamily="2" charset="77"/>
                <a:cs typeface="Calibri" panose="020F0502020204030204" pitchFamily="34" charset="0"/>
              </a:rPr>
              <a:t>reform</a:t>
            </a:r>
          </a:p>
          <a:p>
            <a:pPr marL="285750" indent="-285750">
              <a:spcBef>
                <a:spcPts val="600"/>
              </a:spcBef>
              <a:buFont typeface="Arial" panose="020B0604020202020204" pitchFamily="34" charset="0"/>
              <a:buChar char="•"/>
            </a:pPr>
            <a:r>
              <a:rPr lang="en-US" sz="1200" dirty="0">
                <a:latin typeface="Palatino" pitchFamily="2" charset="77"/>
                <a:ea typeface="Palatino" pitchFamily="2" charset="77"/>
                <a:cs typeface="Calibri" panose="020F0502020204030204" pitchFamily="34" charset="0"/>
              </a:rPr>
              <a:t>PR protection and </a:t>
            </a:r>
            <a:r>
              <a:rPr lang="en-US" sz="1200" dirty="0" err="1">
                <a:latin typeface="Palatino" pitchFamily="2" charset="77"/>
                <a:ea typeface="Palatino" pitchFamily="2" charset="77"/>
                <a:cs typeface="Calibri" panose="020F0502020204030204" pitchFamily="34" charset="0"/>
              </a:rPr>
              <a:t>RoL</a:t>
            </a:r>
            <a:r>
              <a:rPr lang="en-US" sz="1200" dirty="0">
                <a:latin typeface="Palatino" pitchFamily="2" charset="77"/>
                <a:ea typeface="Palatino" pitchFamily="2" charset="77"/>
                <a:cs typeface="Calibri" panose="020F0502020204030204" pitchFamily="34" charset="0"/>
              </a:rPr>
              <a:t> most important </a:t>
            </a:r>
            <a:r>
              <a:rPr lang="en-US" sz="1000" dirty="0">
                <a:solidFill>
                  <a:schemeClr val="tx2">
                    <a:lumMod val="90000"/>
                  </a:schemeClr>
                </a:solidFill>
                <a:latin typeface="Palatino" pitchFamily="2" charset="77"/>
                <a:ea typeface="Palatino" pitchFamily="2" charset="77"/>
                <a:cs typeface="Calibri" panose="020F0502020204030204" pitchFamily="34" charset="0"/>
              </a:rPr>
              <a:t>(Acemoglu et al. 2005)</a:t>
            </a:r>
          </a:p>
        </p:txBody>
      </p:sp>
    </p:spTree>
    <p:extLst>
      <p:ext uri="{BB962C8B-B14F-4D97-AF65-F5344CB8AC3E}">
        <p14:creationId xmlns:p14="http://schemas.microsoft.com/office/powerpoint/2010/main" val="3280901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99;p30">
            <a:extLst>
              <a:ext uri="{FF2B5EF4-FFF2-40B4-BE49-F238E27FC236}">
                <a16:creationId xmlns:a16="http://schemas.microsoft.com/office/drawing/2014/main" id="{AEB12EA7-1A5A-9680-7E3B-1B8C9E88A835}"/>
              </a:ext>
            </a:extLst>
          </p:cNvPr>
          <p:cNvSpPr/>
          <p:nvPr/>
        </p:nvSpPr>
        <p:spPr>
          <a:xfrm>
            <a:off x="0" y="545408"/>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dirty="0">
              <a:solidFill>
                <a:schemeClr val="lt1"/>
              </a:solidFill>
            </a:endParaRPr>
          </a:p>
        </p:txBody>
      </p:sp>
      <p:sp>
        <p:nvSpPr>
          <p:cNvPr id="4" name="TextBox 3">
            <a:extLst>
              <a:ext uri="{FF2B5EF4-FFF2-40B4-BE49-F238E27FC236}">
                <a16:creationId xmlns:a16="http://schemas.microsoft.com/office/drawing/2014/main" id="{48EA1193-A605-5C9E-DA81-54DF99827F6C}"/>
              </a:ext>
            </a:extLst>
          </p:cNvPr>
          <p:cNvSpPr txBox="1"/>
          <p:nvPr/>
        </p:nvSpPr>
        <p:spPr>
          <a:xfrm>
            <a:off x="263820" y="1837048"/>
            <a:ext cx="8432124" cy="800219"/>
          </a:xfrm>
          <a:prstGeom prst="rect">
            <a:avLst/>
          </a:prstGeom>
          <a:noFill/>
        </p:spPr>
        <p:txBody>
          <a:bodyPr wrap="square" rtlCol="0">
            <a:spAutoFit/>
          </a:bodyPr>
          <a:lstStyle/>
          <a:p>
            <a:r>
              <a:rPr lang="en-US" sz="1600" dirty="0">
                <a:solidFill>
                  <a:schemeClr val="tx1"/>
                </a:solidFill>
                <a:latin typeface="Palatino" pitchFamily="2" charset="77"/>
                <a:ea typeface="Palatino" pitchFamily="2" charset="77"/>
                <a:cs typeface="Arial" panose="020B0604020202020204" pitchFamily="34" charset="0"/>
              </a:rPr>
              <a:t>    </a:t>
            </a:r>
          </a:p>
          <a:p>
            <a:r>
              <a:rPr lang="en-US" sz="1600" dirty="0">
                <a:solidFill>
                  <a:schemeClr val="tx1"/>
                </a:solidFill>
                <a:latin typeface="Palatino" pitchFamily="2" charset="77"/>
                <a:ea typeface="Palatino" pitchFamily="2" charset="77"/>
                <a:cs typeface="Arial" panose="020B0604020202020204" pitchFamily="34" charset="0"/>
              </a:rPr>
              <a:t>       H: </a:t>
            </a:r>
            <a:r>
              <a:rPr lang="en-US" sz="1600" b="1" dirty="0">
                <a:solidFill>
                  <a:schemeClr val="tx1"/>
                </a:solidFill>
                <a:latin typeface="Palatino" pitchFamily="2" charset="77"/>
                <a:ea typeface="Palatino" pitchFamily="2" charset="77"/>
                <a:cs typeface="Arial" panose="020B0604020202020204" pitchFamily="34" charset="0"/>
              </a:rPr>
              <a:t>Autocratic “engaged reformers” </a:t>
            </a:r>
            <a:r>
              <a:rPr lang="en-US" sz="1600" dirty="0">
                <a:solidFill>
                  <a:schemeClr val="tx1"/>
                </a:solidFill>
                <a:latin typeface="Palatino" pitchFamily="2" charset="77"/>
                <a:ea typeface="Palatino" pitchFamily="2" charset="77"/>
                <a:cs typeface="Arial" panose="020B0604020202020204" pitchFamily="34" charset="0"/>
              </a:rPr>
              <a:t>perform the best in the globalized economy.</a:t>
            </a:r>
          </a:p>
          <a:p>
            <a:endParaRPr lang="en-US" dirty="0">
              <a:latin typeface="Palatino" pitchFamily="2" charset="77"/>
              <a:ea typeface="Palatino" pitchFamily="2" charset="77"/>
            </a:endParaRPr>
          </a:p>
        </p:txBody>
      </p:sp>
      <p:sp>
        <p:nvSpPr>
          <p:cNvPr id="2" name="TextBox 1">
            <a:extLst>
              <a:ext uri="{FF2B5EF4-FFF2-40B4-BE49-F238E27FC236}">
                <a16:creationId xmlns:a16="http://schemas.microsoft.com/office/drawing/2014/main" id="{C3147E73-50B4-A73D-AC0C-A6102C4CD923}"/>
              </a:ext>
            </a:extLst>
          </p:cNvPr>
          <p:cNvSpPr txBox="1"/>
          <p:nvPr/>
        </p:nvSpPr>
        <p:spPr>
          <a:xfrm>
            <a:off x="157927" y="574488"/>
            <a:ext cx="3938899" cy="523220"/>
          </a:xfrm>
          <a:prstGeom prst="rect">
            <a:avLst/>
          </a:prstGeom>
          <a:noFill/>
        </p:spPr>
        <p:txBody>
          <a:bodyPr wrap="none" rtlCol="0">
            <a:spAutoFit/>
          </a:bodyPr>
          <a:lstStyle/>
          <a:p>
            <a:r>
              <a:rPr lang="en-US" sz="2800" b="1" dirty="0">
                <a:solidFill>
                  <a:schemeClr val="bg1"/>
                </a:solidFill>
                <a:latin typeface="Palatino" pitchFamily="2" charset="77"/>
                <a:ea typeface="Palatino" pitchFamily="2" charset="77"/>
              </a:rPr>
              <a:t>Empirical Expectation</a:t>
            </a:r>
          </a:p>
        </p:txBody>
      </p:sp>
    </p:spTree>
    <p:extLst>
      <p:ext uri="{BB962C8B-B14F-4D97-AF65-F5344CB8AC3E}">
        <p14:creationId xmlns:p14="http://schemas.microsoft.com/office/powerpoint/2010/main" val="2127371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8"/>
        <p:cNvGrpSpPr/>
        <p:nvPr/>
      </p:nvGrpSpPr>
      <p:grpSpPr>
        <a:xfrm>
          <a:off x="0" y="0"/>
          <a:ext cx="0" cy="0"/>
          <a:chOff x="0" y="0"/>
          <a:chExt cx="0" cy="0"/>
        </a:xfrm>
      </p:grpSpPr>
      <p:sp>
        <p:nvSpPr>
          <p:cNvPr id="199" name="Google Shape;199;p30"/>
          <p:cNvSpPr/>
          <p:nvPr/>
        </p:nvSpPr>
        <p:spPr>
          <a:xfrm>
            <a:off x="-9625" y="479189"/>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00" name="Google Shape;200;p30"/>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DV (regarding External Demand)</a:t>
            </a:r>
            <a:endParaRPr sz="2400" b="1" i="0" u="none" strike="noStrike" cap="none" dirty="0">
              <a:solidFill>
                <a:schemeClr val="lt1"/>
              </a:solidFill>
              <a:latin typeface="Palatino" pitchFamily="2" charset="77"/>
              <a:ea typeface="Palatino" pitchFamily="2" charset="77"/>
            </a:endParaRPr>
          </a:p>
        </p:txBody>
      </p:sp>
      <p:sp>
        <p:nvSpPr>
          <p:cNvPr id="201" name="Google Shape;201;p30"/>
          <p:cNvSpPr txBox="1"/>
          <p:nvPr/>
        </p:nvSpPr>
        <p:spPr>
          <a:xfrm>
            <a:off x="382500" y="1497475"/>
            <a:ext cx="8253300" cy="27102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dk1"/>
              </a:buClr>
              <a:buSzPts val="1600"/>
              <a:buChar char="●"/>
            </a:pPr>
            <a:r>
              <a:rPr lang="en-US" sz="1600" dirty="0">
                <a:solidFill>
                  <a:schemeClr val="dk1"/>
                </a:solidFill>
                <a:latin typeface="Palatino" pitchFamily="2" charset="77"/>
                <a:ea typeface="Palatino" pitchFamily="2" charset="77"/>
                <a:cs typeface="Calibri" panose="020F0502020204030204" pitchFamily="34" charset="0"/>
              </a:rPr>
              <a:t>Exports</a:t>
            </a:r>
            <a:endParaRPr sz="1600" dirty="0">
              <a:solidFill>
                <a:schemeClr val="dk1"/>
              </a:solidFill>
              <a:latin typeface="Palatino" pitchFamily="2" charset="77"/>
              <a:ea typeface="Palatino" pitchFamily="2" charset="77"/>
              <a:cs typeface="Calibri" panose="020F0502020204030204" pitchFamily="34" charset="0"/>
            </a:endParaRPr>
          </a:p>
          <a:p>
            <a:pPr marL="914400" lvl="1" indent="-317500" algn="l" rtl="0">
              <a:lnSpc>
                <a:spcPct val="115000"/>
              </a:lnSpc>
              <a:spcBef>
                <a:spcPts val="0"/>
              </a:spcBef>
              <a:spcAft>
                <a:spcPts val="0"/>
              </a:spcAft>
              <a:buClr>
                <a:schemeClr val="dk1"/>
              </a:buClr>
              <a:buSzPts val="1400"/>
              <a:buChar char="○"/>
            </a:pPr>
            <a:r>
              <a:rPr lang="en-US" dirty="0">
                <a:solidFill>
                  <a:schemeClr val="dk1"/>
                </a:solidFill>
                <a:latin typeface="Palatino" pitchFamily="2" charset="77"/>
                <a:ea typeface="Palatino" pitchFamily="2" charset="77"/>
                <a:cs typeface="Calibri" panose="020F0502020204030204" pitchFamily="34" charset="0"/>
              </a:rPr>
              <a:t>Gain in income/productivity/innovation </a:t>
            </a:r>
            <a:r>
              <a:rPr lang="en-US" sz="1000" dirty="0">
                <a:solidFill>
                  <a:srgbClr val="A5A5A5"/>
                </a:solidFill>
                <a:latin typeface="Palatino" pitchFamily="2" charset="77"/>
                <a:ea typeface="Palatino" pitchFamily="2" charset="77"/>
                <a:cs typeface="Calibri" panose="020F0502020204030204" pitchFamily="34" charset="0"/>
              </a:rPr>
              <a:t>(Bernard et al. 2018; </a:t>
            </a:r>
            <a:r>
              <a:rPr lang="en-US" sz="1000" dirty="0" err="1">
                <a:solidFill>
                  <a:srgbClr val="A5A5A5"/>
                </a:solidFill>
                <a:latin typeface="Palatino" pitchFamily="2" charset="77"/>
                <a:ea typeface="Palatino" pitchFamily="2" charset="77"/>
                <a:cs typeface="Calibri" panose="020F0502020204030204" pitchFamily="34" charset="0"/>
              </a:rPr>
              <a:t>Helpman</a:t>
            </a:r>
            <a:r>
              <a:rPr lang="en-US" sz="1000" dirty="0">
                <a:solidFill>
                  <a:srgbClr val="A5A5A5"/>
                </a:solidFill>
                <a:latin typeface="Palatino" pitchFamily="2" charset="77"/>
                <a:ea typeface="Palatino" pitchFamily="2" charset="77"/>
                <a:cs typeface="Calibri" panose="020F0502020204030204" pitchFamily="34" charset="0"/>
              </a:rPr>
              <a:t> and Krugman 1985)</a:t>
            </a:r>
            <a:endParaRPr sz="1000" dirty="0">
              <a:solidFill>
                <a:srgbClr val="A5A5A5"/>
              </a:solidFill>
              <a:latin typeface="Palatino" pitchFamily="2" charset="77"/>
              <a:ea typeface="Palatino" pitchFamily="2" charset="77"/>
              <a:cs typeface="Calibri" panose="020F0502020204030204" pitchFamily="34" charset="0"/>
            </a:endParaRPr>
          </a:p>
          <a:p>
            <a:pPr marL="914400" lvl="1" indent="-317500" algn="l" rtl="0">
              <a:lnSpc>
                <a:spcPct val="115000"/>
              </a:lnSpc>
              <a:spcBef>
                <a:spcPts val="0"/>
              </a:spcBef>
              <a:spcAft>
                <a:spcPts val="0"/>
              </a:spcAft>
              <a:buClr>
                <a:schemeClr val="dk1"/>
              </a:buClr>
              <a:buSzPts val="1400"/>
              <a:buChar char="○"/>
            </a:pPr>
            <a:r>
              <a:rPr lang="en-US" dirty="0">
                <a:solidFill>
                  <a:schemeClr val="dk1"/>
                </a:solidFill>
                <a:latin typeface="Palatino" pitchFamily="2" charset="77"/>
                <a:ea typeface="Palatino" pitchFamily="2" charset="77"/>
                <a:cs typeface="Calibri" panose="020F0502020204030204" pitchFamily="34" charset="0"/>
              </a:rPr>
              <a:t>r = 0.74 (avg. growth rate, 1992-2015)</a:t>
            </a:r>
          </a:p>
          <a:p>
            <a:pPr marL="914400" lvl="1" indent="-317500" algn="l" rtl="0">
              <a:lnSpc>
                <a:spcPct val="115000"/>
              </a:lnSpc>
              <a:spcBef>
                <a:spcPts val="0"/>
              </a:spcBef>
              <a:spcAft>
                <a:spcPts val="0"/>
              </a:spcAft>
              <a:buClr>
                <a:schemeClr val="dk1"/>
              </a:buClr>
              <a:buSzPts val="1400"/>
              <a:buChar char="○"/>
            </a:pPr>
            <a:r>
              <a:rPr lang="en-US" dirty="0">
                <a:solidFill>
                  <a:schemeClr val="dk1"/>
                </a:solidFill>
                <a:latin typeface="Palatino" pitchFamily="2" charset="77"/>
                <a:ea typeface="Palatino" pitchFamily="2" charset="77"/>
                <a:cs typeface="Calibri" panose="020F0502020204030204" pitchFamily="34" charset="0"/>
              </a:rPr>
              <a:t>Widely used in IPE</a:t>
            </a:r>
          </a:p>
          <a:p>
            <a:pPr marL="914400" lvl="1" indent="-317500" algn="l" rtl="0">
              <a:lnSpc>
                <a:spcPct val="115000"/>
              </a:lnSpc>
              <a:spcBef>
                <a:spcPts val="0"/>
              </a:spcBef>
              <a:spcAft>
                <a:spcPts val="0"/>
              </a:spcAft>
              <a:buClr>
                <a:schemeClr val="dk1"/>
              </a:buClr>
              <a:buSzPts val="1400"/>
              <a:buChar char="○"/>
            </a:pPr>
            <a:r>
              <a:rPr lang="en-US" dirty="0">
                <a:solidFill>
                  <a:schemeClr val="dk1"/>
                </a:solidFill>
                <a:latin typeface="Palatino" pitchFamily="2" charset="77"/>
                <a:ea typeface="Palatino" pitchFamily="2" charset="77"/>
                <a:cs typeface="Calibri" panose="020F0502020204030204" pitchFamily="34" charset="0"/>
              </a:rPr>
              <a:t>Export-oriented successes: China, Japan, Korea, Gulf States …</a:t>
            </a:r>
            <a:endParaRPr dirty="0">
              <a:solidFill>
                <a:schemeClr val="dk1"/>
              </a:solidFill>
              <a:latin typeface="Palatino" pitchFamily="2" charset="77"/>
              <a:ea typeface="Palatino" pitchFamily="2" charset="77"/>
              <a:cs typeface="Calibri" panose="020F0502020204030204" pitchFamily="34" charset="0"/>
            </a:endParaRPr>
          </a:p>
          <a:p>
            <a:pPr marL="0" lvl="0" indent="0" algn="l" rtl="0">
              <a:spcBef>
                <a:spcPts val="0"/>
              </a:spcBef>
              <a:spcAft>
                <a:spcPts val="0"/>
              </a:spcAft>
              <a:buNone/>
            </a:pPr>
            <a:endParaRPr sz="1600" dirty="0">
              <a:solidFill>
                <a:schemeClr val="dk1"/>
              </a:solidFill>
              <a:latin typeface="Palatino" pitchFamily="2" charset="77"/>
              <a:ea typeface="Palatino" pitchFamily="2" charset="77"/>
              <a:cs typeface="Calibri" panose="020F0502020204030204" pitchFamily="34" charset="0"/>
            </a:endParaRPr>
          </a:p>
          <a:p>
            <a:pPr marL="914400" lvl="1" indent="-317500" algn="l" rtl="0">
              <a:lnSpc>
                <a:spcPct val="115000"/>
              </a:lnSpc>
              <a:spcBef>
                <a:spcPts val="0"/>
              </a:spcBef>
              <a:spcAft>
                <a:spcPts val="0"/>
              </a:spcAft>
              <a:buClr>
                <a:schemeClr val="dk1"/>
              </a:buClr>
              <a:buSzPts val="1400"/>
              <a:buChar char="○"/>
            </a:pPr>
            <a:endParaRPr lang="en-US" dirty="0">
              <a:solidFill>
                <a:schemeClr val="dk1"/>
              </a:solidFill>
              <a:latin typeface="Palatino" pitchFamily="2" charset="77"/>
              <a:ea typeface="Palatino" pitchFamily="2" charset="77"/>
              <a:cs typeface="Calibri" panose="020F0502020204030204" pitchFamily="34" charset="0"/>
            </a:endParaRPr>
          </a:p>
          <a:p>
            <a:pPr marL="596900" lvl="1" algn="l" rtl="0">
              <a:lnSpc>
                <a:spcPct val="115000"/>
              </a:lnSpc>
              <a:spcBef>
                <a:spcPts val="0"/>
              </a:spcBef>
              <a:spcAft>
                <a:spcPts val="0"/>
              </a:spcAft>
              <a:buClr>
                <a:schemeClr val="dk1"/>
              </a:buClr>
              <a:buSzPts val="1400"/>
            </a:pPr>
            <a:endParaRPr lang="en-US" dirty="0">
              <a:solidFill>
                <a:schemeClr val="dk1"/>
              </a:solidFill>
              <a:latin typeface="Palatino" pitchFamily="2" charset="77"/>
              <a:ea typeface="Palatino" pitchFamily="2" charset="77"/>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5"/>
        <p:cNvGrpSpPr/>
        <p:nvPr/>
      </p:nvGrpSpPr>
      <p:grpSpPr>
        <a:xfrm>
          <a:off x="0" y="0"/>
          <a:ext cx="0" cy="0"/>
          <a:chOff x="0" y="0"/>
          <a:chExt cx="0" cy="0"/>
        </a:xfrm>
      </p:grpSpPr>
      <p:sp>
        <p:nvSpPr>
          <p:cNvPr id="206" name="Google Shape;206;p31"/>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07" name="Google Shape;207;p31"/>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Baseline</a:t>
            </a:r>
            <a:endParaRPr lang="en-US" sz="2400" b="1" i="0" u="none" strike="noStrike" cap="none" dirty="0">
              <a:solidFill>
                <a:schemeClr val="lt1"/>
              </a:solidFill>
              <a:latin typeface="Palatino" pitchFamily="2" charset="77"/>
              <a:ea typeface="Palatino" pitchFamily="2" charset="77"/>
            </a:endParaRPr>
          </a:p>
        </p:txBody>
      </p:sp>
      <p:sp>
        <p:nvSpPr>
          <p:cNvPr id="209" name="Google Shape;209;p31"/>
          <p:cNvSpPr txBox="1"/>
          <p:nvPr/>
        </p:nvSpPr>
        <p:spPr>
          <a:xfrm>
            <a:off x="151430" y="1497475"/>
            <a:ext cx="1854817" cy="271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dirty="0">
                <a:solidFill>
                  <a:schemeClr val="dk1"/>
                </a:solidFill>
                <a:latin typeface="Palatino" pitchFamily="2" charset="77"/>
                <a:ea typeface="Palatino" pitchFamily="2" charset="77"/>
                <a:cs typeface="Calibri" panose="020F0502020204030204" pitchFamily="34" charset="0"/>
              </a:rPr>
              <a:t>Gravity model:</a:t>
            </a:r>
            <a:endParaRPr sz="1600" b="1" dirty="0">
              <a:solidFill>
                <a:schemeClr val="dk1"/>
              </a:solidFill>
              <a:latin typeface="Palatino" pitchFamily="2" charset="77"/>
              <a:ea typeface="Palatino" pitchFamily="2" charset="77"/>
              <a:cs typeface="Calibri" panose="020F0502020204030204" pitchFamily="34" charset="0"/>
            </a:endParaRPr>
          </a:p>
          <a:p>
            <a:pPr marL="171450" lvl="0" indent="-171450" algn="l" rtl="0">
              <a:spcBef>
                <a:spcPts val="1000"/>
              </a:spcBef>
              <a:spcAft>
                <a:spcPts val="0"/>
              </a:spcAft>
              <a:buFont typeface="Arial" panose="020B0604020202020204" pitchFamily="34" charset="0"/>
              <a:buChar char="•"/>
            </a:pPr>
            <a:r>
              <a:rPr lang="en-US" sz="1100" dirty="0">
                <a:solidFill>
                  <a:schemeClr val="tx1"/>
                </a:solidFill>
                <a:latin typeface="Palatino" pitchFamily="2" charset="77"/>
                <a:ea typeface="Palatino" pitchFamily="2" charset="77"/>
                <a:cs typeface="Calibri" panose="020F0502020204030204" pitchFamily="34" charset="0"/>
              </a:rPr>
              <a:t>“One of the most robust empirical findings” (Chaney 2018)</a:t>
            </a:r>
          </a:p>
          <a:p>
            <a:pPr marL="171450" lvl="0" indent="-171450">
              <a:spcBef>
                <a:spcPts val="1000"/>
              </a:spcBef>
              <a:buFont typeface="Arial" panose="020B0604020202020204" pitchFamily="34" charset="0"/>
              <a:buChar char="•"/>
            </a:pPr>
            <a:r>
              <a:rPr lang="en-US" sz="1000" dirty="0">
                <a:latin typeface="Palatino" pitchFamily="2" charset="77"/>
                <a:ea typeface="Palatino" pitchFamily="2" charset="77"/>
              </a:rPr>
              <a:t>1M+ of dyad-years, directly estimating regime effects</a:t>
            </a:r>
            <a:endParaRPr sz="1000" dirty="0">
              <a:solidFill>
                <a:schemeClr val="tx1"/>
              </a:solidFill>
              <a:latin typeface="Palatino" pitchFamily="2" charset="77"/>
              <a:ea typeface="Palatino" pitchFamily="2" charset="77"/>
              <a:cs typeface="Calibri" panose="020F0502020204030204" pitchFamily="34" charset="0"/>
            </a:endParaRPr>
          </a:p>
          <a:p>
            <a:pPr marL="0" lvl="0" indent="0" algn="l" rtl="0">
              <a:spcBef>
                <a:spcPts val="0"/>
              </a:spcBef>
              <a:spcAft>
                <a:spcPts val="0"/>
              </a:spcAft>
              <a:buNone/>
            </a:pPr>
            <a:endParaRPr sz="1600" dirty="0">
              <a:solidFill>
                <a:schemeClr val="dk1"/>
              </a:solidFill>
              <a:latin typeface="Palatino" pitchFamily="2" charset="77"/>
              <a:ea typeface="Palatino" pitchFamily="2" charset="77"/>
              <a:cs typeface="Calibri" panose="020F0502020204030204" pitchFamily="34" charset="0"/>
            </a:endParaRPr>
          </a:p>
          <a:p>
            <a:pPr marL="0" lvl="0" indent="0" algn="l" rtl="0">
              <a:spcBef>
                <a:spcPts val="0"/>
              </a:spcBef>
              <a:spcAft>
                <a:spcPts val="0"/>
              </a:spcAft>
              <a:buNone/>
            </a:pPr>
            <a:endParaRPr sz="1600" dirty="0">
              <a:solidFill>
                <a:schemeClr val="dk1"/>
              </a:solidFill>
              <a:latin typeface="Palatino" pitchFamily="2" charset="77"/>
              <a:ea typeface="Palatino" pitchFamily="2" charset="77"/>
              <a:cs typeface="Calibri" panose="020F0502020204030204" pitchFamily="34" charset="0"/>
            </a:endParaRPr>
          </a:p>
          <a:p>
            <a:pPr marL="0" lvl="0" indent="0" algn="l" rtl="0">
              <a:spcBef>
                <a:spcPts val="0"/>
              </a:spcBef>
              <a:spcAft>
                <a:spcPts val="0"/>
              </a:spcAft>
              <a:buNone/>
            </a:pPr>
            <a:endParaRPr sz="1600" dirty="0">
              <a:solidFill>
                <a:schemeClr val="dk1"/>
              </a:solidFill>
              <a:latin typeface="Palatino" pitchFamily="2" charset="77"/>
              <a:ea typeface="Palatino" pitchFamily="2" charset="77"/>
              <a:cs typeface="Calibri" panose="020F0502020204030204" pitchFamily="34" charset="0"/>
            </a:endParaRPr>
          </a:p>
        </p:txBody>
      </p:sp>
      <p:sp>
        <p:nvSpPr>
          <p:cNvPr id="2" name="TextBox 1">
            <a:extLst>
              <a:ext uri="{FF2B5EF4-FFF2-40B4-BE49-F238E27FC236}">
                <a16:creationId xmlns:a16="http://schemas.microsoft.com/office/drawing/2014/main" id="{24CF393E-B191-727C-E1E5-B07657D08CB4}"/>
              </a:ext>
            </a:extLst>
          </p:cNvPr>
          <p:cNvSpPr txBox="1"/>
          <p:nvPr/>
        </p:nvSpPr>
        <p:spPr>
          <a:xfrm>
            <a:off x="8301440" y="2852575"/>
            <a:ext cx="865943" cy="1277273"/>
          </a:xfrm>
          <a:prstGeom prst="rect">
            <a:avLst/>
          </a:prstGeom>
          <a:noFill/>
        </p:spPr>
        <p:txBody>
          <a:bodyPr wrap="none" rtlCol="0">
            <a:spAutoFit/>
          </a:bodyPr>
          <a:lstStyle/>
          <a:p>
            <a:r>
              <a:rPr lang="en-US" sz="1200" b="1" dirty="0">
                <a:solidFill>
                  <a:srgbClr val="C00000"/>
                </a:solidFill>
                <a:latin typeface="Palatino" pitchFamily="2" charset="77"/>
                <a:ea typeface="Palatino" pitchFamily="2" charset="77"/>
                <a:cs typeface="Calibri" panose="020F0502020204030204" pitchFamily="34" charset="0"/>
              </a:rPr>
              <a:t>Polity</a:t>
            </a:r>
          </a:p>
          <a:p>
            <a:pPr>
              <a:spcBef>
                <a:spcPts val="600"/>
              </a:spcBef>
            </a:pPr>
            <a:r>
              <a:rPr lang="en-US" sz="1200" dirty="0">
                <a:solidFill>
                  <a:srgbClr val="C00000"/>
                </a:solidFill>
                <a:latin typeface="Palatino" pitchFamily="2" charset="77"/>
                <a:ea typeface="Palatino" pitchFamily="2" charset="77"/>
                <a:cs typeface="Calibri" panose="020F0502020204030204" pitchFamily="34" charset="0"/>
              </a:rPr>
              <a:t>-5: 45.5%</a:t>
            </a:r>
          </a:p>
          <a:p>
            <a:r>
              <a:rPr lang="en-US" sz="1200" dirty="0">
                <a:solidFill>
                  <a:srgbClr val="C00000"/>
                </a:solidFill>
                <a:latin typeface="Palatino" pitchFamily="2" charset="77"/>
                <a:ea typeface="Palatino" pitchFamily="2" charset="77"/>
                <a:cs typeface="Calibri" panose="020F0502020204030204" pitchFamily="34" charset="0"/>
              </a:rPr>
              <a:t> 5: 4.6%</a:t>
            </a:r>
          </a:p>
          <a:p>
            <a:endParaRPr lang="en-US" sz="1200" dirty="0">
              <a:solidFill>
                <a:srgbClr val="C00000"/>
              </a:solidFill>
              <a:latin typeface="Palatino" pitchFamily="2" charset="77"/>
              <a:ea typeface="Palatino" pitchFamily="2" charset="77"/>
              <a:cs typeface="Calibri" panose="020F0502020204030204" pitchFamily="34" charset="0"/>
            </a:endParaRPr>
          </a:p>
          <a:p>
            <a:r>
              <a:rPr lang="en-US" sz="1200" dirty="0">
                <a:solidFill>
                  <a:srgbClr val="C00000"/>
                </a:solidFill>
                <a:latin typeface="Palatino" pitchFamily="2" charset="77"/>
                <a:ea typeface="Palatino" pitchFamily="2" charset="77"/>
                <a:cs typeface="Calibri" panose="020F0502020204030204" pitchFamily="34" charset="0"/>
              </a:rPr>
              <a:t>-10: 71%</a:t>
            </a:r>
          </a:p>
          <a:p>
            <a:r>
              <a:rPr lang="en-US" sz="1200" dirty="0">
                <a:solidFill>
                  <a:srgbClr val="C00000"/>
                </a:solidFill>
                <a:latin typeface="Palatino" pitchFamily="2" charset="77"/>
                <a:ea typeface="Palatino" pitchFamily="2" charset="77"/>
                <a:cs typeface="Calibri" panose="020F0502020204030204" pitchFamily="34" charset="0"/>
              </a:rPr>
              <a:t>10: -11.4%</a:t>
            </a:r>
          </a:p>
        </p:txBody>
      </p:sp>
      <p:pic>
        <p:nvPicPr>
          <p:cNvPr id="4" name="Picture 3">
            <a:extLst>
              <a:ext uri="{FF2B5EF4-FFF2-40B4-BE49-F238E27FC236}">
                <a16:creationId xmlns:a16="http://schemas.microsoft.com/office/drawing/2014/main" id="{38B013DD-FEF0-6E5B-F793-1AC9C58195C7}"/>
              </a:ext>
            </a:extLst>
          </p:cNvPr>
          <p:cNvPicPr>
            <a:picLocks noChangeAspect="1"/>
          </p:cNvPicPr>
          <p:nvPr/>
        </p:nvPicPr>
        <p:blipFill>
          <a:blip r:embed="rId3"/>
          <a:stretch>
            <a:fillRect/>
          </a:stretch>
        </p:blipFill>
        <p:spPr>
          <a:xfrm>
            <a:off x="2006247" y="1039377"/>
            <a:ext cx="6205991" cy="41041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 grpId="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5"/>
        <p:cNvGrpSpPr/>
        <p:nvPr/>
      </p:nvGrpSpPr>
      <p:grpSpPr>
        <a:xfrm>
          <a:off x="0" y="0"/>
          <a:ext cx="0" cy="0"/>
          <a:chOff x="0" y="0"/>
          <a:chExt cx="0" cy="0"/>
        </a:xfrm>
      </p:grpSpPr>
      <p:sp>
        <p:nvSpPr>
          <p:cNvPr id="206" name="Google Shape;206;p31"/>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07" name="Google Shape;207;p31"/>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Baseline: Gravity Model</a:t>
            </a:r>
            <a:endParaRPr lang="en-US" sz="2400" b="1" i="0" u="none" strike="noStrike" cap="none" dirty="0">
              <a:solidFill>
                <a:schemeClr val="lt1"/>
              </a:solidFill>
              <a:latin typeface="Palatino" pitchFamily="2" charset="77"/>
              <a:ea typeface="Palatino" pitchFamily="2" charset="77"/>
            </a:endParaRPr>
          </a:p>
        </p:txBody>
      </p:sp>
      <p:pic>
        <p:nvPicPr>
          <p:cNvPr id="3" name="Picture 2">
            <a:extLst>
              <a:ext uri="{FF2B5EF4-FFF2-40B4-BE49-F238E27FC236}">
                <a16:creationId xmlns:a16="http://schemas.microsoft.com/office/drawing/2014/main" id="{89E4A981-4993-55F6-30D7-D0DA2B84D795}"/>
              </a:ext>
            </a:extLst>
          </p:cNvPr>
          <p:cNvPicPr>
            <a:picLocks noChangeAspect="1"/>
          </p:cNvPicPr>
          <p:nvPr/>
        </p:nvPicPr>
        <p:blipFill>
          <a:blip r:embed="rId3"/>
          <a:stretch>
            <a:fillRect/>
          </a:stretch>
        </p:blipFill>
        <p:spPr>
          <a:xfrm>
            <a:off x="1330428" y="1188024"/>
            <a:ext cx="5981218" cy="3955476"/>
          </a:xfrm>
          <a:prstGeom prst="rect">
            <a:avLst/>
          </a:prstGeom>
        </p:spPr>
      </p:pic>
    </p:spTree>
    <p:extLst>
      <p:ext uri="{BB962C8B-B14F-4D97-AF65-F5344CB8AC3E}">
        <p14:creationId xmlns:p14="http://schemas.microsoft.com/office/powerpoint/2010/main" val="3800745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5"/>
        <p:cNvGrpSpPr/>
        <p:nvPr/>
      </p:nvGrpSpPr>
      <p:grpSpPr>
        <a:xfrm>
          <a:off x="0" y="0"/>
          <a:ext cx="0" cy="0"/>
          <a:chOff x="0" y="0"/>
          <a:chExt cx="0" cy="0"/>
        </a:xfrm>
      </p:grpSpPr>
      <p:sp>
        <p:nvSpPr>
          <p:cNvPr id="206" name="Google Shape;206;p31"/>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07" name="Google Shape;207;p31"/>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Baseline: Gravity Model</a:t>
            </a:r>
            <a:endParaRPr lang="en-US" sz="2400" b="1" i="0" u="none" strike="noStrike" cap="none" dirty="0">
              <a:solidFill>
                <a:schemeClr val="lt1"/>
              </a:solidFill>
              <a:latin typeface="Palatino" pitchFamily="2" charset="77"/>
              <a:ea typeface="Palatino" pitchFamily="2" charset="77"/>
            </a:endParaRPr>
          </a:p>
        </p:txBody>
      </p:sp>
      <p:sp>
        <p:nvSpPr>
          <p:cNvPr id="2" name="TextBox 1">
            <a:extLst>
              <a:ext uri="{FF2B5EF4-FFF2-40B4-BE49-F238E27FC236}">
                <a16:creationId xmlns:a16="http://schemas.microsoft.com/office/drawing/2014/main" id="{E6D69B55-8D20-29D1-E427-F88105C41718}"/>
              </a:ext>
            </a:extLst>
          </p:cNvPr>
          <p:cNvSpPr txBox="1"/>
          <p:nvPr/>
        </p:nvSpPr>
        <p:spPr>
          <a:xfrm>
            <a:off x="6144751" y="3100752"/>
            <a:ext cx="2631251" cy="1723549"/>
          </a:xfrm>
          <a:prstGeom prst="rect">
            <a:avLst/>
          </a:prstGeom>
          <a:noFill/>
        </p:spPr>
        <p:txBody>
          <a:bodyPr wrap="square" rtlCol="0">
            <a:spAutoFit/>
          </a:bodyPr>
          <a:lstStyle/>
          <a:p>
            <a:r>
              <a:rPr lang="en-US" b="1" dirty="0">
                <a:latin typeface="Palatino" pitchFamily="2" charset="77"/>
                <a:ea typeface="Palatino" pitchFamily="2" charset="77"/>
              </a:rPr>
              <a:t>Robustness:</a:t>
            </a:r>
          </a:p>
          <a:p>
            <a:pPr marL="285750" indent="-285750">
              <a:spcBef>
                <a:spcPts val="600"/>
              </a:spcBef>
              <a:buFont typeface="Arial" panose="020B0604020202020204" pitchFamily="34" charset="0"/>
              <a:buChar char="•"/>
            </a:pPr>
            <a:r>
              <a:rPr lang="en-US" sz="1000" dirty="0">
                <a:latin typeface="Palatino" pitchFamily="2" charset="77"/>
                <a:ea typeface="Palatino" pitchFamily="2" charset="77"/>
              </a:rPr>
              <a:t>Sensitivity Analysis: Population (x250), GDP (x1000), Polity (x12)</a:t>
            </a:r>
          </a:p>
          <a:p>
            <a:pPr marL="285750" lvl="0" indent="-285750" algn="l" rtl="0">
              <a:spcBef>
                <a:spcPts val="600"/>
              </a:spcBef>
              <a:spcAft>
                <a:spcPts val="0"/>
              </a:spcAft>
              <a:buFont typeface="Arial" panose="020B0604020202020204" pitchFamily="34" charset="0"/>
              <a:buChar char="•"/>
            </a:pPr>
            <a:r>
              <a:rPr lang="en-US" sz="1000" dirty="0">
                <a:latin typeface="Palatino" pitchFamily="2" charset="77"/>
                <a:ea typeface="Palatino" pitchFamily="2" charset="77"/>
              </a:rPr>
              <a:t>CRE model (correlated random-effects)</a:t>
            </a:r>
          </a:p>
          <a:p>
            <a:pPr marL="285750" lvl="0" indent="-285750" algn="l" rtl="0">
              <a:spcBef>
                <a:spcPts val="600"/>
              </a:spcBef>
              <a:spcAft>
                <a:spcPts val="0"/>
              </a:spcAft>
              <a:buFont typeface="Arial" panose="020B0604020202020204" pitchFamily="34" charset="0"/>
              <a:buChar char="•"/>
            </a:pPr>
            <a:r>
              <a:rPr lang="en-US" sz="1000" dirty="0">
                <a:latin typeface="Palatino" pitchFamily="2" charset="77"/>
                <a:ea typeface="Palatino" pitchFamily="2" charset="77"/>
              </a:rPr>
              <a:t>GAM (data-driven)</a:t>
            </a:r>
          </a:p>
          <a:p>
            <a:pPr marL="285750" lvl="0" indent="-285750" algn="l" rtl="0">
              <a:spcBef>
                <a:spcPts val="600"/>
              </a:spcBef>
              <a:spcAft>
                <a:spcPts val="0"/>
              </a:spcAft>
              <a:buFont typeface="Arial" panose="020B0604020202020204" pitchFamily="34" charset="0"/>
              <a:buChar char="•"/>
            </a:pPr>
            <a:r>
              <a:rPr lang="en-US" sz="1000" b="0" i="0" dirty="0">
                <a:solidFill>
                  <a:srgbClr val="0A0A0A"/>
                </a:solidFill>
                <a:effectLst/>
                <a:latin typeface="Palatino" pitchFamily="2" charset="77"/>
                <a:ea typeface="Palatino" pitchFamily="2" charset="77"/>
              </a:rPr>
              <a:t>Sensitivity grid: inst. boundary</a:t>
            </a:r>
            <a:endParaRPr lang="en-US" sz="1000" dirty="0">
              <a:latin typeface="Palatino" pitchFamily="2" charset="77"/>
              <a:ea typeface="Palatino" pitchFamily="2" charset="77"/>
            </a:endParaRPr>
          </a:p>
          <a:p>
            <a:endParaRPr lang="en-US" sz="1200" dirty="0">
              <a:latin typeface="Palatino" pitchFamily="2" charset="77"/>
              <a:ea typeface="Palatino" pitchFamily="2" charset="77"/>
            </a:endParaRPr>
          </a:p>
        </p:txBody>
      </p:sp>
      <p:pic>
        <p:nvPicPr>
          <p:cNvPr id="5" name="Picture 4" descr="A graph of a report&#10;&#10;Description automatically generated with medium confidence">
            <a:extLst>
              <a:ext uri="{FF2B5EF4-FFF2-40B4-BE49-F238E27FC236}">
                <a16:creationId xmlns:a16="http://schemas.microsoft.com/office/drawing/2014/main" id="{8318C3B8-76EF-15DC-6FA0-AD1734A1B892}"/>
              </a:ext>
            </a:extLst>
          </p:cNvPr>
          <p:cNvPicPr>
            <a:picLocks noChangeAspect="1"/>
          </p:cNvPicPr>
          <p:nvPr/>
        </p:nvPicPr>
        <p:blipFill>
          <a:blip r:embed="rId3"/>
          <a:stretch>
            <a:fillRect/>
          </a:stretch>
        </p:blipFill>
        <p:spPr>
          <a:xfrm>
            <a:off x="555212" y="1115401"/>
            <a:ext cx="3520441" cy="1955800"/>
          </a:xfrm>
          <a:prstGeom prst="rect">
            <a:avLst/>
          </a:prstGeom>
        </p:spPr>
      </p:pic>
      <p:pic>
        <p:nvPicPr>
          <p:cNvPr id="9" name="Picture 8" descr="A graph of the rules of law and the rules of law&#10;&#10;Description automatically generated">
            <a:extLst>
              <a:ext uri="{FF2B5EF4-FFF2-40B4-BE49-F238E27FC236}">
                <a16:creationId xmlns:a16="http://schemas.microsoft.com/office/drawing/2014/main" id="{954DBBA2-9AAB-D4C8-7F59-51A43BBD2166}"/>
              </a:ext>
            </a:extLst>
          </p:cNvPr>
          <p:cNvPicPr>
            <a:picLocks noChangeAspect="1"/>
          </p:cNvPicPr>
          <p:nvPr/>
        </p:nvPicPr>
        <p:blipFill>
          <a:blip r:embed="rId4"/>
          <a:stretch>
            <a:fillRect/>
          </a:stretch>
        </p:blipFill>
        <p:spPr>
          <a:xfrm>
            <a:off x="545587" y="3069882"/>
            <a:ext cx="3554775" cy="2073618"/>
          </a:xfrm>
          <a:prstGeom prst="rect">
            <a:avLst/>
          </a:prstGeom>
        </p:spPr>
      </p:pic>
      <p:pic>
        <p:nvPicPr>
          <p:cNvPr id="10" name="Google Shape;236;p34">
            <a:extLst>
              <a:ext uri="{FF2B5EF4-FFF2-40B4-BE49-F238E27FC236}">
                <a16:creationId xmlns:a16="http://schemas.microsoft.com/office/drawing/2014/main" id="{CE129749-BBC0-CA03-CD43-59366DF7DF4F}"/>
              </a:ext>
            </a:extLst>
          </p:cNvPr>
          <p:cNvPicPr preferRelativeResize="0"/>
          <p:nvPr/>
        </p:nvPicPr>
        <p:blipFill>
          <a:blip r:embed="rId5">
            <a:alphaModFix/>
          </a:blip>
          <a:stretch>
            <a:fillRect/>
          </a:stretch>
        </p:blipFill>
        <p:spPr>
          <a:xfrm>
            <a:off x="4356619" y="1180973"/>
            <a:ext cx="4787381" cy="558600"/>
          </a:xfrm>
          <a:prstGeom prst="rect">
            <a:avLst/>
          </a:prstGeom>
          <a:noFill/>
          <a:ln>
            <a:noFill/>
          </a:ln>
        </p:spPr>
      </p:pic>
    </p:spTree>
    <p:extLst>
      <p:ext uri="{BB962C8B-B14F-4D97-AF65-F5344CB8AC3E}">
        <p14:creationId xmlns:p14="http://schemas.microsoft.com/office/powerpoint/2010/main" val="294767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6"/>
        <p:cNvGrpSpPr/>
        <p:nvPr/>
      </p:nvGrpSpPr>
      <p:grpSpPr>
        <a:xfrm>
          <a:off x="0" y="0"/>
          <a:ext cx="0" cy="0"/>
          <a:chOff x="0" y="0"/>
          <a:chExt cx="0" cy="0"/>
        </a:xfrm>
      </p:grpSpPr>
      <p:sp>
        <p:nvSpPr>
          <p:cNvPr id="217" name="Google Shape;217;p32"/>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18" name="Google Shape;218;p32"/>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WTO Accession</a:t>
            </a:r>
            <a:endParaRPr sz="2400" b="1" i="0" u="none" strike="noStrike" cap="none" dirty="0">
              <a:solidFill>
                <a:schemeClr val="lt1"/>
              </a:solidFill>
              <a:latin typeface="Palatino" pitchFamily="2" charset="77"/>
              <a:ea typeface="Palatino" pitchFamily="2" charset="77"/>
            </a:endParaRPr>
          </a:p>
        </p:txBody>
      </p:sp>
      <p:sp>
        <p:nvSpPr>
          <p:cNvPr id="219" name="Google Shape;219;p32"/>
          <p:cNvSpPr txBox="1"/>
          <p:nvPr/>
        </p:nvSpPr>
        <p:spPr>
          <a:xfrm>
            <a:off x="290897" y="1286908"/>
            <a:ext cx="7929078" cy="2710200"/>
          </a:xfrm>
          <a:prstGeom prst="rect">
            <a:avLst/>
          </a:prstGeom>
          <a:noFill/>
          <a:ln>
            <a:noFill/>
          </a:ln>
        </p:spPr>
        <p:txBody>
          <a:bodyPr spcFirstLastPara="1" wrap="square" lIns="91425" tIns="91425" rIns="91425" bIns="91425" anchor="t" anchorCtr="0">
            <a:noAutofit/>
          </a:bodyPr>
          <a:lstStyle/>
          <a:p>
            <a:pPr lvl="0"/>
            <a:r>
              <a:rPr lang="en-US" sz="1600" b="1" dirty="0">
                <a:solidFill>
                  <a:schemeClr val="dk1"/>
                </a:solidFill>
                <a:latin typeface="Palatino" pitchFamily="2" charset="77"/>
                <a:ea typeface="Palatino" pitchFamily="2" charset="77"/>
              </a:rPr>
              <a:t>Staggered </a:t>
            </a:r>
            <a:r>
              <a:rPr lang="en-US" sz="1600" b="1" dirty="0" err="1">
                <a:solidFill>
                  <a:schemeClr val="dk1"/>
                </a:solidFill>
                <a:latin typeface="Palatino" pitchFamily="2" charset="77"/>
                <a:ea typeface="Palatino" pitchFamily="2" charset="77"/>
              </a:rPr>
              <a:t>DiD</a:t>
            </a:r>
            <a:r>
              <a:rPr lang="en-US" sz="1600" b="1" dirty="0">
                <a:solidFill>
                  <a:schemeClr val="dk1"/>
                </a:solidFill>
                <a:latin typeface="Palatino" pitchFamily="2" charset="77"/>
                <a:ea typeface="Palatino" pitchFamily="2" charset="77"/>
              </a:rPr>
              <a:t> w/ CBPS matching </a:t>
            </a:r>
            <a:r>
              <a:rPr lang="en-US" sz="1000" dirty="0">
                <a:solidFill>
                  <a:schemeClr val="dk1"/>
                </a:solidFill>
                <a:latin typeface="Palatino" pitchFamily="2" charset="77"/>
                <a:ea typeface="Palatino" pitchFamily="2" charset="77"/>
              </a:rPr>
              <a:t>(better than Callaway &amp; </a:t>
            </a:r>
            <a:r>
              <a:rPr lang="en-US" sz="1000" dirty="0" err="1">
                <a:solidFill>
                  <a:schemeClr val="dk1"/>
                </a:solidFill>
                <a:latin typeface="Palatino" pitchFamily="2" charset="77"/>
                <a:ea typeface="Palatino" pitchFamily="2" charset="77"/>
              </a:rPr>
              <a:t>Sant’Anna</a:t>
            </a:r>
            <a:r>
              <a:rPr lang="en-US" sz="1000" dirty="0">
                <a:solidFill>
                  <a:schemeClr val="dk1"/>
                </a:solidFill>
                <a:latin typeface="Palatino" pitchFamily="2" charset="77"/>
                <a:ea typeface="Palatino" pitchFamily="2" charset="77"/>
              </a:rPr>
              <a:t> due to thin cohorts and PT):</a:t>
            </a:r>
            <a:endParaRPr sz="1000" dirty="0">
              <a:solidFill>
                <a:schemeClr val="dk1"/>
              </a:solidFill>
              <a:latin typeface="Palatino" pitchFamily="2" charset="77"/>
              <a:ea typeface="Palatino" pitchFamily="2" charset="77"/>
            </a:endParaRPr>
          </a:p>
        </p:txBody>
      </p:sp>
      <p:pic>
        <p:nvPicPr>
          <p:cNvPr id="2" name="Picture 1">
            <a:extLst>
              <a:ext uri="{FF2B5EF4-FFF2-40B4-BE49-F238E27FC236}">
                <a16:creationId xmlns:a16="http://schemas.microsoft.com/office/drawing/2014/main" id="{A5CEC077-8825-5514-FA4E-244A882F836A}"/>
              </a:ext>
            </a:extLst>
          </p:cNvPr>
          <p:cNvPicPr>
            <a:picLocks noChangeAspect="1"/>
          </p:cNvPicPr>
          <p:nvPr/>
        </p:nvPicPr>
        <p:blipFill>
          <a:blip r:embed="rId3"/>
          <a:stretch>
            <a:fillRect/>
          </a:stretch>
        </p:blipFill>
        <p:spPr>
          <a:xfrm>
            <a:off x="493030" y="2054069"/>
            <a:ext cx="8001934" cy="316281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5"/>
        <p:cNvGrpSpPr/>
        <p:nvPr/>
      </p:nvGrpSpPr>
      <p:grpSpPr>
        <a:xfrm>
          <a:off x="0" y="0"/>
          <a:ext cx="0" cy="0"/>
          <a:chOff x="0" y="0"/>
          <a:chExt cx="0" cy="0"/>
        </a:xfrm>
      </p:grpSpPr>
      <p:sp>
        <p:nvSpPr>
          <p:cNvPr id="226" name="Google Shape;226;p33"/>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27" name="Google Shape;227;p33"/>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WTO Accession</a:t>
            </a:r>
            <a:endParaRPr sz="2400" b="1" i="0" u="none" strike="noStrike" cap="none" dirty="0">
              <a:solidFill>
                <a:schemeClr val="lt1"/>
              </a:solidFill>
              <a:latin typeface="Palatino" pitchFamily="2" charset="77"/>
              <a:ea typeface="Palatino" pitchFamily="2" charset="77"/>
            </a:endParaRPr>
          </a:p>
        </p:txBody>
      </p:sp>
      <p:sp>
        <p:nvSpPr>
          <p:cNvPr id="228" name="Google Shape;228;p33"/>
          <p:cNvSpPr txBox="1"/>
          <p:nvPr/>
        </p:nvSpPr>
        <p:spPr>
          <a:xfrm>
            <a:off x="209245" y="2433300"/>
            <a:ext cx="2437702" cy="271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dirty="0">
                <a:solidFill>
                  <a:schemeClr val="dk1"/>
                </a:solidFill>
                <a:latin typeface="Palatino" pitchFamily="2" charset="77"/>
                <a:ea typeface="Palatino" pitchFamily="2" charset="77"/>
              </a:rPr>
              <a:t>Synthetic Control Method (SCM):</a:t>
            </a:r>
            <a:endParaRPr b="1" dirty="0">
              <a:solidFill>
                <a:schemeClr val="dk1"/>
              </a:solidFill>
              <a:latin typeface="Palatino" pitchFamily="2" charset="77"/>
              <a:ea typeface="Palatino" pitchFamily="2" charset="77"/>
            </a:endParaRPr>
          </a:p>
        </p:txBody>
      </p:sp>
      <p:pic>
        <p:nvPicPr>
          <p:cNvPr id="229" name="Google Shape;229;p33"/>
          <p:cNvPicPr preferRelativeResize="0"/>
          <p:nvPr/>
        </p:nvPicPr>
        <p:blipFill>
          <a:blip r:embed="rId3">
            <a:alphaModFix/>
          </a:blip>
          <a:stretch>
            <a:fillRect/>
          </a:stretch>
        </p:blipFill>
        <p:spPr>
          <a:xfrm>
            <a:off x="2734525" y="1082400"/>
            <a:ext cx="5834905" cy="40611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7"/>
        <p:cNvGrpSpPr/>
        <p:nvPr/>
      </p:nvGrpSpPr>
      <p:grpSpPr>
        <a:xfrm>
          <a:off x="0" y="0"/>
          <a:ext cx="0" cy="0"/>
          <a:chOff x="0" y="0"/>
          <a:chExt cx="0" cy="0"/>
        </a:xfrm>
      </p:grpSpPr>
      <p:sp>
        <p:nvSpPr>
          <p:cNvPr id="258" name="Google Shape;258;p37"/>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59" name="Google Shape;259;p37"/>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Absolute Export Levels</a:t>
            </a:r>
            <a:endParaRPr sz="2400" b="1" i="0" u="none" strike="noStrike" cap="none" dirty="0">
              <a:solidFill>
                <a:schemeClr val="lt1"/>
              </a:solidFill>
              <a:latin typeface="Palatino" pitchFamily="2" charset="77"/>
              <a:ea typeface="Palatino" pitchFamily="2" charset="77"/>
            </a:endParaRPr>
          </a:p>
        </p:txBody>
      </p:sp>
      <p:pic>
        <p:nvPicPr>
          <p:cNvPr id="3" name="Picture 2" descr="A graph of the effect of polity on exports&#10;&#10;Description automatically generated">
            <a:extLst>
              <a:ext uri="{FF2B5EF4-FFF2-40B4-BE49-F238E27FC236}">
                <a16:creationId xmlns:a16="http://schemas.microsoft.com/office/drawing/2014/main" id="{02D09507-DAF4-34B4-2DB2-F4E446BCE8EE}"/>
              </a:ext>
            </a:extLst>
          </p:cNvPr>
          <p:cNvPicPr>
            <a:picLocks noChangeAspect="1"/>
          </p:cNvPicPr>
          <p:nvPr/>
        </p:nvPicPr>
        <p:blipFill>
          <a:blip r:embed="rId3"/>
          <a:stretch>
            <a:fillRect/>
          </a:stretch>
        </p:blipFill>
        <p:spPr>
          <a:xfrm>
            <a:off x="2908233" y="1739594"/>
            <a:ext cx="5051860" cy="2810306"/>
          </a:xfrm>
          <a:prstGeom prst="rect">
            <a:avLst/>
          </a:prstGeom>
        </p:spPr>
      </p:pic>
      <p:sp>
        <p:nvSpPr>
          <p:cNvPr id="4" name="TextBox 3">
            <a:extLst>
              <a:ext uri="{FF2B5EF4-FFF2-40B4-BE49-F238E27FC236}">
                <a16:creationId xmlns:a16="http://schemas.microsoft.com/office/drawing/2014/main" id="{62384501-BE4B-D336-E830-96B754490BA2}"/>
              </a:ext>
            </a:extLst>
          </p:cNvPr>
          <p:cNvSpPr txBox="1"/>
          <p:nvPr/>
        </p:nvSpPr>
        <p:spPr>
          <a:xfrm>
            <a:off x="404261" y="2098307"/>
            <a:ext cx="1702710" cy="1046440"/>
          </a:xfrm>
          <a:prstGeom prst="rect">
            <a:avLst/>
          </a:prstGeom>
          <a:noFill/>
        </p:spPr>
        <p:txBody>
          <a:bodyPr wrap="none" rtlCol="0">
            <a:spAutoFit/>
          </a:bodyPr>
          <a:lstStyle/>
          <a:p>
            <a:r>
              <a:rPr lang="en-US" dirty="0">
                <a:latin typeface="Palatino" pitchFamily="2" charset="77"/>
                <a:ea typeface="Palatino" pitchFamily="2" charset="77"/>
              </a:rPr>
              <a:t>Full gravity specs:</a:t>
            </a:r>
          </a:p>
          <a:p>
            <a:pPr marL="285750" indent="-285750">
              <a:spcBef>
                <a:spcPts val="600"/>
              </a:spcBef>
              <a:buFont typeface="Arial" panose="020B0604020202020204" pitchFamily="34" charset="0"/>
              <a:buChar char="•"/>
            </a:pPr>
            <a:r>
              <a:rPr lang="en-US" sz="1100" dirty="0">
                <a:latin typeface="Palatino" pitchFamily="2" charset="77"/>
                <a:ea typeface="Palatino" pitchFamily="2" charset="77"/>
              </a:rPr>
              <a:t>169 countries</a:t>
            </a:r>
          </a:p>
          <a:p>
            <a:pPr marL="285750" indent="-285750">
              <a:spcBef>
                <a:spcPts val="600"/>
              </a:spcBef>
              <a:buFont typeface="Arial" panose="020B0604020202020204" pitchFamily="34" charset="0"/>
              <a:buChar char="•"/>
            </a:pPr>
            <a:r>
              <a:rPr lang="en-US" sz="1100" dirty="0">
                <a:latin typeface="Palatino" pitchFamily="2" charset="77"/>
                <a:ea typeface="Palatino" pitchFamily="2" charset="77"/>
              </a:rPr>
              <a:t>532,574 dyad-years </a:t>
            </a:r>
          </a:p>
          <a:p>
            <a:pPr marL="285750" indent="-285750">
              <a:spcBef>
                <a:spcPts val="600"/>
              </a:spcBef>
              <a:buFont typeface="Arial" panose="020B0604020202020204" pitchFamily="34" charset="0"/>
              <a:buChar char="•"/>
            </a:pPr>
            <a:r>
              <a:rPr lang="en-US" sz="1100" dirty="0">
                <a:latin typeface="Palatino" pitchFamily="2" charset="77"/>
                <a:ea typeface="Palatino" pitchFamily="2" charset="77"/>
              </a:rPr>
              <a:t>1990-2020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4913C5-168F-BB84-0F8F-4CB7F95E8A1E}"/>
              </a:ext>
            </a:extLst>
          </p:cNvPr>
          <p:cNvSpPr txBox="1"/>
          <p:nvPr/>
        </p:nvSpPr>
        <p:spPr>
          <a:xfrm>
            <a:off x="2637322" y="2030930"/>
            <a:ext cx="2343911" cy="523220"/>
          </a:xfrm>
          <a:prstGeom prst="rect">
            <a:avLst/>
          </a:prstGeom>
          <a:noFill/>
        </p:spPr>
        <p:txBody>
          <a:bodyPr wrap="none" rtlCol="0">
            <a:spAutoFit/>
          </a:bodyPr>
          <a:lstStyle/>
          <a:p>
            <a:r>
              <a:rPr lang="en-US" sz="2800" b="1" dirty="0">
                <a:latin typeface="Palatino" pitchFamily="2" charset="77"/>
                <a:ea typeface="Palatino" pitchFamily="2" charset="77"/>
              </a:rPr>
              <a:t>Mechanisms</a:t>
            </a:r>
          </a:p>
        </p:txBody>
      </p:sp>
    </p:spTree>
    <p:extLst>
      <p:ext uri="{BB962C8B-B14F-4D97-AF65-F5344CB8AC3E}">
        <p14:creationId xmlns:p14="http://schemas.microsoft.com/office/powerpoint/2010/main" val="415434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0"/>
        <p:cNvGrpSpPr/>
        <p:nvPr/>
      </p:nvGrpSpPr>
      <p:grpSpPr>
        <a:xfrm>
          <a:off x="0" y="0"/>
          <a:ext cx="0" cy="0"/>
          <a:chOff x="0" y="0"/>
          <a:chExt cx="0" cy="0"/>
        </a:xfrm>
      </p:grpSpPr>
      <p:sp>
        <p:nvSpPr>
          <p:cNvPr id="271" name="Google Shape;271;p39"/>
          <p:cNvSpPr/>
          <p:nvPr/>
        </p:nvSpPr>
        <p:spPr>
          <a:xfrm>
            <a:off x="0" y="488814"/>
            <a:ext cx="9144000" cy="552300"/>
          </a:xfrm>
          <a:prstGeom prst="rect">
            <a:avLst/>
          </a:prstGeom>
          <a:solidFill>
            <a:srgbClr val="3A75D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72" name="Google Shape;272;p39"/>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A: Sectoral-level Heterogeneity</a:t>
            </a:r>
            <a:endParaRPr sz="2400" b="1" i="0" u="none" strike="noStrike" cap="none" dirty="0">
              <a:solidFill>
                <a:schemeClr val="lt1"/>
              </a:solidFill>
              <a:latin typeface="Palatino" pitchFamily="2" charset="77"/>
              <a:ea typeface="Palatino" pitchFamily="2" charset="77"/>
            </a:endParaRPr>
          </a:p>
        </p:txBody>
      </p:sp>
      <p:pic>
        <p:nvPicPr>
          <p:cNvPr id="15" name="Picture 14" descr="A graph of different types of data&#10;&#10;Description automatically generated with medium confidence">
            <a:extLst>
              <a:ext uri="{FF2B5EF4-FFF2-40B4-BE49-F238E27FC236}">
                <a16:creationId xmlns:a16="http://schemas.microsoft.com/office/drawing/2014/main" id="{FB1805D7-0A72-9A54-3CC5-371694E2512B}"/>
              </a:ext>
            </a:extLst>
          </p:cNvPr>
          <p:cNvPicPr>
            <a:picLocks noChangeAspect="1"/>
          </p:cNvPicPr>
          <p:nvPr/>
        </p:nvPicPr>
        <p:blipFill>
          <a:blip r:embed="rId3"/>
          <a:stretch>
            <a:fillRect/>
          </a:stretch>
        </p:blipFill>
        <p:spPr>
          <a:xfrm>
            <a:off x="367902" y="1041114"/>
            <a:ext cx="4309976" cy="3950811"/>
          </a:xfrm>
          <a:prstGeom prst="rect">
            <a:avLst/>
          </a:prstGeom>
        </p:spPr>
      </p:pic>
      <p:sp>
        <p:nvSpPr>
          <p:cNvPr id="16" name="TextBox 15">
            <a:extLst>
              <a:ext uri="{FF2B5EF4-FFF2-40B4-BE49-F238E27FC236}">
                <a16:creationId xmlns:a16="http://schemas.microsoft.com/office/drawing/2014/main" id="{2A767905-0E6C-6668-00B1-71E81E4B298F}"/>
              </a:ext>
            </a:extLst>
          </p:cNvPr>
          <p:cNvSpPr txBox="1"/>
          <p:nvPr/>
        </p:nvSpPr>
        <p:spPr>
          <a:xfrm>
            <a:off x="5216893" y="1761423"/>
            <a:ext cx="3849131" cy="1092607"/>
          </a:xfrm>
          <a:prstGeom prst="rect">
            <a:avLst/>
          </a:prstGeom>
          <a:noFill/>
        </p:spPr>
        <p:txBody>
          <a:bodyPr wrap="none" rtlCol="0">
            <a:spAutoFit/>
          </a:bodyPr>
          <a:lstStyle/>
          <a:p>
            <a:r>
              <a:rPr lang="en-US" dirty="0">
                <a:latin typeface="Palatino" pitchFamily="2" charset="77"/>
                <a:ea typeface="Palatino" pitchFamily="2" charset="77"/>
              </a:rPr>
              <a:t>Takeaway:</a:t>
            </a:r>
          </a:p>
          <a:p>
            <a:pPr marL="285750" indent="-285750">
              <a:spcBef>
                <a:spcPts val="600"/>
              </a:spcBef>
              <a:buFont typeface="Arial" panose="020B0604020202020204" pitchFamily="34" charset="0"/>
              <a:buChar char="•"/>
            </a:pPr>
            <a:r>
              <a:rPr lang="en-US" sz="1200" dirty="0">
                <a:latin typeface="Palatino" pitchFamily="2" charset="77"/>
                <a:ea typeface="Palatino" pitchFamily="2" charset="77"/>
              </a:rPr>
              <a:t>GVC integration gains most: capital, intermediate</a:t>
            </a:r>
          </a:p>
          <a:p>
            <a:pPr marL="285750" indent="-285750">
              <a:spcBef>
                <a:spcPts val="600"/>
              </a:spcBef>
              <a:buFont typeface="Arial" panose="020B0604020202020204" pitchFamily="34" charset="0"/>
              <a:buChar char="•"/>
            </a:pPr>
            <a:r>
              <a:rPr lang="en-US" sz="1200" dirty="0">
                <a:latin typeface="Palatino" pitchFamily="2" charset="77"/>
                <a:ea typeface="Palatino" pitchFamily="2" charset="77"/>
              </a:rPr>
              <a:t>Not just resource-driven</a:t>
            </a:r>
          </a:p>
          <a:p>
            <a:pPr marL="285750" indent="-285750">
              <a:spcBef>
                <a:spcPts val="600"/>
              </a:spcBef>
              <a:buFont typeface="Arial" panose="020B0604020202020204" pitchFamily="34" charset="0"/>
              <a:buChar char="•"/>
            </a:pPr>
            <a:r>
              <a:rPr lang="en-US" sz="1200" dirty="0">
                <a:latin typeface="Palatino" pitchFamily="2" charset="77"/>
                <a:ea typeface="Palatino" pitchFamily="2" charset="77"/>
              </a:rPr>
              <a:t>Not just labor-suppression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0"/>
        <p:cNvGrpSpPr/>
        <p:nvPr/>
      </p:nvGrpSpPr>
      <p:grpSpPr>
        <a:xfrm>
          <a:off x="0" y="0"/>
          <a:ext cx="0" cy="0"/>
          <a:chOff x="0" y="0"/>
          <a:chExt cx="0" cy="0"/>
        </a:xfrm>
      </p:grpSpPr>
      <p:sp>
        <p:nvSpPr>
          <p:cNvPr id="271" name="Google Shape;271;p39"/>
          <p:cNvSpPr/>
          <p:nvPr/>
        </p:nvSpPr>
        <p:spPr>
          <a:xfrm>
            <a:off x="0" y="488814"/>
            <a:ext cx="9144000" cy="552300"/>
          </a:xfrm>
          <a:prstGeom prst="rect">
            <a:avLst/>
          </a:prstGeom>
          <a:solidFill>
            <a:srgbClr val="3A75D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72" name="Google Shape;272;p39"/>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A: Sectoral-level Heterogeneity</a:t>
            </a:r>
            <a:endParaRPr sz="2400" b="1" i="0" u="none" strike="noStrike" cap="none" dirty="0">
              <a:solidFill>
                <a:schemeClr val="lt1"/>
              </a:solidFill>
              <a:latin typeface="Palatino" pitchFamily="2" charset="77"/>
              <a:ea typeface="Palatino" pitchFamily="2" charset="77"/>
            </a:endParaRPr>
          </a:p>
        </p:txBody>
      </p:sp>
      <p:pic>
        <p:nvPicPr>
          <p:cNvPr id="3" name="Picture 2" descr="A collage of graphs&#10;&#10;Description automatically generated">
            <a:extLst>
              <a:ext uri="{FF2B5EF4-FFF2-40B4-BE49-F238E27FC236}">
                <a16:creationId xmlns:a16="http://schemas.microsoft.com/office/drawing/2014/main" id="{F7BD2802-D1C1-E31E-8495-368319D70967}"/>
              </a:ext>
            </a:extLst>
          </p:cNvPr>
          <p:cNvPicPr>
            <a:picLocks noChangeAspect="1"/>
          </p:cNvPicPr>
          <p:nvPr/>
        </p:nvPicPr>
        <p:blipFill>
          <a:blip r:embed="rId3"/>
          <a:stretch>
            <a:fillRect/>
          </a:stretch>
        </p:blipFill>
        <p:spPr>
          <a:xfrm>
            <a:off x="279133" y="1136117"/>
            <a:ext cx="5587808" cy="3911466"/>
          </a:xfrm>
          <a:prstGeom prst="rect">
            <a:avLst/>
          </a:prstGeom>
        </p:spPr>
      </p:pic>
      <p:sp>
        <p:nvSpPr>
          <p:cNvPr id="4" name="TextBox 3">
            <a:extLst>
              <a:ext uri="{FF2B5EF4-FFF2-40B4-BE49-F238E27FC236}">
                <a16:creationId xmlns:a16="http://schemas.microsoft.com/office/drawing/2014/main" id="{426169FD-6055-5CAF-E824-BC84828BD7D5}"/>
              </a:ext>
            </a:extLst>
          </p:cNvPr>
          <p:cNvSpPr txBox="1"/>
          <p:nvPr/>
        </p:nvSpPr>
        <p:spPr>
          <a:xfrm>
            <a:off x="6083166" y="1925053"/>
            <a:ext cx="2773516" cy="800219"/>
          </a:xfrm>
          <a:prstGeom prst="rect">
            <a:avLst/>
          </a:prstGeom>
          <a:noFill/>
        </p:spPr>
        <p:txBody>
          <a:bodyPr wrap="none" rtlCol="0">
            <a:spAutoFit/>
          </a:bodyPr>
          <a:lstStyle/>
          <a:p>
            <a:pPr marL="285750" indent="-285750">
              <a:spcBef>
                <a:spcPts val="600"/>
              </a:spcBef>
              <a:buFont typeface="Arial" panose="020B0604020202020204" pitchFamily="34" charset="0"/>
              <a:buChar char="•"/>
            </a:pPr>
            <a:r>
              <a:rPr lang="en-US" sz="1200" dirty="0">
                <a:latin typeface="Palatino" pitchFamily="2" charset="77"/>
                <a:ea typeface="Palatino" pitchFamily="2" charset="77"/>
              </a:rPr>
              <a:t>HS2 level: BACI</a:t>
            </a:r>
          </a:p>
          <a:p>
            <a:pPr marL="285750" indent="-285750">
              <a:spcBef>
                <a:spcPts val="600"/>
              </a:spcBef>
              <a:buFont typeface="Arial" panose="020B0604020202020204" pitchFamily="34" charset="0"/>
              <a:buChar char="•"/>
            </a:pPr>
            <a:r>
              <a:rPr lang="en-US" sz="1200" b="0" i="0" dirty="0">
                <a:solidFill>
                  <a:srgbClr val="0A0A0A"/>
                </a:solidFill>
                <a:effectLst/>
                <a:latin typeface="Palatino" pitchFamily="2" charset="77"/>
                <a:ea typeface="Palatino" pitchFamily="2" charset="77"/>
              </a:rPr>
              <a:t>Contract intensity — Nunn (2007)</a:t>
            </a:r>
          </a:p>
          <a:p>
            <a:pPr marL="285750" indent="-285750">
              <a:spcBef>
                <a:spcPts val="600"/>
              </a:spcBef>
              <a:buFont typeface="Arial" panose="020B0604020202020204" pitchFamily="34" charset="0"/>
              <a:buChar char="•"/>
            </a:pPr>
            <a:r>
              <a:rPr lang="en-US" sz="1200" b="0" i="0" dirty="0">
                <a:solidFill>
                  <a:srgbClr val="0A0A0A"/>
                </a:solidFill>
                <a:effectLst/>
                <a:latin typeface="Palatino" pitchFamily="2" charset="77"/>
                <a:ea typeface="Palatino" pitchFamily="2" charset="77"/>
              </a:rPr>
              <a:t>Labor intensity — NBER-CES</a:t>
            </a:r>
            <a:endParaRPr lang="en-US" sz="1200" dirty="0">
              <a:latin typeface="Palatino" pitchFamily="2" charset="77"/>
              <a:ea typeface="Palatino" pitchFamily="2" charset="77"/>
            </a:endParaRPr>
          </a:p>
        </p:txBody>
      </p:sp>
    </p:spTree>
    <p:extLst>
      <p:ext uri="{BB962C8B-B14F-4D97-AF65-F5344CB8AC3E}">
        <p14:creationId xmlns:p14="http://schemas.microsoft.com/office/powerpoint/2010/main" val="3040138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Google Shape;285;p41"/>
          <p:cNvSpPr/>
          <p:nvPr/>
        </p:nvSpPr>
        <p:spPr>
          <a:xfrm>
            <a:off x="0" y="488814"/>
            <a:ext cx="9144000" cy="552300"/>
          </a:xfrm>
          <a:prstGeom prst="rect">
            <a:avLst/>
          </a:prstGeom>
          <a:solidFill>
            <a:srgbClr val="3A75D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86" name="Google Shape;286;p41"/>
          <p:cNvSpPr txBox="1"/>
          <p:nvPr/>
        </p:nvSpPr>
        <p:spPr>
          <a:xfrm>
            <a:off x="358277" y="480008"/>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B: Case Study – India vs. China</a:t>
            </a:r>
            <a:endParaRPr sz="2400" b="1" i="0" u="none" strike="noStrike" cap="none" dirty="0">
              <a:solidFill>
                <a:schemeClr val="lt1"/>
              </a:solidFill>
              <a:latin typeface="Palatino" pitchFamily="2" charset="77"/>
              <a:ea typeface="Palatino" pitchFamily="2" charset="77"/>
            </a:endParaRPr>
          </a:p>
        </p:txBody>
      </p:sp>
      <p:sp>
        <p:nvSpPr>
          <p:cNvPr id="2" name="TextBox 1">
            <a:extLst>
              <a:ext uri="{FF2B5EF4-FFF2-40B4-BE49-F238E27FC236}">
                <a16:creationId xmlns:a16="http://schemas.microsoft.com/office/drawing/2014/main" id="{B146A819-B40E-17BA-9704-8DDCE2E5C05C}"/>
              </a:ext>
            </a:extLst>
          </p:cNvPr>
          <p:cNvSpPr txBox="1"/>
          <p:nvPr/>
        </p:nvSpPr>
        <p:spPr>
          <a:xfrm>
            <a:off x="5308902" y="1976160"/>
            <a:ext cx="3561723" cy="1631216"/>
          </a:xfrm>
          <a:prstGeom prst="rect">
            <a:avLst/>
          </a:prstGeom>
          <a:noFill/>
        </p:spPr>
        <p:txBody>
          <a:bodyPr wrap="square" rtlCol="0">
            <a:spAutoFit/>
          </a:bodyPr>
          <a:lstStyle/>
          <a:p>
            <a:r>
              <a:rPr lang="en-US" sz="1000" dirty="0">
                <a:latin typeface="Palatino" pitchFamily="2" charset="77"/>
                <a:ea typeface="Palatino" pitchFamily="2" charset="77"/>
                <a:cs typeface="Calibri" panose="020F0502020204030204" pitchFamily="34" charset="0"/>
              </a:rPr>
              <a:t>“...China’s political regime allows a gradualist approach which blended </a:t>
            </a:r>
            <a:r>
              <a:rPr lang="en-US" sz="1000" b="1" u="sng" dirty="0">
                <a:latin typeface="Palatino" pitchFamily="2" charset="77"/>
                <a:ea typeface="Palatino" pitchFamily="2" charset="77"/>
                <a:cs typeface="Calibri" panose="020F0502020204030204" pitchFamily="34" charset="0"/>
              </a:rPr>
              <a:t>state control with market</a:t>
            </a:r>
            <a:r>
              <a:rPr lang="en-US" sz="1000" dirty="0">
                <a:latin typeface="Palatino" pitchFamily="2" charset="77"/>
                <a:ea typeface="Palatino" pitchFamily="2" charset="77"/>
                <a:cs typeface="Calibri" panose="020F0502020204030204" pitchFamily="34" charset="0"/>
              </a:rPr>
              <a:t>, and </a:t>
            </a:r>
            <a:r>
              <a:rPr lang="en-US" sz="1000" b="1" u="sng" dirty="0">
                <a:latin typeface="Palatino" pitchFamily="2" charset="77"/>
                <a:ea typeface="Palatino" pitchFamily="2" charset="77"/>
                <a:cs typeface="Calibri" panose="020F0502020204030204" pitchFamily="34" charset="0"/>
              </a:rPr>
              <a:t>long-term planning </a:t>
            </a:r>
            <a:r>
              <a:rPr lang="en-US" sz="1000" dirty="0">
                <a:latin typeface="Palatino" pitchFamily="2" charset="77"/>
                <a:ea typeface="Palatino" pitchFamily="2" charset="77"/>
                <a:cs typeface="Calibri" panose="020F0502020204030204" pitchFamily="34" charset="0"/>
              </a:rPr>
              <a:t>employing economic zones and </a:t>
            </a:r>
            <a:r>
              <a:rPr lang="en-US" sz="1000" b="1" u="sng" dirty="0">
                <a:latin typeface="Palatino" pitchFamily="2" charset="77"/>
                <a:ea typeface="Palatino" pitchFamily="2" charset="77"/>
                <a:cs typeface="Calibri" panose="020F0502020204030204" pitchFamily="34" charset="0"/>
              </a:rPr>
              <a:t>industrial policies</a:t>
            </a:r>
            <a:r>
              <a:rPr lang="en-US" sz="1000" dirty="0">
                <a:latin typeface="Palatino" pitchFamily="2" charset="77"/>
                <a:ea typeface="Palatino" pitchFamily="2" charset="77"/>
                <a:cs typeface="Calibri" panose="020F0502020204030204" pitchFamily="34" charset="0"/>
              </a:rPr>
              <a:t> (Lin et al. 2003), as well as the suppression of wages…”</a:t>
            </a:r>
          </a:p>
          <a:p>
            <a:endParaRPr lang="en-US" sz="1000" dirty="0">
              <a:latin typeface="Palatino" pitchFamily="2" charset="77"/>
              <a:ea typeface="Palatino" pitchFamily="2" charset="77"/>
              <a:cs typeface="Calibri" panose="020F0502020204030204" pitchFamily="34" charset="0"/>
            </a:endParaRPr>
          </a:p>
          <a:p>
            <a:r>
              <a:rPr lang="en-US" sz="1000" dirty="0">
                <a:latin typeface="Palatino" pitchFamily="2" charset="77"/>
                <a:ea typeface="Palatino" pitchFamily="2" charset="77"/>
                <a:cs typeface="Calibri" panose="020F0502020204030204" pitchFamily="34" charset="0"/>
              </a:rPr>
              <a:t>“…India’s democratic system, though more inclusive, </a:t>
            </a:r>
            <a:r>
              <a:rPr lang="en-US" sz="1000" b="1" u="sng" dirty="0">
                <a:latin typeface="Palatino" pitchFamily="2" charset="77"/>
                <a:ea typeface="Palatino" pitchFamily="2" charset="77"/>
                <a:cs typeface="Calibri" panose="020F0502020204030204" pitchFamily="34" charset="0"/>
              </a:rPr>
              <a:t>must navigate</a:t>
            </a:r>
            <a:r>
              <a:rPr lang="en-US" sz="1000" dirty="0">
                <a:latin typeface="Palatino" pitchFamily="2" charset="77"/>
                <a:ea typeface="Palatino" pitchFamily="2" charset="77"/>
                <a:cs typeface="Calibri" panose="020F0502020204030204" pitchFamily="34" charset="0"/>
              </a:rPr>
              <a:t> coalition politics, public dissent, and legal constraints, resulting in slow decision-making and low mercantilist policies (</a:t>
            </a:r>
            <a:r>
              <a:rPr lang="en-US" sz="1000" dirty="0" err="1">
                <a:latin typeface="Palatino" pitchFamily="2" charset="77"/>
                <a:ea typeface="Palatino" pitchFamily="2" charset="77"/>
                <a:cs typeface="Calibri" panose="020F0502020204030204" pitchFamily="34" charset="0"/>
              </a:rPr>
              <a:t>Groth</a:t>
            </a:r>
            <a:r>
              <a:rPr lang="en-US" sz="1000" dirty="0">
                <a:latin typeface="Palatino" pitchFamily="2" charset="77"/>
                <a:ea typeface="Palatino" pitchFamily="2" charset="77"/>
                <a:cs typeface="Calibri" panose="020F0502020204030204" pitchFamily="34" charset="0"/>
              </a:rPr>
              <a:t> 2006)…”</a:t>
            </a:r>
          </a:p>
        </p:txBody>
      </p:sp>
      <p:sp>
        <p:nvSpPr>
          <p:cNvPr id="4" name="TextBox 3">
            <a:extLst>
              <a:ext uri="{FF2B5EF4-FFF2-40B4-BE49-F238E27FC236}">
                <a16:creationId xmlns:a16="http://schemas.microsoft.com/office/drawing/2014/main" id="{26968136-AFD0-B101-BE64-ACFBDC4B4B70}"/>
              </a:ext>
            </a:extLst>
          </p:cNvPr>
          <p:cNvSpPr txBox="1"/>
          <p:nvPr/>
        </p:nvSpPr>
        <p:spPr>
          <a:xfrm>
            <a:off x="358277" y="1350980"/>
            <a:ext cx="4570482" cy="246221"/>
          </a:xfrm>
          <a:prstGeom prst="rect">
            <a:avLst/>
          </a:prstGeom>
          <a:noFill/>
        </p:spPr>
        <p:txBody>
          <a:bodyPr wrap="none" rtlCol="0">
            <a:spAutoFit/>
          </a:bodyPr>
          <a:lstStyle/>
          <a:p>
            <a:r>
              <a:rPr lang="en-US" sz="1000" b="1" dirty="0">
                <a:latin typeface="Palatino" pitchFamily="2" charset="77"/>
                <a:ea typeface="Palatino" pitchFamily="2" charset="77"/>
              </a:rPr>
              <a:t>Baseline similar before 1980s</a:t>
            </a:r>
            <a:r>
              <a:rPr lang="en-US" sz="1000" dirty="0">
                <a:latin typeface="Palatino" pitchFamily="2" charset="77"/>
                <a:ea typeface="Palatino" pitchFamily="2" charset="77"/>
              </a:rPr>
              <a:t>: demographics, economy, trade-related geo … </a:t>
            </a:r>
          </a:p>
        </p:txBody>
      </p:sp>
      <p:pic>
        <p:nvPicPr>
          <p:cNvPr id="5" name="Picture 4" descr="A graph of the export of gdp&#10;&#10;Description automatically generated with medium confidence">
            <a:extLst>
              <a:ext uri="{FF2B5EF4-FFF2-40B4-BE49-F238E27FC236}">
                <a16:creationId xmlns:a16="http://schemas.microsoft.com/office/drawing/2014/main" id="{111E655C-C399-1A25-47A7-FFBF888ADA5F}"/>
              </a:ext>
            </a:extLst>
          </p:cNvPr>
          <p:cNvPicPr>
            <a:picLocks noChangeAspect="1"/>
          </p:cNvPicPr>
          <p:nvPr/>
        </p:nvPicPr>
        <p:blipFill>
          <a:blip r:embed="rId3"/>
          <a:stretch>
            <a:fillRect/>
          </a:stretch>
        </p:blipFill>
        <p:spPr>
          <a:xfrm>
            <a:off x="520519" y="1907067"/>
            <a:ext cx="4315244" cy="323643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Google Shape;285;p41"/>
          <p:cNvSpPr/>
          <p:nvPr/>
        </p:nvSpPr>
        <p:spPr>
          <a:xfrm>
            <a:off x="0" y="488814"/>
            <a:ext cx="9144000" cy="552300"/>
          </a:xfrm>
          <a:prstGeom prst="rect">
            <a:avLst/>
          </a:prstGeom>
          <a:solidFill>
            <a:srgbClr val="3A75D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86" name="Google Shape;286;p41"/>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C: Investor Perception: Japanese Firms</a:t>
            </a:r>
            <a:endParaRPr sz="2400" b="1" i="0" u="none" strike="noStrike" cap="none" dirty="0">
              <a:solidFill>
                <a:schemeClr val="lt1"/>
              </a:solidFill>
              <a:latin typeface="Palatino" pitchFamily="2" charset="77"/>
              <a:ea typeface="Palatino" pitchFamily="2" charset="77"/>
            </a:endParaRPr>
          </a:p>
        </p:txBody>
      </p:sp>
      <p:pic>
        <p:nvPicPr>
          <p:cNvPr id="7" name="Picture 6">
            <a:extLst>
              <a:ext uri="{FF2B5EF4-FFF2-40B4-BE49-F238E27FC236}">
                <a16:creationId xmlns:a16="http://schemas.microsoft.com/office/drawing/2014/main" id="{A7300D31-87D0-24DC-2E5D-B52EBCE68C97}"/>
              </a:ext>
            </a:extLst>
          </p:cNvPr>
          <p:cNvPicPr>
            <a:picLocks noChangeAspect="1"/>
          </p:cNvPicPr>
          <p:nvPr/>
        </p:nvPicPr>
        <p:blipFill>
          <a:blip r:embed="rId3"/>
          <a:stretch>
            <a:fillRect/>
          </a:stretch>
        </p:blipFill>
        <p:spPr>
          <a:xfrm>
            <a:off x="5062560" y="1629751"/>
            <a:ext cx="2298296" cy="884596"/>
          </a:xfrm>
          <a:prstGeom prst="rect">
            <a:avLst/>
          </a:prstGeom>
        </p:spPr>
      </p:pic>
      <p:sp>
        <p:nvSpPr>
          <p:cNvPr id="14" name="TextBox 13">
            <a:extLst>
              <a:ext uri="{FF2B5EF4-FFF2-40B4-BE49-F238E27FC236}">
                <a16:creationId xmlns:a16="http://schemas.microsoft.com/office/drawing/2014/main" id="{F85BB5CC-B7E1-E284-E99F-E00913B30CFB}"/>
              </a:ext>
            </a:extLst>
          </p:cNvPr>
          <p:cNvSpPr txBox="1"/>
          <p:nvPr/>
        </p:nvSpPr>
        <p:spPr>
          <a:xfrm>
            <a:off x="5062560" y="1305426"/>
            <a:ext cx="1577676" cy="261610"/>
          </a:xfrm>
          <a:prstGeom prst="rect">
            <a:avLst/>
          </a:prstGeom>
          <a:noFill/>
        </p:spPr>
        <p:txBody>
          <a:bodyPr wrap="none" rtlCol="0">
            <a:spAutoFit/>
          </a:bodyPr>
          <a:lstStyle/>
          <a:p>
            <a:r>
              <a:rPr lang="en-US" sz="1100" dirty="0"/>
              <a:t>JETRO survey reports</a:t>
            </a:r>
          </a:p>
        </p:txBody>
      </p:sp>
      <p:pic>
        <p:nvPicPr>
          <p:cNvPr id="15" name="Picture 14">
            <a:extLst>
              <a:ext uri="{FF2B5EF4-FFF2-40B4-BE49-F238E27FC236}">
                <a16:creationId xmlns:a16="http://schemas.microsoft.com/office/drawing/2014/main" id="{BC19886F-90A9-F223-42A5-C8BEDB3E5868}"/>
              </a:ext>
            </a:extLst>
          </p:cNvPr>
          <p:cNvPicPr>
            <a:picLocks noChangeAspect="1"/>
          </p:cNvPicPr>
          <p:nvPr/>
        </p:nvPicPr>
        <p:blipFill>
          <a:blip r:embed="rId4"/>
          <a:stretch>
            <a:fillRect/>
          </a:stretch>
        </p:blipFill>
        <p:spPr>
          <a:xfrm>
            <a:off x="257404" y="1567036"/>
            <a:ext cx="3698909" cy="2751527"/>
          </a:xfrm>
          <a:prstGeom prst="rect">
            <a:avLst/>
          </a:prstGeom>
        </p:spPr>
      </p:pic>
      <p:pic>
        <p:nvPicPr>
          <p:cNvPr id="18" name="Picture 17" descr="A graph with red and blue lines&#10;&#10;Description automatically generated">
            <a:extLst>
              <a:ext uri="{FF2B5EF4-FFF2-40B4-BE49-F238E27FC236}">
                <a16:creationId xmlns:a16="http://schemas.microsoft.com/office/drawing/2014/main" id="{F18F08AD-E7EF-27CD-AA04-0105C1C00258}"/>
              </a:ext>
            </a:extLst>
          </p:cNvPr>
          <p:cNvPicPr>
            <a:picLocks noChangeAspect="1"/>
          </p:cNvPicPr>
          <p:nvPr/>
        </p:nvPicPr>
        <p:blipFill>
          <a:blip r:embed="rId5"/>
          <a:stretch>
            <a:fillRect/>
          </a:stretch>
        </p:blipFill>
        <p:spPr>
          <a:xfrm>
            <a:off x="4910791" y="2588121"/>
            <a:ext cx="3270355" cy="2452766"/>
          </a:xfrm>
          <a:prstGeom prst="rect">
            <a:avLst/>
          </a:prstGeom>
        </p:spPr>
      </p:pic>
      <p:sp>
        <p:nvSpPr>
          <p:cNvPr id="19" name="TextBox 18">
            <a:extLst>
              <a:ext uri="{FF2B5EF4-FFF2-40B4-BE49-F238E27FC236}">
                <a16:creationId xmlns:a16="http://schemas.microsoft.com/office/drawing/2014/main" id="{7969CE47-E724-D8F2-1FE9-6C63256D3288}"/>
              </a:ext>
            </a:extLst>
          </p:cNvPr>
          <p:cNvSpPr txBox="1"/>
          <p:nvPr/>
        </p:nvSpPr>
        <p:spPr>
          <a:xfrm>
            <a:off x="367902" y="1305426"/>
            <a:ext cx="1651414" cy="276999"/>
          </a:xfrm>
          <a:prstGeom prst="rect">
            <a:avLst/>
          </a:prstGeom>
          <a:noFill/>
        </p:spPr>
        <p:txBody>
          <a:bodyPr wrap="none" rtlCol="0">
            <a:spAutoFit/>
          </a:bodyPr>
          <a:lstStyle/>
          <a:p>
            <a:r>
              <a:rPr lang="en-US" sz="1200" dirty="0">
                <a:latin typeface="Palatino" pitchFamily="2" charset="77"/>
                <a:ea typeface="Palatino" pitchFamily="2" charset="77"/>
              </a:rPr>
              <a:t>Similar 1985 baseline:</a:t>
            </a:r>
          </a:p>
        </p:txBody>
      </p:sp>
    </p:spTree>
    <p:extLst>
      <p:ext uri="{BB962C8B-B14F-4D97-AF65-F5344CB8AC3E}">
        <p14:creationId xmlns:p14="http://schemas.microsoft.com/office/powerpoint/2010/main" val="2818112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Google Shape;285;p41"/>
          <p:cNvSpPr/>
          <p:nvPr/>
        </p:nvSpPr>
        <p:spPr>
          <a:xfrm>
            <a:off x="0" y="488814"/>
            <a:ext cx="9144000" cy="552300"/>
          </a:xfrm>
          <a:prstGeom prst="rect">
            <a:avLst/>
          </a:prstGeom>
          <a:solidFill>
            <a:srgbClr val="3A75D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86" name="Google Shape;286;p41"/>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C: Investor Perception: Japanese Firms</a:t>
            </a:r>
            <a:endParaRPr sz="2400" b="1" i="0" u="none" strike="noStrike" cap="none" dirty="0">
              <a:solidFill>
                <a:schemeClr val="lt1"/>
              </a:solidFill>
              <a:latin typeface="Palatino" pitchFamily="2" charset="77"/>
              <a:ea typeface="Palatino" pitchFamily="2" charset="77"/>
            </a:endParaRPr>
          </a:p>
        </p:txBody>
      </p:sp>
      <p:sp>
        <p:nvSpPr>
          <p:cNvPr id="8" name="TextBox 7">
            <a:extLst>
              <a:ext uri="{FF2B5EF4-FFF2-40B4-BE49-F238E27FC236}">
                <a16:creationId xmlns:a16="http://schemas.microsoft.com/office/drawing/2014/main" id="{999F7CA7-7206-A553-52D3-41E2ADC806B7}"/>
              </a:ext>
            </a:extLst>
          </p:cNvPr>
          <p:cNvSpPr txBox="1"/>
          <p:nvPr/>
        </p:nvSpPr>
        <p:spPr>
          <a:xfrm>
            <a:off x="367902" y="1686441"/>
            <a:ext cx="2991315" cy="1461939"/>
          </a:xfrm>
          <a:prstGeom prst="rect">
            <a:avLst/>
          </a:prstGeom>
          <a:noFill/>
        </p:spPr>
        <p:txBody>
          <a:bodyPr wrap="square" rtlCol="0">
            <a:spAutoFit/>
          </a:bodyPr>
          <a:lstStyle/>
          <a:p>
            <a:r>
              <a:rPr lang="en-US" b="1" dirty="0">
                <a:latin typeface="Palatino" pitchFamily="2" charset="77"/>
                <a:ea typeface="Palatino" pitchFamily="2" charset="77"/>
              </a:rPr>
              <a:t>Investor Perception Analysis:</a:t>
            </a:r>
          </a:p>
          <a:p>
            <a:pPr marL="171450" indent="-171450">
              <a:spcBef>
                <a:spcPts val="600"/>
              </a:spcBef>
              <a:buFont typeface="Arial" panose="020B0604020202020204" pitchFamily="34" charset="0"/>
              <a:buChar char="•"/>
            </a:pPr>
            <a:r>
              <a:rPr lang="en-US" sz="1100" b="1" dirty="0">
                <a:latin typeface="Palatino" pitchFamily="2" charset="77"/>
                <a:ea typeface="Palatino" pitchFamily="2" charset="77"/>
              </a:rPr>
              <a:t>Media outlets</a:t>
            </a:r>
            <a:r>
              <a:rPr lang="en-US" sz="1100" dirty="0">
                <a:latin typeface="Palatino" pitchFamily="2" charset="77"/>
                <a:ea typeface="Palatino" pitchFamily="2" charset="77"/>
              </a:rPr>
              <a:t>: Nikkei, </a:t>
            </a:r>
            <a:r>
              <a:rPr lang="en-US" sz="1100" b="0" i="0" dirty="0">
                <a:solidFill>
                  <a:srgbClr val="0A0A0A"/>
                </a:solidFill>
                <a:effectLst/>
                <a:latin typeface="Palatino" pitchFamily="2" charset="77"/>
                <a:ea typeface="Palatino" pitchFamily="2" charset="77"/>
              </a:rPr>
              <a:t>Yomiuri Shimbun  </a:t>
            </a:r>
          </a:p>
          <a:p>
            <a:pPr marL="171450" indent="-171450">
              <a:spcBef>
                <a:spcPts val="600"/>
              </a:spcBef>
              <a:buFont typeface="Arial" panose="020B0604020202020204" pitchFamily="34" charset="0"/>
              <a:buChar char="•"/>
            </a:pPr>
            <a:r>
              <a:rPr lang="en-US" sz="1100" b="1" dirty="0">
                <a:solidFill>
                  <a:srgbClr val="0A0A0A"/>
                </a:solidFill>
                <a:latin typeface="Palatino" pitchFamily="2" charset="77"/>
                <a:ea typeface="Palatino" pitchFamily="2" charset="77"/>
              </a:rPr>
              <a:t>keywords</a:t>
            </a:r>
            <a:r>
              <a:rPr lang="en-US" sz="1100" dirty="0">
                <a:solidFill>
                  <a:srgbClr val="0A0A0A"/>
                </a:solidFill>
                <a:latin typeface="Palatino" pitchFamily="2" charset="77"/>
                <a:ea typeface="Palatino" pitchFamily="2" charset="77"/>
              </a:rPr>
              <a:t>: invest* and </a:t>
            </a:r>
            <a:r>
              <a:rPr lang="en-US" sz="1100" dirty="0" err="1">
                <a:solidFill>
                  <a:srgbClr val="0A0A0A"/>
                </a:solidFill>
                <a:latin typeface="Palatino" pitchFamily="2" charset="77"/>
                <a:ea typeface="Palatino" pitchFamily="2" charset="77"/>
              </a:rPr>
              <a:t>countryname</a:t>
            </a:r>
            <a:r>
              <a:rPr lang="en-US" sz="1100" dirty="0">
                <a:solidFill>
                  <a:srgbClr val="0A0A0A"/>
                </a:solidFill>
                <a:latin typeface="Palatino" pitchFamily="2" charset="77"/>
                <a:ea typeface="Palatino" pitchFamily="2" charset="77"/>
              </a:rPr>
              <a:t> (10,000+ articles)</a:t>
            </a:r>
            <a:endParaRPr lang="en-US" sz="1100" b="0" i="0" dirty="0">
              <a:solidFill>
                <a:srgbClr val="0A0A0A"/>
              </a:solidFill>
              <a:effectLst/>
              <a:latin typeface="Palatino" pitchFamily="2" charset="77"/>
              <a:ea typeface="Palatino" pitchFamily="2" charset="77"/>
            </a:endParaRPr>
          </a:p>
          <a:p>
            <a:pPr marL="171450" indent="-171450">
              <a:spcBef>
                <a:spcPts val="600"/>
              </a:spcBef>
              <a:buFont typeface="Arial" panose="020B0604020202020204" pitchFamily="34" charset="0"/>
              <a:buChar char="•"/>
            </a:pPr>
            <a:r>
              <a:rPr lang="en-US" sz="1100" b="1" dirty="0">
                <a:latin typeface="Palatino" pitchFamily="2" charset="77"/>
                <a:ea typeface="Palatino" pitchFamily="2" charset="77"/>
              </a:rPr>
              <a:t>LLM</a:t>
            </a:r>
            <a:r>
              <a:rPr lang="en-US" sz="1100" dirty="0">
                <a:latin typeface="Palatino" pitchFamily="2" charset="77"/>
                <a:ea typeface="Palatino" pitchFamily="2" charset="77"/>
              </a:rPr>
              <a:t>: GPT (w/ human validation)</a:t>
            </a:r>
          </a:p>
          <a:p>
            <a:pPr marL="171450" indent="-171450">
              <a:spcBef>
                <a:spcPts val="600"/>
              </a:spcBef>
              <a:buFont typeface="Arial" panose="020B0604020202020204" pitchFamily="34" charset="0"/>
              <a:buChar char="•"/>
            </a:pPr>
            <a:r>
              <a:rPr lang="en-US" sz="1100" b="1" dirty="0">
                <a:latin typeface="Palatino" pitchFamily="2" charset="77"/>
                <a:ea typeface="Palatino" pitchFamily="2" charset="77"/>
              </a:rPr>
              <a:t>Controls</a:t>
            </a:r>
            <a:r>
              <a:rPr lang="en-US" sz="1100" dirty="0">
                <a:latin typeface="Palatino" pitchFamily="2" charset="77"/>
                <a:ea typeface="Palatino" pitchFamily="2" charset="77"/>
              </a:rPr>
              <a:t>: sector, outlet, year, article length</a:t>
            </a:r>
          </a:p>
        </p:txBody>
      </p:sp>
      <p:pic>
        <p:nvPicPr>
          <p:cNvPr id="9" name="Picture 8" descr="A graph of a chart&#10;&#10;Description automatically generated with medium confidence">
            <a:extLst>
              <a:ext uri="{FF2B5EF4-FFF2-40B4-BE49-F238E27FC236}">
                <a16:creationId xmlns:a16="http://schemas.microsoft.com/office/drawing/2014/main" id="{B321CFD0-8522-7695-D947-DEBD30B60FB4}"/>
              </a:ext>
            </a:extLst>
          </p:cNvPr>
          <p:cNvPicPr>
            <a:picLocks noChangeAspect="1"/>
          </p:cNvPicPr>
          <p:nvPr/>
        </p:nvPicPr>
        <p:blipFill>
          <a:blip r:embed="rId3"/>
          <a:stretch>
            <a:fillRect/>
          </a:stretch>
        </p:blipFill>
        <p:spPr>
          <a:xfrm>
            <a:off x="3705727" y="1274676"/>
            <a:ext cx="4769427" cy="3747407"/>
          </a:xfrm>
          <a:prstGeom prst="rect">
            <a:avLst/>
          </a:prstGeom>
        </p:spPr>
      </p:pic>
    </p:spTree>
    <p:extLst>
      <p:ext uri="{BB962C8B-B14F-4D97-AF65-F5344CB8AC3E}">
        <p14:creationId xmlns:p14="http://schemas.microsoft.com/office/powerpoint/2010/main" val="1865779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2"/>
        <p:cNvGrpSpPr/>
        <p:nvPr/>
      </p:nvGrpSpPr>
      <p:grpSpPr>
        <a:xfrm>
          <a:off x="0" y="0"/>
          <a:ext cx="0" cy="0"/>
          <a:chOff x="0" y="0"/>
          <a:chExt cx="0" cy="0"/>
        </a:xfrm>
      </p:grpSpPr>
      <p:sp>
        <p:nvSpPr>
          <p:cNvPr id="293" name="Google Shape;293;p42"/>
          <p:cNvSpPr/>
          <p:nvPr/>
        </p:nvSpPr>
        <p:spPr>
          <a:xfrm>
            <a:off x="0" y="488814"/>
            <a:ext cx="9144000" cy="552300"/>
          </a:xfrm>
          <a:prstGeom prst="rect">
            <a:avLst/>
          </a:prstGeom>
          <a:solidFill>
            <a:srgbClr val="3A75D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94" name="Google Shape;294;p42"/>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Competing Theories</a:t>
            </a:r>
            <a:endParaRPr sz="2400" b="1" i="0" u="none" strike="noStrike" cap="none" dirty="0">
              <a:solidFill>
                <a:schemeClr val="lt1"/>
              </a:solidFill>
              <a:latin typeface="Palatino" pitchFamily="2" charset="77"/>
              <a:ea typeface="Palatino" pitchFamily="2" charset="77"/>
            </a:endParaRPr>
          </a:p>
        </p:txBody>
      </p:sp>
      <p:sp>
        <p:nvSpPr>
          <p:cNvPr id="295" name="Google Shape;295;p42"/>
          <p:cNvSpPr txBox="1"/>
          <p:nvPr/>
        </p:nvSpPr>
        <p:spPr>
          <a:xfrm>
            <a:off x="439350" y="1158739"/>
            <a:ext cx="6561600" cy="3602100"/>
          </a:xfrm>
          <a:prstGeom prst="rect">
            <a:avLst/>
          </a:prstGeom>
          <a:noFill/>
          <a:ln>
            <a:noFill/>
          </a:ln>
        </p:spPr>
        <p:txBody>
          <a:bodyPr spcFirstLastPara="1" wrap="square" lIns="91425" tIns="91425" rIns="91425" bIns="91425" anchor="t" anchorCtr="0">
            <a:noAutofit/>
          </a:bodyPr>
          <a:lstStyle/>
          <a:p>
            <a:pPr marL="285750" lvl="0" indent="-285750" algn="l" rtl="0">
              <a:lnSpc>
                <a:spcPct val="150000"/>
              </a:lnSpc>
              <a:spcBef>
                <a:spcPts val="0"/>
              </a:spcBef>
              <a:spcAft>
                <a:spcPts val="0"/>
              </a:spcAft>
              <a:buFont typeface="Wingdings" pitchFamily="2" charset="2"/>
              <a:buChar char="§"/>
            </a:pPr>
            <a:r>
              <a:rPr lang="en-US" dirty="0">
                <a:solidFill>
                  <a:schemeClr val="dk1"/>
                </a:solidFill>
                <a:latin typeface="Palatino" pitchFamily="2" charset="77"/>
                <a:ea typeface="Palatino" pitchFamily="2" charset="77"/>
                <a:cs typeface="Calibri" panose="020F0502020204030204" pitchFamily="34" charset="0"/>
              </a:rPr>
              <a:t>Selection bias?</a:t>
            </a:r>
          </a:p>
          <a:p>
            <a:pPr marL="285750" lvl="0" indent="-285750" algn="l" rtl="0">
              <a:lnSpc>
                <a:spcPct val="150000"/>
              </a:lnSpc>
              <a:spcBef>
                <a:spcPts val="0"/>
              </a:spcBef>
              <a:spcAft>
                <a:spcPts val="0"/>
              </a:spcAft>
              <a:buFont typeface="Wingdings" pitchFamily="2" charset="2"/>
              <a:buChar char="§"/>
            </a:pPr>
            <a:r>
              <a:rPr lang="en-US" dirty="0">
                <a:solidFill>
                  <a:schemeClr val="dk1"/>
                </a:solidFill>
                <a:latin typeface="Palatino" pitchFamily="2" charset="77"/>
                <a:ea typeface="Palatino" pitchFamily="2" charset="77"/>
                <a:cs typeface="Calibri" panose="020F0502020204030204" pitchFamily="34" charset="0"/>
              </a:rPr>
              <a:t>Catch-up story?</a:t>
            </a:r>
          </a:p>
          <a:p>
            <a:pPr marL="285750" lvl="0" indent="-285750" algn="l" rtl="0">
              <a:lnSpc>
                <a:spcPct val="150000"/>
              </a:lnSpc>
              <a:spcBef>
                <a:spcPts val="0"/>
              </a:spcBef>
              <a:spcAft>
                <a:spcPts val="0"/>
              </a:spcAft>
              <a:buFont typeface="Wingdings" pitchFamily="2" charset="2"/>
              <a:buChar char="§"/>
            </a:pPr>
            <a:r>
              <a:rPr lang="en-US" dirty="0">
                <a:solidFill>
                  <a:schemeClr val="dk1"/>
                </a:solidFill>
                <a:latin typeface="Palatino" pitchFamily="2" charset="77"/>
                <a:ea typeface="Palatino" pitchFamily="2" charset="77"/>
                <a:cs typeface="Calibri" panose="020F0502020204030204" pitchFamily="34" charset="0"/>
              </a:rPr>
              <a:t>Importing credibility?</a:t>
            </a:r>
          </a:p>
          <a:p>
            <a:pPr marL="285750" lvl="0" indent="-285750" algn="l" rtl="0">
              <a:lnSpc>
                <a:spcPct val="150000"/>
              </a:lnSpc>
              <a:spcBef>
                <a:spcPts val="0"/>
              </a:spcBef>
              <a:spcAft>
                <a:spcPts val="0"/>
              </a:spcAft>
              <a:buFont typeface="Wingdings" pitchFamily="2" charset="2"/>
              <a:buChar char="§"/>
            </a:pPr>
            <a:r>
              <a:rPr lang="en-US" dirty="0">
                <a:solidFill>
                  <a:schemeClr val="dk1"/>
                </a:solidFill>
                <a:latin typeface="Palatino" pitchFamily="2" charset="77"/>
                <a:ea typeface="Palatino" pitchFamily="2" charset="77"/>
                <a:cs typeface="Calibri" panose="020F0502020204030204" pitchFamily="34" charset="0"/>
              </a:rPr>
              <a:t>State capacity?</a:t>
            </a:r>
          </a:p>
          <a:p>
            <a:pPr marL="285750" lvl="0" indent="-285750" algn="l" rtl="0">
              <a:lnSpc>
                <a:spcPct val="150000"/>
              </a:lnSpc>
              <a:spcBef>
                <a:spcPts val="0"/>
              </a:spcBef>
              <a:spcAft>
                <a:spcPts val="0"/>
              </a:spcAft>
              <a:buFont typeface="Wingdings" pitchFamily="2" charset="2"/>
              <a:buChar char="§"/>
            </a:pPr>
            <a:r>
              <a:rPr lang="en-US" dirty="0">
                <a:solidFill>
                  <a:schemeClr val="dk1"/>
                </a:solidFill>
                <a:latin typeface="Palatino" pitchFamily="2" charset="77"/>
                <a:ea typeface="Palatino" pitchFamily="2" charset="77"/>
                <a:cs typeface="Calibri" panose="020F0502020204030204" pitchFamily="34" charset="0"/>
              </a:rPr>
              <a:t>Democracy-autocracy trade before 1990?</a:t>
            </a:r>
          </a:p>
          <a:p>
            <a:pPr marL="285750" lvl="0" indent="-285750" algn="l" rtl="0">
              <a:lnSpc>
                <a:spcPct val="150000"/>
              </a:lnSpc>
              <a:spcBef>
                <a:spcPts val="0"/>
              </a:spcBef>
              <a:spcAft>
                <a:spcPts val="0"/>
              </a:spcAft>
              <a:buFont typeface="Wingdings" pitchFamily="2" charset="2"/>
              <a:buChar char="§"/>
            </a:pPr>
            <a:r>
              <a:rPr lang="en-US" dirty="0">
                <a:solidFill>
                  <a:schemeClr val="dk1"/>
                </a:solidFill>
                <a:latin typeface="Palatino" pitchFamily="2" charset="77"/>
                <a:ea typeface="Palatino" pitchFamily="2" charset="77"/>
                <a:cs typeface="Calibri" panose="020F0502020204030204" pitchFamily="34" charset="0"/>
              </a:rPr>
              <a:t>Back-and-forth in GVC?</a:t>
            </a:r>
          </a:p>
          <a:p>
            <a:pPr marL="285750" lvl="0" indent="-285750" algn="l" rtl="0">
              <a:lnSpc>
                <a:spcPct val="150000"/>
              </a:lnSpc>
              <a:spcBef>
                <a:spcPts val="0"/>
              </a:spcBef>
              <a:spcAft>
                <a:spcPts val="0"/>
              </a:spcAft>
              <a:buFont typeface="Wingdings" pitchFamily="2" charset="2"/>
              <a:buChar char="§"/>
            </a:pPr>
            <a:r>
              <a:rPr lang="en-US" dirty="0">
                <a:solidFill>
                  <a:schemeClr val="dk1"/>
                </a:solidFill>
                <a:latin typeface="Palatino" pitchFamily="2" charset="77"/>
                <a:ea typeface="Palatino" pitchFamily="2" charset="77"/>
                <a:cs typeface="Calibri" panose="020F0502020204030204" pitchFamily="34" charset="0"/>
              </a:rPr>
              <a:t>Commodity boom?</a:t>
            </a:r>
          </a:p>
          <a:p>
            <a:pPr marL="285750" lvl="0" indent="-285750" algn="l" rtl="0">
              <a:lnSpc>
                <a:spcPct val="150000"/>
              </a:lnSpc>
              <a:spcBef>
                <a:spcPts val="0"/>
              </a:spcBef>
              <a:spcAft>
                <a:spcPts val="0"/>
              </a:spcAft>
              <a:buFont typeface="Wingdings" pitchFamily="2" charset="2"/>
              <a:buChar char="§"/>
            </a:pPr>
            <a:r>
              <a:rPr lang="en-US" dirty="0">
                <a:solidFill>
                  <a:schemeClr val="dk1"/>
                </a:solidFill>
                <a:latin typeface="Palatino" pitchFamily="2" charset="77"/>
                <a:ea typeface="Palatino" pitchFamily="2" charset="77"/>
                <a:cs typeface="Calibri" panose="020F0502020204030204" pitchFamily="34" charset="0"/>
              </a:rPr>
              <a:t>MFN status?</a:t>
            </a:r>
          </a:p>
          <a:p>
            <a:pPr marL="285750" lvl="0" indent="-285750" algn="l" rtl="0">
              <a:lnSpc>
                <a:spcPct val="150000"/>
              </a:lnSpc>
              <a:spcBef>
                <a:spcPts val="0"/>
              </a:spcBef>
              <a:spcAft>
                <a:spcPts val="0"/>
              </a:spcAft>
              <a:buFont typeface="Wingdings" pitchFamily="2" charset="2"/>
              <a:buChar char="§"/>
            </a:pPr>
            <a:r>
              <a:rPr lang="en-US" dirty="0">
                <a:solidFill>
                  <a:schemeClr val="dk1"/>
                </a:solidFill>
                <a:latin typeface="Palatino" pitchFamily="2" charset="77"/>
                <a:ea typeface="Palatino" pitchFamily="2" charset="77"/>
                <a:cs typeface="Calibri" panose="020F0502020204030204" pitchFamily="34" charset="0"/>
              </a:rPr>
              <a:t>FDI?</a:t>
            </a:r>
          </a:p>
          <a:p>
            <a:pPr marL="0" lvl="0" indent="0" algn="l" rtl="0">
              <a:spcBef>
                <a:spcPts val="0"/>
              </a:spcBef>
              <a:spcAft>
                <a:spcPts val="0"/>
              </a:spcAft>
              <a:buNone/>
            </a:pPr>
            <a:endParaRPr dirty="0">
              <a:solidFill>
                <a:schemeClr val="dk1"/>
              </a:solidFill>
              <a:latin typeface="Palatino" pitchFamily="2" charset="77"/>
              <a:ea typeface="Palatino" pitchFamily="2" charset="77"/>
              <a:cs typeface="Calibri" panose="020F0502020204030204" pitchFamily="34" charset="0"/>
            </a:endParaRPr>
          </a:p>
          <a:p>
            <a:pPr marL="0" lvl="0" indent="0" algn="l" rtl="0">
              <a:spcBef>
                <a:spcPts val="0"/>
              </a:spcBef>
              <a:spcAft>
                <a:spcPts val="0"/>
              </a:spcAft>
              <a:buNone/>
            </a:pPr>
            <a:endParaRPr dirty="0">
              <a:solidFill>
                <a:schemeClr val="dk1"/>
              </a:solidFill>
              <a:latin typeface="Palatino" pitchFamily="2" charset="77"/>
              <a:ea typeface="Palatino" pitchFamily="2" charset="77"/>
              <a:cs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9"/>
        <p:cNvGrpSpPr/>
        <p:nvPr/>
      </p:nvGrpSpPr>
      <p:grpSpPr>
        <a:xfrm>
          <a:off x="0" y="0"/>
          <a:ext cx="0" cy="0"/>
          <a:chOff x="0" y="0"/>
          <a:chExt cx="0" cy="0"/>
        </a:xfrm>
      </p:grpSpPr>
      <p:sp>
        <p:nvSpPr>
          <p:cNvPr id="300" name="Google Shape;300;p43"/>
          <p:cNvSpPr/>
          <p:nvPr/>
        </p:nvSpPr>
        <p:spPr>
          <a:xfrm>
            <a:off x="0" y="488814"/>
            <a:ext cx="9144000" cy="552300"/>
          </a:xfrm>
          <a:prstGeom prst="rect">
            <a:avLst/>
          </a:prstGeom>
          <a:solidFill>
            <a:srgbClr val="3A75D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301" name="Google Shape;301;p43"/>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latin typeface="Palatino" pitchFamily="2" charset="77"/>
                <a:ea typeface="Palatino" pitchFamily="2" charset="77"/>
              </a:rPr>
              <a:t>Conclusion</a:t>
            </a:r>
            <a:endParaRPr sz="2400" b="1" i="0" u="none" strike="noStrike" cap="none" dirty="0">
              <a:solidFill>
                <a:schemeClr val="lt1"/>
              </a:solidFill>
              <a:latin typeface="Palatino" pitchFamily="2" charset="77"/>
              <a:ea typeface="Palatino" pitchFamily="2" charset="77"/>
            </a:endParaRPr>
          </a:p>
        </p:txBody>
      </p:sp>
      <p:sp>
        <p:nvSpPr>
          <p:cNvPr id="302" name="Google Shape;302;p43"/>
          <p:cNvSpPr txBox="1"/>
          <p:nvPr/>
        </p:nvSpPr>
        <p:spPr>
          <a:xfrm>
            <a:off x="367902" y="1191427"/>
            <a:ext cx="9144000" cy="3410100"/>
          </a:xfrm>
          <a:prstGeom prst="rect">
            <a:avLst/>
          </a:prstGeom>
          <a:noFill/>
          <a:ln>
            <a:noFill/>
          </a:ln>
        </p:spPr>
        <p:txBody>
          <a:bodyPr spcFirstLastPara="1" wrap="square" lIns="91425" tIns="91425" rIns="91425" bIns="91425" anchor="t" anchorCtr="0">
            <a:noAutofit/>
          </a:bodyPr>
          <a:lstStyle/>
          <a:p>
            <a:pPr marL="457200" lvl="8" indent="-317500">
              <a:spcBef>
                <a:spcPts val="1000"/>
              </a:spcBef>
              <a:buClr>
                <a:schemeClr val="dk1"/>
              </a:buClr>
              <a:buSzPts val="1400"/>
              <a:buFont typeface="Wingdings" pitchFamily="2" charset="2"/>
              <a:buChar char="§"/>
            </a:pPr>
            <a:r>
              <a:rPr lang="en-US" sz="1600" dirty="0">
                <a:solidFill>
                  <a:schemeClr val="dk1"/>
                </a:solidFill>
                <a:latin typeface="Palatino" pitchFamily="2" charset="77"/>
                <a:ea typeface="Palatino" pitchFamily="2" charset="77"/>
                <a:cs typeface="Calibri" panose="020F0502020204030204" pitchFamily="34" charset="0"/>
              </a:rPr>
              <a:t>A </a:t>
            </a:r>
            <a:r>
              <a:rPr lang="en-US" sz="1600" b="1" dirty="0">
                <a:solidFill>
                  <a:schemeClr val="dk1"/>
                </a:solidFill>
                <a:latin typeface="Palatino" pitchFamily="2" charset="77"/>
                <a:ea typeface="Palatino" pitchFamily="2" charset="77"/>
                <a:cs typeface="Calibri" panose="020F0502020204030204" pitchFamily="34" charset="0"/>
              </a:rPr>
              <a:t>theory</a:t>
            </a:r>
            <a:r>
              <a:rPr lang="en-US" sz="1600" dirty="0">
                <a:solidFill>
                  <a:schemeClr val="dk1"/>
                </a:solidFill>
                <a:latin typeface="Palatino" pitchFamily="2" charset="77"/>
                <a:ea typeface="Palatino" pitchFamily="2" charset="77"/>
                <a:cs typeface="Calibri" panose="020F0502020204030204" pitchFamily="34" charset="0"/>
              </a:rPr>
              <a:t> explaining unexpected autocratic rise (engaged reformer)</a:t>
            </a:r>
          </a:p>
          <a:p>
            <a:pPr marL="457200" lvl="0" indent="-317500">
              <a:spcBef>
                <a:spcPts val="1000"/>
              </a:spcBef>
              <a:buClr>
                <a:schemeClr val="dk1"/>
              </a:buClr>
              <a:buSzPts val="1400"/>
              <a:buFont typeface="Wingdings" pitchFamily="2" charset="2"/>
              <a:buChar char="§"/>
            </a:pPr>
            <a:r>
              <a:rPr lang="en-US" sz="1600" dirty="0">
                <a:solidFill>
                  <a:schemeClr val="dk1"/>
                </a:solidFill>
                <a:latin typeface="Palatino" pitchFamily="2" charset="77"/>
                <a:ea typeface="Palatino" pitchFamily="2" charset="77"/>
                <a:cs typeface="Calibri" panose="020F0502020204030204" pitchFamily="34" charset="0"/>
              </a:rPr>
              <a:t>A </a:t>
            </a:r>
            <a:r>
              <a:rPr lang="en-US" sz="1600" b="1" dirty="0">
                <a:solidFill>
                  <a:schemeClr val="dk1"/>
                </a:solidFill>
                <a:latin typeface="Palatino" pitchFamily="2" charset="77"/>
                <a:ea typeface="Palatino" pitchFamily="2" charset="77"/>
                <a:cs typeface="Calibri" panose="020F0502020204030204" pitchFamily="34" charset="0"/>
              </a:rPr>
              <a:t>systemic</a:t>
            </a:r>
            <a:r>
              <a:rPr lang="en-US" sz="1600" dirty="0">
                <a:solidFill>
                  <a:schemeClr val="dk1"/>
                </a:solidFill>
                <a:latin typeface="Palatino" pitchFamily="2" charset="77"/>
                <a:ea typeface="Palatino" pitchFamily="2" charset="77"/>
                <a:cs typeface="Calibri" panose="020F0502020204030204" pitchFamily="34" charset="0"/>
              </a:rPr>
              <a:t> assessment of neoliberal globalization ⇒ </a:t>
            </a:r>
            <a:r>
              <a:rPr lang="en-US" sz="1600" b="1" dirty="0">
                <a:solidFill>
                  <a:schemeClr val="dk1"/>
                </a:solidFill>
                <a:latin typeface="Palatino" pitchFamily="2" charset="77"/>
                <a:ea typeface="Palatino" pitchFamily="2" charset="77"/>
                <a:cs typeface="Calibri" panose="020F0502020204030204" pitchFamily="34" charset="0"/>
              </a:rPr>
              <a:t>external/contextual factor</a:t>
            </a:r>
            <a:endParaRPr lang="en-US" sz="1600" dirty="0">
              <a:solidFill>
                <a:schemeClr val="dk1"/>
              </a:solidFill>
              <a:latin typeface="Palatino" pitchFamily="2" charset="77"/>
              <a:ea typeface="Palatino" pitchFamily="2" charset="77"/>
              <a:cs typeface="Calibri" panose="020F0502020204030204" pitchFamily="34" charset="0"/>
            </a:endParaRPr>
          </a:p>
          <a:p>
            <a:pPr marL="457200" lvl="0" indent="-317500" algn="l" rtl="0">
              <a:lnSpc>
                <a:spcPct val="100000"/>
              </a:lnSpc>
              <a:spcBef>
                <a:spcPts val="1000"/>
              </a:spcBef>
              <a:spcAft>
                <a:spcPts val="0"/>
              </a:spcAft>
              <a:buClr>
                <a:schemeClr val="dk1"/>
              </a:buClr>
              <a:buSzPts val="1400"/>
              <a:buFont typeface="Wingdings" pitchFamily="2" charset="2"/>
              <a:buChar char="§"/>
            </a:pPr>
            <a:r>
              <a:rPr lang="en-US" sz="1600" b="1" dirty="0">
                <a:solidFill>
                  <a:schemeClr val="dk1"/>
                </a:solidFill>
                <a:latin typeface="Palatino" pitchFamily="2" charset="77"/>
                <a:ea typeface="Palatino" pitchFamily="2" charset="77"/>
                <a:cs typeface="Calibri" panose="020F0502020204030204" pitchFamily="34" charset="0"/>
              </a:rPr>
              <a:t>No pessimism</a:t>
            </a:r>
            <a:r>
              <a:rPr lang="en-US" sz="1600" dirty="0">
                <a:solidFill>
                  <a:schemeClr val="dk1"/>
                </a:solidFill>
                <a:latin typeface="Palatino" pitchFamily="2" charset="77"/>
                <a:ea typeface="Palatino" pitchFamily="2" charset="77"/>
                <a:cs typeface="Calibri" panose="020F0502020204030204" pitchFamily="34" charset="0"/>
              </a:rPr>
              <a:t>: free trade/globalization not inherently wrong (if meeting assumptions)</a:t>
            </a:r>
          </a:p>
          <a:p>
            <a:pPr marL="139700" lvl="0" algn="l" rtl="0">
              <a:lnSpc>
                <a:spcPct val="100000"/>
              </a:lnSpc>
              <a:spcBef>
                <a:spcPts val="1000"/>
              </a:spcBef>
              <a:spcAft>
                <a:spcPts val="0"/>
              </a:spcAft>
              <a:buClr>
                <a:schemeClr val="dk1"/>
              </a:buClr>
              <a:buSzPts val="1400"/>
            </a:pPr>
            <a:endParaRPr lang="en-US" sz="1600" dirty="0">
              <a:solidFill>
                <a:schemeClr val="dk1"/>
              </a:solidFill>
              <a:latin typeface="Palatino" pitchFamily="2" charset="77"/>
              <a:ea typeface="Palatino" pitchFamily="2" charset="77"/>
              <a:cs typeface="Calibri" panose="020F0502020204030204" pitchFamily="34" charset="0"/>
            </a:endParaRPr>
          </a:p>
        </p:txBody>
      </p:sp>
      <p:sp>
        <p:nvSpPr>
          <p:cNvPr id="2" name="TextBox 1">
            <a:extLst>
              <a:ext uri="{FF2B5EF4-FFF2-40B4-BE49-F238E27FC236}">
                <a16:creationId xmlns:a16="http://schemas.microsoft.com/office/drawing/2014/main" id="{5B46117D-A526-8DBF-A01A-B148680B4AA4}"/>
              </a:ext>
            </a:extLst>
          </p:cNvPr>
          <p:cNvSpPr txBox="1"/>
          <p:nvPr/>
        </p:nvSpPr>
        <p:spPr>
          <a:xfrm>
            <a:off x="6936072" y="4339917"/>
            <a:ext cx="2097049" cy="523220"/>
          </a:xfrm>
          <a:prstGeom prst="rect">
            <a:avLst/>
          </a:prstGeom>
          <a:noFill/>
        </p:spPr>
        <p:txBody>
          <a:bodyPr wrap="none" rtlCol="0">
            <a:spAutoFit/>
          </a:bodyPr>
          <a:lstStyle/>
          <a:p>
            <a:r>
              <a:rPr lang="en-US" dirty="0"/>
              <a:t>Thank you!</a:t>
            </a:r>
          </a:p>
          <a:p>
            <a:r>
              <a:rPr lang="en-US" dirty="0" err="1"/>
              <a:t>gyean@fas.harvard.edu</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CB50AF-FA0E-C1A9-2EED-F99375BDCBBB}"/>
              </a:ext>
            </a:extLst>
          </p:cNvPr>
          <p:cNvSpPr txBox="1"/>
          <p:nvPr/>
        </p:nvSpPr>
        <p:spPr>
          <a:xfrm>
            <a:off x="953813" y="945932"/>
            <a:ext cx="7772401" cy="646331"/>
          </a:xfrm>
          <a:prstGeom prst="rect">
            <a:avLst/>
          </a:prstGeom>
          <a:noFill/>
        </p:spPr>
        <p:txBody>
          <a:bodyPr wrap="square" rtlCol="0">
            <a:spAutoFit/>
          </a:bodyPr>
          <a:lstStyle/>
          <a:p>
            <a:r>
              <a:rPr lang="en-US" sz="1800" b="1" i="1" dirty="0">
                <a:latin typeface="Palatino" pitchFamily="2" charset="77"/>
                <a:ea typeface="Palatino" pitchFamily="2" charset="77"/>
              </a:rPr>
              <a:t>Dissertation project</a:t>
            </a:r>
            <a:r>
              <a:rPr lang="en-US" sz="1800" dirty="0">
                <a:latin typeface="Palatino" pitchFamily="2" charset="77"/>
                <a:ea typeface="Palatino" pitchFamily="2" charset="77"/>
              </a:rPr>
              <a:t>: Institutional Mismatch </a:t>
            </a:r>
            <a:r>
              <a:rPr lang="en-US" sz="1800" dirty="0">
                <a:latin typeface="Palatino" pitchFamily="2" charset="77"/>
                <a:ea typeface="Palatino" pitchFamily="2" charset="77"/>
                <a:sym typeface="Wingdings" pitchFamily="2" charset="2"/>
              </a:rPr>
              <a:t> what went wrong?</a:t>
            </a:r>
            <a:br>
              <a:rPr lang="en-US" sz="1800" dirty="0">
                <a:latin typeface="Palatino" pitchFamily="2" charset="77"/>
                <a:ea typeface="Palatino" pitchFamily="2" charset="77"/>
              </a:rPr>
            </a:br>
            <a:endParaRPr lang="en-US" sz="1800" dirty="0">
              <a:latin typeface="Palatino" pitchFamily="2" charset="77"/>
              <a:ea typeface="Palatino" pitchFamily="2" charset="77"/>
            </a:endParaRPr>
          </a:p>
        </p:txBody>
      </p:sp>
      <p:pic>
        <p:nvPicPr>
          <p:cNvPr id="3" name="Picture 2">
            <a:extLst>
              <a:ext uri="{FF2B5EF4-FFF2-40B4-BE49-F238E27FC236}">
                <a16:creationId xmlns:a16="http://schemas.microsoft.com/office/drawing/2014/main" id="{8648D4AD-CA01-355E-D45B-483DCE0935B4}"/>
              </a:ext>
            </a:extLst>
          </p:cNvPr>
          <p:cNvPicPr>
            <a:picLocks noChangeAspect="1"/>
          </p:cNvPicPr>
          <p:nvPr/>
        </p:nvPicPr>
        <p:blipFill>
          <a:blip r:embed="rId3"/>
          <a:stretch>
            <a:fillRect/>
          </a:stretch>
        </p:blipFill>
        <p:spPr>
          <a:xfrm>
            <a:off x="1555683" y="1424647"/>
            <a:ext cx="6032634" cy="3345830"/>
          </a:xfrm>
          <a:prstGeom prst="rect">
            <a:avLst/>
          </a:prstGeom>
        </p:spPr>
      </p:pic>
    </p:spTree>
    <p:extLst>
      <p:ext uri="{BB962C8B-B14F-4D97-AF65-F5344CB8AC3E}">
        <p14:creationId xmlns:p14="http://schemas.microsoft.com/office/powerpoint/2010/main" val="7644343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2"/>
        <p:cNvGrpSpPr/>
        <p:nvPr/>
      </p:nvGrpSpPr>
      <p:grpSpPr>
        <a:xfrm>
          <a:off x="0" y="0"/>
          <a:ext cx="0" cy="0"/>
          <a:chOff x="0" y="0"/>
          <a:chExt cx="0" cy="0"/>
        </a:xfrm>
      </p:grpSpPr>
      <p:sp>
        <p:nvSpPr>
          <p:cNvPr id="243" name="Google Shape;243;p35"/>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44" name="Google Shape;244;p35"/>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a:solidFill>
                  <a:schemeClr val="lt1"/>
                </a:solidFill>
              </a:rPr>
              <a:t>Result 2.1: Inst. Reform</a:t>
            </a:r>
            <a:endParaRPr sz="2400" b="1" i="0" u="none" strike="noStrike" cap="none">
              <a:solidFill>
                <a:schemeClr val="lt1"/>
              </a:solidFill>
            </a:endParaRPr>
          </a:p>
        </p:txBody>
      </p:sp>
      <p:pic>
        <p:nvPicPr>
          <p:cNvPr id="245" name="Google Shape;245;p35"/>
          <p:cNvPicPr preferRelativeResize="0"/>
          <p:nvPr/>
        </p:nvPicPr>
        <p:blipFill>
          <a:blip r:embed="rId3">
            <a:alphaModFix/>
          </a:blip>
          <a:stretch>
            <a:fillRect/>
          </a:stretch>
        </p:blipFill>
        <p:spPr>
          <a:xfrm>
            <a:off x="827875" y="1430100"/>
            <a:ext cx="6838526" cy="34063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9"/>
        <p:cNvGrpSpPr/>
        <p:nvPr/>
      </p:nvGrpSpPr>
      <p:grpSpPr>
        <a:xfrm>
          <a:off x="0" y="0"/>
          <a:ext cx="0" cy="0"/>
          <a:chOff x="0" y="0"/>
          <a:chExt cx="0" cy="0"/>
        </a:xfrm>
      </p:grpSpPr>
      <p:sp>
        <p:nvSpPr>
          <p:cNvPr id="250" name="Google Shape;250;p36"/>
          <p:cNvSpPr/>
          <p:nvPr/>
        </p:nvSpPr>
        <p:spPr>
          <a:xfrm>
            <a:off x="9625"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51" name="Google Shape;251;p36"/>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rPr>
              <a:t>Result 2.2: by WTO-related Period</a:t>
            </a:r>
            <a:endParaRPr sz="2400" b="1" i="0" u="none" strike="noStrike" cap="none" dirty="0">
              <a:solidFill>
                <a:schemeClr val="lt1"/>
              </a:solidFill>
            </a:endParaRPr>
          </a:p>
        </p:txBody>
      </p:sp>
      <p:pic>
        <p:nvPicPr>
          <p:cNvPr id="252" name="Google Shape;252;p36"/>
          <p:cNvPicPr preferRelativeResize="0"/>
          <p:nvPr/>
        </p:nvPicPr>
        <p:blipFill>
          <a:blip r:embed="rId3">
            <a:alphaModFix/>
          </a:blip>
          <a:stretch>
            <a:fillRect/>
          </a:stretch>
        </p:blipFill>
        <p:spPr>
          <a:xfrm>
            <a:off x="774200" y="1048225"/>
            <a:ext cx="6781551" cy="723600"/>
          </a:xfrm>
          <a:prstGeom prst="rect">
            <a:avLst/>
          </a:prstGeom>
          <a:noFill/>
          <a:ln>
            <a:noFill/>
          </a:ln>
        </p:spPr>
      </p:pic>
      <p:pic>
        <p:nvPicPr>
          <p:cNvPr id="253" name="Google Shape;253;p36"/>
          <p:cNvPicPr preferRelativeResize="0"/>
          <p:nvPr/>
        </p:nvPicPr>
        <p:blipFill>
          <a:blip r:embed="rId4">
            <a:alphaModFix/>
          </a:blip>
          <a:stretch>
            <a:fillRect/>
          </a:stretch>
        </p:blipFill>
        <p:spPr>
          <a:xfrm>
            <a:off x="888150" y="2440675"/>
            <a:ext cx="6781551" cy="263843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0"/>
        <p:cNvGrpSpPr/>
        <p:nvPr/>
      </p:nvGrpSpPr>
      <p:grpSpPr>
        <a:xfrm>
          <a:off x="0" y="0"/>
          <a:ext cx="0" cy="0"/>
          <a:chOff x="0" y="0"/>
          <a:chExt cx="0" cy="0"/>
        </a:xfrm>
      </p:grpSpPr>
      <p:sp>
        <p:nvSpPr>
          <p:cNvPr id="171" name="Google Shape;171;p26"/>
          <p:cNvSpPr/>
          <p:nvPr/>
        </p:nvSpPr>
        <p:spPr>
          <a:xfrm>
            <a:off x="0" y="1714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2" name="Google Shape;172;p26"/>
          <p:cNvSpPr txBox="1"/>
          <p:nvPr/>
        </p:nvSpPr>
        <p:spPr>
          <a:xfrm>
            <a:off x="367952" y="168283"/>
            <a:ext cx="8408100" cy="5586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None/>
            </a:pPr>
            <a:r>
              <a:rPr lang="en-US" sz="2400" b="1" i="0" u="none" strike="noStrike" cap="none" dirty="0">
                <a:solidFill>
                  <a:schemeClr val="lt1"/>
                </a:solidFill>
                <a:latin typeface="Palatino" pitchFamily="2" charset="77"/>
                <a:ea typeface="Palatino" pitchFamily="2" charset="77"/>
                <a:sym typeface="Arial"/>
              </a:rPr>
              <a:t>Applying to Globalization</a:t>
            </a:r>
            <a:endParaRPr sz="2400" b="1" i="0" u="none" strike="noStrike" cap="none" dirty="0">
              <a:solidFill>
                <a:schemeClr val="lt1"/>
              </a:solidFill>
              <a:latin typeface="Palatino" pitchFamily="2" charset="77"/>
              <a:ea typeface="Palatino" pitchFamily="2" charset="77"/>
              <a:sym typeface="Arial"/>
            </a:endParaRPr>
          </a:p>
        </p:txBody>
      </p:sp>
      <p:sp>
        <p:nvSpPr>
          <p:cNvPr id="2" name="TextBox 1">
            <a:extLst>
              <a:ext uri="{FF2B5EF4-FFF2-40B4-BE49-F238E27FC236}">
                <a16:creationId xmlns:a16="http://schemas.microsoft.com/office/drawing/2014/main" id="{D740FD40-961A-2A65-E551-359F50982F3A}"/>
              </a:ext>
            </a:extLst>
          </p:cNvPr>
          <p:cNvSpPr txBox="1"/>
          <p:nvPr/>
        </p:nvSpPr>
        <p:spPr>
          <a:xfrm>
            <a:off x="587248" y="1440414"/>
            <a:ext cx="7645400" cy="2632003"/>
          </a:xfrm>
          <a:prstGeom prst="rect">
            <a:avLst/>
          </a:prstGeom>
          <a:noFill/>
        </p:spPr>
        <p:txBody>
          <a:bodyPr wrap="square" rtlCol="0">
            <a:spAutoFit/>
          </a:bodyPr>
          <a:lstStyle/>
          <a:p>
            <a:pPr>
              <a:lnSpc>
                <a:spcPct val="150000"/>
              </a:lnSpc>
            </a:pPr>
            <a:r>
              <a:rPr lang="en-US" sz="1600" b="1" dirty="0">
                <a:solidFill>
                  <a:schemeClr val="tx1"/>
                </a:solidFill>
                <a:latin typeface="Palatino" pitchFamily="2" charset="77"/>
                <a:ea typeface="Palatino" pitchFamily="2" charset="77"/>
                <a:cs typeface="Arial" panose="020B0604020202020204" pitchFamily="34" charset="0"/>
              </a:rPr>
              <a:t>Many transformations: </a:t>
            </a:r>
            <a:r>
              <a:rPr lang="en-US" sz="1600" dirty="0">
                <a:solidFill>
                  <a:schemeClr val="tx1"/>
                </a:solidFill>
                <a:latin typeface="Palatino" pitchFamily="2" charset="77"/>
                <a:ea typeface="Palatino" pitchFamily="2" charset="77"/>
                <a:cs typeface="Arial" panose="020B0604020202020204" pitchFamily="34" charset="0"/>
              </a:rPr>
              <a:t>Trade, finance, migration, governance, security, environment, culture, norms …</a:t>
            </a:r>
          </a:p>
          <a:p>
            <a:pPr>
              <a:lnSpc>
                <a:spcPct val="150000"/>
              </a:lnSpc>
            </a:pPr>
            <a:endParaRPr lang="en-US" sz="1600" dirty="0">
              <a:solidFill>
                <a:schemeClr val="tx1"/>
              </a:solidFill>
              <a:latin typeface="Palatino" pitchFamily="2" charset="77"/>
              <a:ea typeface="Palatino" pitchFamily="2" charset="77"/>
              <a:cs typeface="Arial" panose="020B0604020202020204" pitchFamily="34" charset="0"/>
            </a:endParaRPr>
          </a:p>
          <a:p>
            <a:pPr>
              <a:lnSpc>
                <a:spcPct val="150000"/>
              </a:lnSpc>
            </a:pPr>
            <a:r>
              <a:rPr lang="en-US" sz="1600" b="1" dirty="0">
                <a:solidFill>
                  <a:schemeClr val="tx1"/>
                </a:solidFill>
                <a:latin typeface="Palatino" pitchFamily="2" charset="77"/>
                <a:ea typeface="Palatino" pitchFamily="2" charset="77"/>
                <a:cs typeface="Arial" panose="020B0604020202020204" pitchFamily="34" charset="0"/>
              </a:rPr>
              <a:t>Focus on two trade-enhancing ones: </a:t>
            </a:r>
            <a:r>
              <a:rPr lang="en-US" sz="1200" dirty="0">
                <a:solidFill>
                  <a:schemeClr val="bg2">
                    <a:lumMod val="60000"/>
                    <a:lumOff val="40000"/>
                  </a:schemeClr>
                </a:solidFill>
                <a:latin typeface="Palatino" pitchFamily="2" charset="77"/>
                <a:ea typeface="Palatino" pitchFamily="2" charset="77"/>
                <a:cs typeface="Arial" panose="020B0604020202020204" pitchFamily="34" charset="0"/>
              </a:rPr>
              <a:t>(North 1990; Haggard 1990)</a:t>
            </a:r>
            <a:endParaRPr lang="en-US" sz="1200" b="1" dirty="0">
              <a:solidFill>
                <a:schemeClr val="tx1"/>
              </a:solidFill>
              <a:latin typeface="Palatino" pitchFamily="2" charset="77"/>
              <a:ea typeface="Palatino" pitchFamily="2" charset="77"/>
              <a:cs typeface="Arial" panose="020B0604020202020204" pitchFamily="34" charset="0"/>
            </a:endParaRPr>
          </a:p>
          <a:p>
            <a:pPr>
              <a:lnSpc>
                <a:spcPct val="150000"/>
              </a:lnSpc>
            </a:pPr>
            <a:r>
              <a:rPr lang="en-US" sz="1600" b="1" dirty="0">
                <a:solidFill>
                  <a:schemeClr val="tx1"/>
                </a:solidFill>
                <a:latin typeface="Palatino" pitchFamily="2" charset="77"/>
                <a:ea typeface="Palatino" pitchFamily="2" charset="77"/>
                <a:cs typeface="Arial" panose="020B0604020202020204" pitchFamily="34" charset="0"/>
              </a:rPr>
              <a:t>    </a:t>
            </a:r>
            <a:r>
              <a:rPr lang="en-US" sz="1600" dirty="0">
                <a:solidFill>
                  <a:schemeClr val="tx1"/>
                </a:solidFill>
                <a:latin typeface="Palatino" pitchFamily="2" charset="77"/>
                <a:ea typeface="Palatino" pitchFamily="2" charset="77"/>
                <a:cs typeface="Arial" panose="020B0604020202020204" pitchFamily="34" charset="0"/>
              </a:rPr>
              <a:t>1) trade integration</a:t>
            </a:r>
          </a:p>
          <a:p>
            <a:pPr>
              <a:lnSpc>
                <a:spcPct val="150000"/>
              </a:lnSpc>
            </a:pPr>
            <a:r>
              <a:rPr lang="en-US" sz="1600" dirty="0">
                <a:solidFill>
                  <a:schemeClr val="tx1"/>
                </a:solidFill>
                <a:latin typeface="Palatino" pitchFamily="2" charset="77"/>
                <a:ea typeface="Palatino" pitchFamily="2" charset="77"/>
                <a:cs typeface="Arial" panose="020B0604020202020204" pitchFamily="34" charset="0"/>
              </a:rPr>
              <a:t>    2) institutional reform</a:t>
            </a:r>
          </a:p>
          <a:p>
            <a:pPr>
              <a:lnSpc>
                <a:spcPct val="150000"/>
              </a:lnSpc>
            </a:pPr>
            <a:endParaRPr lang="en-US" sz="1600" dirty="0">
              <a:solidFill>
                <a:schemeClr val="tx1"/>
              </a:solidFill>
              <a:latin typeface="Palatino" pitchFamily="2" charset="77"/>
              <a:ea typeface="Palatino" pitchFamily="2" charset="77"/>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blinds(horizontal)">
                                      <p:cBhvr>
                                        <p:cTn id="11" dur="500"/>
                                        <p:tgtEl>
                                          <p:spTgt spid="2">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blinds(horizontal)">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blinds(horizontal)">
                                      <p:cBhvr>
                                        <p:cTn id="21" dur="500"/>
                                        <p:tgtEl>
                                          <p:spTgt spid="2">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animEffect transition="in" filter="blinds(horizontal)">
                                      <p:cBhvr>
                                        <p:cTn id="26"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3"/>
        <p:cNvGrpSpPr/>
        <p:nvPr/>
      </p:nvGrpSpPr>
      <p:grpSpPr>
        <a:xfrm>
          <a:off x="0" y="0"/>
          <a:ext cx="0" cy="0"/>
          <a:chOff x="0" y="0"/>
          <a:chExt cx="0" cy="0"/>
        </a:xfrm>
      </p:grpSpPr>
      <p:sp>
        <p:nvSpPr>
          <p:cNvPr id="234" name="Google Shape;234;p34"/>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35" name="Google Shape;235;p34"/>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rPr>
              <a:t>Result 1.2: Vary by Inst. (U-shape)</a:t>
            </a:r>
            <a:endParaRPr sz="2400" b="1" i="0" u="none" strike="noStrike" cap="none" dirty="0">
              <a:solidFill>
                <a:schemeClr val="lt1"/>
              </a:solidFill>
            </a:endParaRPr>
          </a:p>
        </p:txBody>
      </p:sp>
      <p:pic>
        <p:nvPicPr>
          <p:cNvPr id="236" name="Google Shape;236;p34"/>
          <p:cNvPicPr preferRelativeResize="0"/>
          <p:nvPr/>
        </p:nvPicPr>
        <p:blipFill>
          <a:blip r:embed="rId3">
            <a:alphaModFix/>
          </a:blip>
          <a:stretch>
            <a:fillRect/>
          </a:stretch>
        </p:blipFill>
        <p:spPr>
          <a:xfrm>
            <a:off x="901150" y="1135502"/>
            <a:ext cx="6789700" cy="724475"/>
          </a:xfrm>
          <a:prstGeom prst="rect">
            <a:avLst/>
          </a:prstGeom>
          <a:noFill/>
          <a:ln>
            <a:noFill/>
          </a:ln>
        </p:spPr>
      </p:pic>
      <p:pic>
        <p:nvPicPr>
          <p:cNvPr id="237" name="Google Shape;237;p34"/>
          <p:cNvPicPr preferRelativeResize="0"/>
          <p:nvPr/>
        </p:nvPicPr>
        <p:blipFill>
          <a:blip r:embed="rId4">
            <a:alphaModFix/>
          </a:blip>
          <a:stretch>
            <a:fillRect/>
          </a:stretch>
        </p:blipFill>
        <p:spPr>
          <a:xfrm>
            <a:off x="1210400" y="2490375"/>
            <a:ext cx="6171199" cy="2608200"/>
          </a:xfrm>
          <a:prstGeom prst="rect">
            <a:avLst/>
          </a:prstGeom>
          <a:noFill/>
          <a:ln>
            <a:noFill/>
          </a:ln>
        </p:spPr>
      </p:pic>
      <p:sp>
        <p:nvSpPr>
          <p:cNvPr id="238" name="Google Shape;238;p34"/>
          <p:cNvSpPr txBox="1"/>
          <p:nvPr/>
        </p:nvSpPr>
        <p:spPr>
          <a:xfrm>
            <a:off x="2478700" y="1729750"/>
            <a:ext cx="7007100" cy="44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rPr>
              <a:t>*inst. range dummy: lowest/highest 20th quantiles in 2000, w/ a ±10 ppt. variation.</a:t>
            </a:r>
            <a:endParaRPr sz="1000">
              <a:solidFill>
                <a:schemeClr val="dk1"/>
              </a:solidFill>
            </a:endParaRPr>
          </a:p>
          <a:p>
            <a:pPr marL="0" lvl="0" indent="0" algn="l" rtl="0">
              <a:spcBef>
                <a:spcPts val="0"/>
              </a:spcBef>
              <a:spcAft>
                <a:spcPts val="0"/>
              </a:spcAft>
              <a:buNone/>
            </a:pPr>
            <a:endParaRPr sz="10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3"/>
        <p:cNvGrpSpPr/>
        <p:nvPr/>
      </p:nvGrpSpPr>
      <p:grpSpPr>
        <a:xfrm>
          <a:off x="0" y="0"/>
          <a:ext cx="0" cy="0"/>
          <a:chOff x="0" y="0"/>
          <a:chExt cx="0" cy="0"/>
        </a:xfrm>
      </p:grpSpPr>
      <p:sp>
        <p:nvSpPr>
          <p:cNvPr id="234" name="Google Shape;234;p34"/>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a:solidFill>
                <a:schemeClr val="lt1"/>
              </a:solidFill>
            </a:endParaRPr>
          </a:p>
        </p:txBody>
      </p:sp>
      <p:sp>
        <p:nvSpPr>
          <p:cNvPr id="235" name="Google Shape;235;p34"/>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rPr>
              <a:t>Result 1.2: by Inst.</a:t>
            </a:r>
            <a:endParaRPr sz="2400" b="1" i="0" u="none" strike="noStrike" cap="none" dirty="0">
              <a:solidFill>
                <a:schemeClr val="lt1"/>
              </a:solidFill>
            </a:endParaRPr>
          </a:p>
        </p:txBody>
      </p:sp>
      <p:sp>
        <p:nvSpPr>
          <p:cNvPr id="2" name="TextBox 1">
            <a:extLst>
              <a:ext uri="{FF2B5EF4-FFF2-40B4-BE49-F238E27FC236}">
                <a16:creationId xmlns:a16="http://schemas.microsoft.com/office/drawing/2014/main" id="{B88F3895-BDCE-B470-24CD-E49FF4A91C6B}"/>
              </a:ext>
            </a:extLst>
          </p:cNvPr>
          <p:cNvSpPr txBox="1"/>
          <p:nvPr/>
        </p:nvSpPr>
        <p:spPr>
          <a:xfrm>
            <a:off x="750771" y="1578543"/>
            <a:ext cx="4721164" cy="307777"/>
          </a:xfrm>
          <a:prstGeom prst="rect">
            <a:avLst/>
          </a:prstGeom>
          <a:noFill/>
        </p:spPr>
        <p:txBody>
          <a:bodyPr wrap="none" rtlCol="0">
            <a:spAutoFit/>
          </a:bodyPr>
          <a:lstStyle/>
          <a:p>
            <a:r>
              <a:rPr lang="en-US" dirty="0"/>
              <a:t>Semi-parametric estimation (Generalized Additive Model)</a:t>
            </a:r>
          </a:p>
        </p:txBody>
      </p:sp>
      <p:pic>
        <p:nvPicPr>
          <p:cNvPr id="3" name="Picture 2">
            <a:extLst>
              <a:ext uri="{FF2B5EF4-FFF2-40B4-BE49-F238E27FC236}">
                <a16:creationId xmlns:a16="http://schemas.microsoft.com/office/drawing/2014/main" id="{1CD30E87-B144-6E9B-03FB-550E1DB598BB}"/>
              </a:ext>
            </a:extLst>
          </p:cNvPr>
          <p:cNvPicPr>
            <a:picLocks noChangeAspect="1"/>
          </p:cNvPicPr>
          <p:nvPr/>
        </p:nvPicPr>
        <p:blipFill>
          <a:blip r:embed="rId3"/>
          <a:stretch>
            <a:fillRect/>
          </a:stretch>
        </p:blipFill>
        <p:spPr>
          <a:xfrm>
            <a:off x="1494322" y="1967758"/>
            <a:ext cx="5792002" cy="2888706"/>
          </a:xfrm>
          <a:prstGeom prst="rect">
            <a:avLst/>
          </a:prstGeom>
        </p:spPr>
      </p:pic>
    </p:spTree>
    <p:extLst>
      <p:ext uri="{BB962C8B-B14F-4D97-AF65-F5344CB8AC3E}">
        <p14:creationId xmlns:p14="http://schemas.microsoft.com/office/powerpoint/2010/main" val="2532693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
        <p:cNvGrpSpPr/>
        <p:nvPr/>
      </p:nvGrpSpPr>
      <p:grpSpPr>
        <a:xfrm>
          <a:off x="0" y="0"/>
          <a:ext cx="0" cy="0"/>
          <a:chOff x="0" y="0"/>
          <a:chExt cx="0" cy="0"/>
        </a:xfrm>
      </p:grpSpPr>
      <p:sp>
        <p:nvSpPr>
          <p:cNvPr id="62" name="Google Shape;62;p14"/>
          <p:cNvSpPr/>
          <p:nvPr/>
        </p:nvSpPr>
        <p:spPr>
          <a:xfrm>
            <a:off x="0" y="488814"/>
            <a:ext cx="9144000" cy="552300"/>
          </a:xfrm>
          <a:prstGeom prst="rect">
            <a:avLst/>
          </a:prstGeom>
          <a:solidFill>
            <a:srgbClr val="3265B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i="0" u="none" strike="noStrike" cap="none" dirty="0">
              <a:solidFill>
                <a:schemeClr val="tx2">
                  <a:lumMod val="90000"/>
                </a:schemeClr>
              </a:solidFill>
              <a:highlight>
                <a:srgbClr val="FF0000"/>
              </a:highlight>
            </a:endParaRPr>
          </a:p>
        </p:txBody>
      </p:sp>
      <p:sp>
        <p:nvSpPr>
          <p:cNvPr id="63" name="Google Shape;63;p14"/>
          <p:cNvSpPr txBox="1"/>
          <p:nvPr/>
        </p:nvSpPr>
        <p:spPr>
          <a:xfrm>
            <a:off x="367902" y="489633"/>
            <a:ext cx="8408100"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rPr>
              <a:t>Democratic Backsliding</a:t>
            </a:r>
            <a:endParaRPr sz="2400" b="1" dirty="0">
              <a:solidFill>
                <a:schemeClr val="lt1"/>
              </a:solidFill>
            </a:endParaRPr>
          </a:p>
        </p:txBody>
      </p:sp>
      <p:pic>
        <p:nvPicPr>
          <p:cNvPr id="64" name="Google Shape;64;p14"/>
          <p:cNvPicPr preferRelativeResize="0"/>
          <p:nvPr/>
        </p:nvPicPr>
        <p:blipFill>
          <a:blip r:embed="rId3">
            <a:alphaModFix/>
          </a:blip>
          <a:stretch>
            <a:fillRect/>
          </a:stretch>
        </p:blipFill>
        <p:spPr>
          <a:xfrm>
            <a:off x="526300" y="1105400"/>
            <a:ext cx="1786074" cy="1098445"/>
          </a:xfrm>
          <a:prstGeom prst="rect">
            <a:avLst/>
          </a:prstGeom>
          <a:noFill/>
          <a:ln>
            <a:noFill/>
          </a:ln>
        </p:spPr>
      </p:pic>
      <p:pic>
        <p:nvPicPr>
          <p:cNvPr id="65" name="Google Shape;65;p14"/>
          <p:cNvPicPr preferRelativeResize="0"/>
          <p:nvPr/>
        </p:nvPicPr>
        <p:blipFill>
          <a:blip r:embed="rId4">
            <a:alphaModFix/>
          </a:blip>
          <a:stretch>
            <a:fillRect/>
          </a:stretch>
        </p:blipFill>
        <p:spPr>
          <a:xfrm>
            <a:off x="2717206" y="2435904"/>
            <a:ext cx="1808551" cy="1217741"/>
          </a:xfrm>
          <a:prstGeom prst="rect">
            <a:avLst/>
          </a:prstGeom>
          <a:noFill/>
          <a:ln>
            <a:noFill/>
          </a:ln>
        </p:spPr>
      </p:pic>
      <p:pic>
        <p:nvPicPr>
          <p:cNvPr id="66" name="Google Shape;66;p14"/>
          <p:cNvPicPr preferRelativeResize="0"/>
          <p:nvPr/>
        </p:nvPicPr>
        <p:blipFill>
          <a:blip r:embed="rId5">
            <a:alphaModFix/>
          </a:blip>
          <a:stretch>
            <a:fillRect/>
          </a:stretch>
        </p:blipFill>
        <p:spPr>
          <a:xfrm>
            <a:off x="4999922" y="3796951"/>
            <a:ext cx="1723175" cy="1148048"/>
          </a:xfrm>
          <a:prstGeom prst="rect">
            <a:avLst/>
          </a:prstGeom>
          <a:noFill/>
          <a:ln>
            <a:noFill/>
          </a:ln>
        </p:spPr>
      </p:pic>
      <p:pic>
        <p:nvPicPr>
          <p:cNvPr id="67" name="Google Shape;67;p14"/>
          <p:cNvPicPr preferRelativeResize="0"/>
          <p:nvPr/>
        </p:nvPicPr>
        <p:blipFill>
          <a:blip r:embed="rId6">
            <a:alphaModFix/>
          </a:blip>
          <a:stretch>
            <a:fillRect/>
          </a:stretch>
        </p:blipFill>
        <p:spPr>
          <a:xfrm>
            <a:off x="339693" y="2421366"/>
            <a:ext cx="1972675" cy="1217741"/>
          </a:xfrm>
          <a:prstGeom prst="rect">
            <a:avLst/>
          </a:prstGeom>
          <a:noFill/>
          <a:ln>
            <a:noFill/>
          </a:ln>
        </p:spPr>
      </p:pic>
      <p:pic>
        <p:nvPicPr>
          <p:cNvPr id="68" name="Google Shape;68;p14"/>
          <p:cNvPicPr preferRelativeResize="0"/>
          <p:nvPr/>
        </p:nvPicPr>
        <p:blipFill rotWithShape="1">
          <a:blip r:embed="rId7">
            <a:alphaModFix/>
          </a:blip>
          <a:srcRect l="33967" t="3834" b="17270"/>
          <a:stretch/>
        </p:blipFill>
        <p:spPr>
          <a:xfrm>
            <a:off x="4999922" y="1206760"/>
            <a:ext cx="1432826" cy="984996"/>
          </a:xfrm>
          <a:prstGeom prst="rect">
            <a:avLst/>
          </a:prstGeom>
          <a:noFill/>
          <a:ln>
            <a:noFill/>
          </a:ln>
        </p:spPr>
      </p:pic>
      <p:pic>
        <p:nvPicPr>
          <p:cNvPr id="69" name="Google Shape;69;p14"/>
          <p:cNvPicPr preferRelativeResize="0"/>
          <p:nvPr/>
        </p:nvPicPr>
        <p:blipFill>
          <a:blip r:embed="rId8">
            <a:alphaModFix/>
          </a:blip>
          <a:stretch>
            <a:fillRect/>
          </a:stretch>
        </p:blipFill>
        <p:spPr>
          <a:xfrm>
            <a:off x="2713150" y="1103025"/>
            <a:ext cx="1786075" cy="1099111"/>
          </a:xfrm>
          <a:prstGeom prst="rect">
            <a:avLst/>
          </a:prstGeom>
          <a:noFill/>
          <a:ln>
            <a:noFill/>
          </a:ln>
        </p:spPr>
      </p:pic>
      <p:pic>
        <p:nvPicPr>
          <p:cNvPr id="70" name="Google Shape;70;p14"/>
          <p:cNvPicPr preferRelativeResize="0"/>
          <p:nvPr/>
        </p:nvPicPr>
        <p:blipFill>
          <a:blip r:embed="rId9">
            <a:alphaModFix/>
          </a:blip>
          <a:stretch>
            <a:fillRect/>
          </a:stretch>
        </p:blipFill>
        <p:spPr>
          <a:xfrm>
            <a:off x="2713149" y="3926384"/>
            <a:ext cx="1786076" cy="1018614"/>
          </a:xfrm>
          <a:prstGeom prst="rect">
            <a:avLst/>
          </a:prstGeom>
          <a:noFill/>
          <a:ln>
            <a:noFill/>
          </a:ln>
        </p:spPr>
      </p:pic>
      <p:pic>
        <p:nvPicPr>
          <p:cNvPr id="71" name="Google Shape;71;p14"/>
          <p:cNvPicPr preferRelativeResize="0"/>
          <p:nvPr/>
        </p:nvPicPr>
        <p:blipFill>
          <a:blip r:embed="rId10">
            <a:alphaModFix/>
          </a:blip>
          <a:stretch>
            <a:fillRect/>
          </a:stretch>
        </p:blipFill>
        <p:spPr>
          <a:xfrm>
            <a:off x="4999922" y="2461480"/>
            <a:ext cx="1528325" cy="1146267"/>
          </a:xfrm>
          <a:prstGeom prst="rect">
            <a:avLst/>
          </a:prstGeom>
          <a:noFill/>
          <a:ln>
            <a:noFill/>
          </a:ln>
        </p:spPr>
      </p:pic>
      <p:pic>
        <p:nvPicPr>
          <p:cNvPr id="72" name="Google Shape;72;p14"/>
          <p:cNvPicPr preferRelativeResize="0"/>
          <p:nvPr/>
        </p:nvPicPr>
        <p:blipFill>
          <a:blip r:embed="rId11">
            <a:alphaModFix/>
          </a:blip>
          <a:stretch>
            <a:fillRect/>
          </a:stretch>
        </p:blipFill>
        <p:spPr>
          <a:xfrm>
            <a:off x="7069325" y="2495550"/>
            <a:ext cx="1952804" cy="1098450"/>
          </a:xfrm>
          <a:prstGeom prst="rect">
            <a:avLst/>
          </a:prstGeom>
          <a:noFill/>
          <a:ln>
            <a:noFill/>
          </a:ln>
        </p:spPr>
      </p:pic>
      <p:pic>
        <p:nvPicPr>
          <p:cNvPr id="73" name="Google Shape;73;p14"/>
          <p:cNvPicPr preferRelativeResize="0"/>
          <p:nvPr/>
        </p:nvPicPr>
        <p:blipFill>
          <a:blip r:embed="rId12">
            <a:alphaModFix/>
          </a:blip>
          <a:stretch>
            <a:fillRect/>
          </a:stretch>
        </p:blipFill>
        <p:spPr>
          <a:xfrm>
            <a:off x="589200" y="3879525"/>
            <a:ext cx="1723168" cy="1149124"/>
          </a:xfrm>
          <a:prstGeom prst="rect">
            <a:avLst/>
          </a:prstGeom>
          <a:noFill/>
          <a:ln>
            <a:noFill/>
          </a:ln>
        </p:spPr>
      </p:pic>
      <p:pic>
        <p:nvPicPr>
          <p:cNvPr id="74" name="Google Shape;74;p14"/>
          <p:cNvPicPr preferRelativeResize="0"/>
          <p:nvPr/>
        </p:nvPicPr>
        <p:blipFill>
          <a:blip r:embed="rId13">
            <a:alphaModFix/>
          </a:blip>
          <a:stretch>
            <a:fillRect/>
          </a:stretch>
        </p:blipFill>
        <p:spPr>
          <a:xfrm>
            <a:off x="7069325" y="3775613"/>
            <a:ext cx="1786075" cy="1190724"/>
          </a:xfrm>
          <a:prstGeom prst="rect">
            <a:avLst/>
          </a:prstGeom>
          <a:noFill/>
          <a:ln>
            <a:noFill/>
          </a:ln>
        </p:spPr>
      </p:pic>
      <p:pic>
        <p:nvPicPr>
          <p:cNvPr id="75" name="Google Shape;75;p14"/>
          <p:cNvPicPr preferRelativeResize="0"/>
          <p:nvPr/>
        </p:nvPicPr>
        <p:blipFill>
          <a:blip r:embed="rId14">
            <a:alphaModFix/>
          </a:blip>
          <a:stretch>
            <a:fillRect/>
          </a:stretch>
        </p:blipFill>
        <p:spPr>
          <a:xfrm>
            <a:off x="7069325" y="1206760"/>
            <a:ext cx="1528320" cy="1018624"/>
          </a:xfrm>
          <a:prstGeom prst="rect">
            <a:avLst/>
          </a:prstGeom>
          <a:noFill/>
          <a:ln>
            <a:noFill/>
          </a:ln>
        </p:spPr>
      </p:pic>
      <p:sp>
        <p:nvSpPr>
          <p:cNvPr id="2" name="Google Shape;63;p14">
            <a:extLst>
              <a:ext uri="{FF2B5EF4-FFF2-40B4-BE49-F238E27FC236}">
                <a16:creationId xmlns:a16="http://schemas.microsoft.com/office/drawing/2014/main" id="{442B2D7D-2E25-A6AB-A108-D6BA6C6A5E6C}"/>
              </a:ext>
            </a:extLst>
          </p:cNvPr>
          <p:cNvSpPr txBox="1"/>
          <p:nvPr/>
        </p:nvSpPr>
        <p:spPr>
          <a:xfrm>
            <a:off x="3829163" y="499459"/>
            <a:ext cx="5207171" cy="558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None/>
            </a:pPr>
            <a:r>
              <a:rPr lang="en-US" sz="2400" b="1" dirty="0">
                <a:solidFill>
                  <a:schemeClr val="lt1"/>
                </a:solidFill>
              </a:rPr>
              <a:t> / Crisis</a:t>
            </a:r>
            <a:endParaRPr sz="2400" b="1" dirty="0">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216558</TotalTime>
  <Words>1878</Words>
  <Application>Microsoft Macintosh PowerPoint</Application>
  <PresentationFormat>On-screen Show (16:9)</PresentationFormat>
  <Paragraphs>196</Paragraphs>
  <Slides>36</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Anthropic Sans</vt:lpstr>
      <vt:lpstr>Arial</vt:lpstr>
      <vt:lpstr>Book Antiqua</vt:lpstr>
      <vt:lpstr>Palatino</vt:lpstr>
      <vt:lpstr>Wingdings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Yean, George</cp:lastModifiedBy>
  <cp:revision>266</cp:revision>
  <dcterms:modified xsi:type="dcterms:W3CDTF">2026-10-28T02:26:26Z</dcterms:modified>
</cp:coreProperties>
</file>