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7"/>
  </p:notesMasterIdLst>
  <p:sldIdLst>
    <p:sldId id="256" r:id="rId2"/>
    <p:sldId id="257" r:id="rId3"/>
    <p:sldId id="258" r:id="rId4"/>
    <p:sldId id="259" r:id="rId5"/>
    <p:sldId id="262" r:id="rId6"/>
    <p:sldId id="264" r:id="rId7"/>
    <p:sldId id="278" r:id="rId8"/>
    <p:sldId id="277" r:id="rId9"/>
    <p:sldId id="265" r:id="rId10"/>
    <p:sldId id="267" r:id="rId11"/>
    <p:sldId id="268" r:id="rId12"/>
    <p:sldId id="269" r:id="rId13"/>
    <p:sldId id="271" r:id="rId14"/>
    <p:sldId id="279" r:id="rId15"/>
    <p:sldId id="280" r:id="rId16"/>
    <p:sldId id="274" r:id="rId17"/>
    <p:sldId id="275" r:id="rId18"/>
    <p:sldId id="276" r:id="rId19"/>
    <p:sldId id="260" r:id="rId20"/>
    <p:sldId id="261" r:id="rId21"/>
    <p:sldId id="263" r:id="rId22"/>
    <p:sldId id="266" r:id="rId23"/>
    <p:sldId id="270" r:id="rId24"/>
    <p:sldId id="272" r:id="rId25"/>
    <p:sldId id="273" r:id="rId26"/>
  </p:sldIdLst>
  <p:sldSz cx="9144000" cy="5143500" type="screen16x9"/>
  <p:notesSz cx="6858000" cy="9144000"/>
  <p:embeddedFontLst>
    <p:embeddedFont>
      <p:font typeface="Hanken Grotesk" pitchFamily="2" charset="77"/>
      <p:regular r:id="rId28"/>
      <p:bold r:id="rId29"/>
      <p:italic r:id="rId30"/>
      <p:boldItalic r:id="rId31"/>
    </p:embeddedFont>
    <p:embeddedFont>
      <p:font typeface="Hanken Grotesk Light" pitchFamily="2" charset="77"/>
      <p:regular r:id="rId32"/>
      <p:bold r:id="rId33"/>
      <p:italic r:id="rId34"/>
      <p:boldItalic r:id="rId35"/>
    </p:embeddedFont>
    <p:embeddedFont>
      <p:font typeface="Open Sans" panose="020B0606030504020204" pitchFamily="34" charset="0"/>
      <p:regular r:id="rId36"/>
      <p:bold r:id="rId37"/>
      <p:italic r:id="rId38"/>
      <p:boldItalic r:id="rId39"/>
    </p:embeddedFont>
    <p:embeddedFont>
      <p:font typeface="PT Sans Narrow" panose="020B0506020203020204" pitchFamily="34" charset="77"/>
      <p:regular r:id="rId40"/>
      <p:bold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F129E07-9AE8-432F-BE6E-13882F435ABB}">
  <a:tblStyle styleId="{0F129E07-9AE8-432F-BE6E-13882F435AB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33"/>
    <p:restoredTop sz="94286"/>
  </p:normalViewPr>
  <p:slideViewPr>
    <p:cSldViewPr snapToGrid="0">
      <p:cViewPr>
        <p:scale>
          <a:sx n="135" d="100"/>
          <a:sy n="135" d="100"/>
        </p:scale>
        <p:origin x="816" y="5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10.28 IR workshop comments:</a:t>
            </a:r>
          </a:p>
          <a:p>
            <a:pPr marL="0" lvl="0" indent="0" algn="l" rtl="0">
              <a:spcBef>
                <a:spcPts val="0"/>
              </a:spcBef>
              <a:spcAft>
                <a:spcPts val="0"/>
              </a:spcAft>
              <a:buNone/>
            </a:pPr>
            <a:r>
              <a:rPr lang="en-US" dirty="0"/>
              <a:t>-refine theories; new </a:t>
            </a:r>
            <a:r>
              <a:rPr lang="en-US" dirty="0" err="1"/>
              <a:t>equi</a:t>
            </a:r>
            <a:r>
              <a:rPr lang="en-US" dirty="0"/>
              <a:t>? Or short-term fluctuation? Be precise (GY: ground on existing theory, reuse, long run dynamics)</a:t>
            </a:r>
          </a:p>
          <a:p>
            <a:pPr marL="0" lvl="0" indent="0" algn="l" rtl="0">
              <a:spcBef>
                <a:spcPts val="0"/>
              </a:spcBef>
              <a:spcAft>
                <a:spcPts val="0"/>
              </a:spcAft>
              <a:buNone/>
            </a:pPr>
            <a:r>
              <a:rPr lang="en-US" dirty="0"/>
              <a:t>-survey why is needed? Hetero individuals? Refer to trade attitude literature. </a:t>
            </a:r>
          </a:p>
          <a:p>
            <a:pPr marL="0" lvl="0" indent="0" algn="l" rtl="0">
              <a:spcBef>
                <a:spcPts val="0"/>
              </a:spcBef>
              <a:spcAft>
                <a:spcPts val="0"/>
              </a:spcAft>
              <a:buNone/>
            </a:pPr>
            <a:r>
              <a:rPr lang="en-US" dirty="0"/>
              <a:t>-consider politicization of </a:t>
            </a:r>
            <a:r>
              <a:rPr lang="en-US" dirty="0" err="1"/>
              <a:t>china</a:t>
            </a:r>
            <a:r>
              <a:rPr lang="en-US" dirty="0"/>
              <a:t> shock? </a:t>
            </a:r>
          </a:p>
          <a:p>
            <a:pPr marL="0" lvl="0" indent="0" algn="l" rtl="0">
              <a:spcBef>
                <a:spcPts val="0"/>
              </a:spcBef>
              <a:spcAft>
                <a:spcPts val="0"/>
              </a:spcAft>
              <a:buNone/>
            </a:pPr>
            <a:r>
              <a:rPr lang="en-US" dirty="0"/>
              <a:t>-Jerry: just US? Walter (2021)-</a:t>
            </a:r>
            <a:r>
              <a:rPr lang="en-US" dirty="0" err="1"/>
              <a:t>protrade</a:t>
            </a:r>
            <a:r>
              <a:rPr lang="en-US" dirty="0"/>
              <a:t>, just trade or FDI? Japan is also systemic? US left-wing concerned about labor/env? Is Indonesia also applicable?</a:t>
            </a:r>
          </a:p>
          <a:p>
            <a:pPr marL="0" lvl="0" indent="0" algn="l" rtl="0">
              <a:spcBef>
                <a:spcPts val="0"/>
              </a:spcBef>
              <a:spcAft>
                <a:spcPts val="0"/>
              </a:spcAft>
              <a:buNone/>
            </a:pPr>
            <a:r>
              <a:rPr lang="en-US" dirty="0"/>
              <a:t>-Davis: simple relationship A-&gt;D; what about framing: when econ expectation doesn’t align, what diverges in trad </a:t>
            </a:r>
            <a:r>
              <a:rPr lang="en-US" dirty="0" err="1"/>
              <a:t>pref</a:t>
            </a:r>
            <a:r>
              <a:rPr lang="en-US" dirty="0"/>
              <a:t>? no </a:t>
            </a:r>
            <a:r>
              <a:rPr lang="en-US"/>
              <a:t>need publication?</a:t>
            </a:r>
            <a:endParaRPr lang="en-US" dirty="0"/>
          </a:p>
          <a:p>
            <a:pPr marL="0" lvl="0" indent="0" algn="l" rtl="0">
              <a:spcBef>
                <a:spcPts val="0"/>
              </a:spcBef>
              <a:spcAft>
                <a:spcPts val="0"/>
              </a:spcAft>
              <a:buNone/>
            </a:pPr>
            <a:r>
              <a:rPr lang="en-US" dirty="0"/>
              <a:t>-SC: does country always get CA? is it perceived like auto?</a:t>
            </a:r>
          </a:p>
          <a:p>
            <a:pPr marL="0" lvl="0" indent="0" algn="l" rtl="0">
              <a:spcBef>
                <a:spcPts val="0"/>
              </a:spcBef>
              <a:spcAft>
                <a:spcPts val="0"/>
              </a:spcAft>
              <a:buNone/>
            </a:pPr>
            <a:r>
              <a:rPr lang="en-US" dirty="0"/>
              <a:t>-GY: this theory is to intended to explain everything, but arguably best one for current tensions.</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489f2408a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489f2408a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Yelling Tan. MIC 2025 may not be treatment.  </a:t>
            </a:r>
            <a:endParaRPr/>
          </a:p>
          <a:p>
            <a:pPr marL="0" lvl="0" indent="0" algn="l" rtl="0">
              <a:spcBef>
                <a:spcPts val="0"/>
              </a:spcBef>
              <a:spcAft>
                <a:spcPts val="0"/>
              </a:spcAft>
              <a:buNone/>
            </a:pPr>
            <a:endParaRPr/>
          </a:p>
          <a:p>
            <a:pPr marL="0" lvl="0" indent="0" algn="l" rtl="0">
              <a:spcBef>
                <a:spcPts val="0"/>
              </a:spcBef>
              <a:spcAft>
                <a:spcPts val="0"/>
              </a:spcAft>
              <a:buNone/>
            </a:pPr>
            <a:r>
              <a:rPr lang="en"/>
              <a:t>GY: I received some feedback slighly different than this. But i feel this </a:t>
            </a:r>
            <a:r>
              <a:rPr lang="en">
                <a:solidFill>
                  <a:schemeClr val="dk1"/>
                </a:solidFill>
              </a:rPr>
              <a:t>theory and mechanisms are central to understanding contemporary anti-trade politics.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64cd81690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64cd81690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Geo/sec: why tariffs on allies?</a:t>
            </a:r>
            <a:endParaRPr/>
          </a:p>
          <a:p>
            <a:pPr marL="0" lvl="0" indent="0" algn="l" rtl="0">
              <a:spcBef>
                <a:spcPts val="0"/>
              </a:spcBef>
              <a:spcAft>
                <a:spcPts val="0"/>
              </a:spcAft>
              <a:buNone/>
            </a:pPr>
            <a:endParaRPr/>
          </a:p>
          <a:p>
            <a:pPr marL="0" lvl="0" indent="0" algn="l" rtl="0">
              <a:spcBef>
                <a:spcPts val="0"/>
              </a:spcBef>
              <a:spcAft>
                <a:spcPts val="0"/>
              </a:spcAft>
              <a:buNone/>
            </a:pPr>
            <a:r>
              <a:rPr lang="en"/>
              <a:t>Why existing trade opinion theories are limited? What’s wrong with trade theory?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64cd816900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64cd81690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Whole logic: free trade is no longer net gain… (the logic of FT is broken; more dedus soon)</a:t>
            </a:r>
            <a:endParaRPr/>
          </a:p>
          <a:p>
            <a:pPr marL="0" lvl="0" indent="0" algn="l" rtl="0">
              <a:spcBef>
                <a:spcPts val="0"/>
              </a:spcBef>
              <a:spcAft>
                <a:spcPts val="0"/>
              </a:spcAft>
              <a:buNone/>
            </a:pPr>
            <a:r>
              <a:rPr lang="en"/>
              <a:t>Nuance in different models; baseline of my study. </a:t>
            </a:r>
            <a:endParaRPr/>
          </a:p>
          <a:p>
            <a:pPr marL="0" lvl="0" indent="0" algn="l" rtl="0">
              <a:spcBef>
                <a:spcPts val="0"/>
              </a:spcBef>
              <a:spcAft>
                <a:spcPts val="0"/>
              </a:spcAft>
              <a:buNone/>
            </a:pPr>
            <a:endParaRPr/>
          </a:p>
          <a:p>
            <a:pPr marL="0" lvl="0" indent="0" algn="l" rtl="0">
              <a:spcBef>
                <a:spcPts val="0"/>
              </a:spcBef>
              <a:spcAft>
                <a:spcPts val="0"/>
              </a:spcAft>
              <a:buNone/>
            </a:pPr>
            <a:r>
              <a:rPr lang="en"/>
              <a:t>Framing: </a:t>
            </a:r>
            <a:r>
              <a:rPr lang="en" i="1">
                <a:solidFill>
                  <a:schemeClr val="dk1"/>
                </a:solidFill>
              </a:rPr>
              <a:t>Theory and evidence</a:t>
            </a:r>
            <a:endParaRPr/>
          </a:p>
          <a:p>
            <a:pPr marL="0" lvl="0" indent="0" algn="l" rtl="0">
              <a:spcBef>
                <a:spcPts val="0"/>
              </a:spcBef>
              <a:spcAft>
                <a:spcPts val="0"/>
              </a:spcAft>
              <a:buNone/>
            </a:pPr>
            <a:r>
              <a:rPr lang="en"/>
              <a:t>Why anti-trade sentiment intensification? Existing IPE theories lack explanations for the phenomenon we see and neglect an important gap. I propose a new theory of anti-trade politics, derived from trade models and historical incidents. Theoretically losing adv sectors due to trade leads to trade skepticism. Then I investigate how the theory translates into political elites’ anti-trade attitudes and shapes public opinion. The evidence suggests that the theory and mechanisms are central to understanding contemporary anti-trade politics.</a:t>
            </a:r>
            <a:endParaRPr/>
          </a:p>
          <a:p>
            <a:pPr marL="0" lvl="0" indent="0" algn="l" rtl="0">
              <a:spcBef>
                <a:spcPts val="0"/>
              </a:spcBef>
              <a:spcAft>
                <a:spcPts val="0"/>
              </a:spcAft>
              <a:buNone/>
            </a:pPr>
            <a:endParaRPr/>
          </a:p>
          <a:p>
            <a:pPr marL="0" lvl="0" indent="0" algn="l" rtl="0">
              <a:spcBef>
                <a:spcPts val="0"/>
              </a:spcBef>
              <a:spcAft>
                <a:spcPts val="0"/>
              </a:spcAft>
              <a:buNone/>
            </a:pPr>
            <a:r>
              <a:rPr lang="en"/>
              <a:t>RV: only labor move to export industry; equi: factor price equalization</a:t>
            </a:r>
            <a:endParaRPr/>
          </a:p>
          <a:p>
            <a:pPr marL="0" lvl="0" indent="0" algn="l" rtl="0">
              <a:spcBef>
                <a:spcPts val="0"/>
              </a:spcBef>
              <a:spcAft>
                <a:spcPts val="0"/>
              </a:spcAft>
              <a:buNone/>
            </a:pPr>
            <a:r>
              <a:rPr lang="en"/>
              <a:t>HO: both labor/capital factors move to export products; equ: factor price equalization.</a:t>
            </a:r>
            <a:endParaRPr/>
          </a:p>
          <a:p>
            <a:pPr marL="0" lvl="0" indent="0" algn="l" rtl="0">
              <a:spcBef>
                <a:spcPts val="0"/>
              </a:spcBef>
              <a:spcAft>
                <a:spcPts val="0"/>
              </a:spcAft>
              <a:buNone/>
            </a:pPr>
            <a:r>
              <a:rPr lang="en"/>
              <a:t>Krugman/Melitz: when open to trade, larger market lead to scale and higher prod firms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48cf051af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48cf051af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Short-term: inter-temporal borrow/reserve to finance deficit, same consumption</a:t>
            </a:r>
            <a:endParaRPr/>
          </a:p>
          <a:p>
            <a:pPr marL="0" lvl="0" indent="0" algn="l" rtl="0">
              <a:spcBef>
                <a:spcPts val="0"/>
              </a:spcBef>
              <a:spcAft>
                <a:spcPts val="0"/>
              </a:spcAft>
              <a:buNone/>
            </a:pPr>
            <a:r>
              <a:rPr lang="en"/>
              <a:t>Long-term: factors idle and disappear, PPF shrinks, cannot borrow/deindus/devalue, production/cons shrinks</a:t>
            </a:r>
            <a:endParaRPr/>
          </a:p>
          <a:p>
            <a:pPr marL="0" lvl="0" indent="0" algn="l" rtl="0">
              <a:spcBef>
                <a:spcPts val="0"/>
              </a:spcBef>
              <a:spcAft>
                <a:spcPts val="0"/>
              </a:spcAft>
              <a:buNone/>
            </a:pPr>
            <a:endParaRPr/>
          </a:p>
          <a:p>
            <a:pPr marL="0" lvl="0" indent="0" algn="l" rtl="0">
              <a:spcBef>
                <a:spcPts val="0"/>
              </a:spcBef>
              <a:spcAft>
                <a:spcPts val="0"/>
              </a:spcAft>
              <a:buNone/>
            </a:pPr>
            <a:r>
              <a:rPr lang="en"/>
              <a:t>SC: why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798de0959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798de0959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798de0959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798de0959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65098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798de0959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798de0959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218091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6528de50d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6528de50d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-Ignore esp. during wto period —Some restrictions for Korea/taiwan’s apparel was not during WTO period. They are more managed transition, also stem from regional politics or politically sensitive sectors. Under GATT, non-tariff barriers like negotiating quota is loosely regulated until Uruguay round (Multi-fiber agreement phased out in 2005?). Under WTO, dispute settlement is strengthened and voluntary export restraints are outlawed, replaced by safeguards or antidumping which are slower and narrower. </a:t>
            </a:r>
            <a:endParaRPr/>
          </a:p>
          <a:p>
            <a:pPr marL="0" lvl="0" indent="0" algn="l" rtl="0">
              <a:spcBef>
                <a:spcPts val="0"/>
              </a:spcBef>
              <a:spcAft>
                <a:spcPts val="0"/>
              </a:spcAft>
              <a:buNone/>
            </a:pPr>
            <a:r>
              <a:rPr lang="en"/>
              <a:t>-but still,restrictions on textile was much lighter than US-JPN trade war. (not just voluntary quota, but seciton 301, tariff threat, agressive antidumping cases, plaza accord – until localized production)</a:t>
            </a:r>
            <a:endParaRPr/>
          </a:p>
          <a:p>
            <a:pPr marL="0" lvl="0" indent="0" algn="l" rtl="0">
              <a:spcBef>
                <a:spcPts val="0"/>
              </a:spcBef>
              <a:spcAft>
                <a:spcPts val="0"/>
              </a:spcAft>
              <a:buNone/>
            </a:pPr>
            <a:r>
              <a:rPr lang="en"/>
              <a:t>-When realizing systemic threat? Perhaps MIC 2025</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64cd816900_0_9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64cd816900_0_9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Use congressional texts to show </a:t>
            </a:r>
            <a:r>
              <a:rPr lang="en" i="1">
                <a:solidFill>
                  <a:schemeClr val="dk1"/>
                </a:solidFill>
              </a:rPr>
              <a:t>that anti-trade language consistent with your theory is present in elite discourse.</a:t>
            </a:r>
            <a:endParaRPr i="1">
              <a:solidFill>
                <a:schemeClr val="dk1"/>
              </a:solidFill>
            </a:endParaRPr>
          </a:p>
          <a:p>
            <a:pPr marL="0" lvl="0" indent="0" algn="l" rtl="0">
              <a:spcBef>
                <a:spcPts val="0"/>
              </a:spcBef>
              <a:spcAft>
                <a:spcPts val="0"/>
              </a:spcAft>
              <a:buNone/>
            </a:pPr>
            <a:r>
              <a:rPr lang="en">
                <a:solidFill>
                  <a:schemeClr val="dk1"/>
                </a:solidFill>
              </a:rPr>
              <a:t>Use surveys to show </a:t>
            </a:r>
            <a:r>
              <a:rPr lang="en" i="1">
                <a:solidFill>
                  <a:schemeClr val="dk1"/>
                </a:solidFill>
              </a:rPr>
              <a:t>that ordinary citizens respond in ways consistent with the same logic and further understand how mechanisms work</a:t>
            </a:r>
            <a:endParaRPr i="1">
              <a:solidFill>
                <a:schemeClr val="dk1"/>
              </a:solidFill>
            </a:endParaRPr>
          </a:p>
          <a:p>
            <a:pPr marL="0" lvl="0" indent="0" algn="l" rtl="0">
              <a:spcBef>
                <a:spcPts val="0"/>
              </a:spcBef>
              <a:spcAft>
                <a:spcPts val="0"/>
              </a:spcAft>
              <a:buNone/>
            </a:pPr>
            <a:endParaRPr i="1">
              <a:solidFill>
                <a:schemeClr val="dk1"/>
              </a:solidFill>
            </a:endParaRPr>
          </a:p>
          <a:p>
            <a:pPr marL="0" lvl="0" indent="0" algn="l" rtl="0">
              <a:spcBef>
                <a:spcPts val="0"/>
              </a:spcBef>
              <a:spcAft>
                <a:spcPts val="0"/>
              </a:spcAft>
              <a:buNone/>
            </a:pPr>
            <a:r>
              <a:rPr lang="en" i="1">
                <a:solidFill>
                  <a:schemeClr val="dk1"/>
                </a:solidFill>
              </a:rPr>
              <a:t>Theory and evidence:</a:t>
            </a:r>
            <a:endParaRPr i="1">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To evaluate this argument, I draw on two complementary sources of evidence. First, I analyze congressional speeches to show that elite actors increasingly invoke frames that are consistent with the logic of [trade theory X], linking trade to concerns about [mechanism, e.g. wage erosion, security risks, etc.]. This provides observational evidence that the theory’s core logic is present in real-world political discourse. Second, I conduct a survey experiment to assess how ordinary citizens respond when exposed to similar frames. While surveys cannot demonstrate that these mechanisms have historically driven mass attitudes, they allow me to isolate causal responses and show that the same trade-theoretic logic resonates with the public which shapes policy. Together, these analyses establish both the </a:t>
            </a:r>
            <a:r>
              <a:rPr lang="en" b="1">
                <a:solidFill>
                  <a:schemeClr val="dk1"/>
                </a:solidFill>
              </a:rPr>
              <a:t>external validity</a:t>
            </a:r>
            <a:r>
              <a:rPr lang="en">
                <a:solidFill>
                  <a:schemeClr val="dk1"/>
                </a:solidFill>
              </a:rPr>
              <a:t> (elites actually use these frames) and the </a:t>
            </a:r>
            <a:r>
              <a:rPr lang="en" b="1">
                <a:solidFill>
                  <a:schemeClr val="dk1"/>
                </a:solidFill>
              </a:rPr>
              <a:t>internal validity</a:t>
            </a:r>
            <a:r>
              <a:rPr lang="en">
                <a:solidFill>
                  <a:schemeClr val="dk1"/>
                </a:solidFill>
              </a:rPr>
              <a:t> (citizens respond in predictable ways to them) of the proposed mechanism, thereby triangulating support for the theory.</a:t>
            </a:r>
            <a:endParaRPr i="1">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64cd816900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64cd816900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64cd816900_0_9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64cd816900_0_9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64cd816900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64cd816900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64cd816900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64cd816900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66981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64cd816900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64cd816900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116636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64cd816900_0_9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364cd816900_0_9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SC: how does it differ from new losers, sociotropic; clearly listing competing theories in survey, 1.5k may not be enough</a:t>
            </a:r>
            <a:endParaRPr/>
          </a:p>
          <a:p>
            <a:pPr marL="0" lvl="0" indent="0" algn="l" rtl="0">
              <a:spcBef>
                <a:spcPts val="0"/>
              </a:spcBef>
              <a:spcAft>
                <a:spcPts val="0"/>
              </a:spcAft>
              <a:buNone/>
            </a:pPr>
            <a:endParaRPr/>
          </a:p>
          <a:p>
            <a:pPr marL="0" lvl="0" indent="0" algn="l" rtl="0">
              <a:spcBef>
                <a:spcPts val="0"/>
              </a:spcBef>
              <a:spcAft>
                <a:spcPts val="0"/>
              </a:spcAft>
              <a:buNone/>
            </a:pPr>
            <a:r>
              <a:rPr lang="en"/>
              <a:t>-DRAM was seen as adv, later no longer</a:t>
            </a:r>
            <a:endParaRPr/>
          </a:p>
          <a:p>
            <a:pPr marL="0" lvl="0" indent="0" algn="l" rtl="0">
              <a:spcBef>
                <a:spcPts val="0"/>
              </a:spcBef>
              <a:spcAft>
                <a:spcPts val="0"/>
              </a:spcAft>
              <a:buNone/>
            </a:pPr>
            <a:r>
              <a:rPr lang="en"/>
              <a:t>-shipbuilding/rail became labor-intensive, not capital/R&amp;D</a:t>
            </a:r>
            <a:endParaRPr/>
          </a:p>
          <a:p>
            <a:pPr marL="0" lvl="0" indent="0" algn="l" rtl="0">
              <a:spcBef>
                <a:spcPts val="0"/>
              </a:spcBef>
              <a:spcAft>
                <a:spcPts val="0"/>
              </a:spcAft>
              <a:buNone/>
            </a:pPr>
            <a:r>
              <a:rPr lang="en"/>
              <a:t>-autoworkers were among best-paid blue collar workers. Hard to find other sectors (with lower oppo cost) for autoworkers —perceived CA</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64cd816900_0_8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364cd816900_0_8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Chicago council survey: trade polls. I need to show agregarte patterns </a:t>
            </a:r>
            <a:endParaRPr/>
          </a:p>
          <a:p>
            <a:pPr marL="0" lvl="0" indent="0" algn="l" rtl="0">
              <a:spcBef>
                <a:spcPts val="0"/>
              </a:spcBef>
              <a:spcAft>
                <a:spcPts val="0"/>
              </a:spcAft>
              <a:buNone/>
            </a:pPr>
            <a:r>
              <a:rPr lang="en"/>
              <a:t>-Too much?? Can you explain all variables about trade. COMPETITIVE &amp; STRATEGIC INDUSTRIES. OR ADV. </a:t>
            </a:r>
            <a:endParaRPr/>
          </a:p>
          <a:p>
            <a:pPr marL="0" lvl="0" indent="0" algn="l" rtl="0">
              <a:spcBef>
                <a:spcPts val="0"/>
              </a:spcBef>
              <a:spcAft>
                <a:spcPts val="0"/>
              </a:spcAft>
              <a:buNone/>
            </a:pPr>
            <a:r>
              <a:rPr lang="en"/>
              <a:t>-DONT WANT TO GO INTO ECON DEBATE. Search committee: Where is publication? RQ first. </a:t>
            </a:r>
            <a:endParaRPr/>
          </a:p>
          <a:p>
            <a:pPr marL="0" lvl="0" indent="0" algn="l" rtl="0">
              <a:spcBef>
                <a:spcPts val="0"/>
              </a:spcBef>
              <a:spcAft>
                <a:spcPts val="0"/>
              </a:spcAft>
              <a:buNone/>
            </a:pPr>
            <a:r>
              <a:rPr lang="en"/>
              <a:t>CD: can you just do how public opinion react to strategic sectors? 2 papers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80cf155909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80cf155909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SC: how does it differ from new losers, sociotropic; clearly listing competing theories in survey, 1.5k may not be enough</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489f2408a1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489f2408a1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MIC 2025 are China’s goals targeting US adv sectors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9d8df5c169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9d8df5c169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64cd816900_0_8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364cd816900_0_8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2100" algn="l" rtl="0">
              <a:lnSpc>
                <a:spcPct val="115000"/>
              </a:lnSpc>
              <a:spcBef>
                <a:spcPts val="1200"/>
              </a:spcBef>
              <a:spcAft>
                <a:spcPts val="0"/>
              </a:spcAft>
              <a:buClr>
                <a:schemeClr val="dk1"/>
              </a:buClr>
              <a:buSzPts val="1000"/>
              <a:buChar char="●"/>
            </a:pPr>
            <a:r>
              <a:rPr lang="en" sz="1000" b="1">
                <a:solidFill>
                  <a:schemeClr val="dk1"/>
                </a:solidFill>
              </a:rPr>
              <a:t>Ricardian/HO</a:t>
            </a:r>
            <a:r>
              <a:rPr lang="en" sz="1000">
                <a:solidFill>
                  <a:schemeClr val="dk1"/>
                </a:solidFill>
              </a:rPr>
              <a:t>: comparative advantage explains </a:t>
            </a:r>
            <a:r>
              <a:rPr lang="en" sz="1000" i="1">
                <a:solidFill>
                  <a:schemeClr val="dk1"/>
                </a:solidFill>
              </a:rPr>
              <a:t>which sectors/countries trade</a:t>
            </a:r>
            <a:r>
              <a:rPr lang="en" sz="1000">
                <a:solidFill>
                  <a:schemeClr val="dk1"/>
                </a:solidFill>
              </a:rPr>
              <a:t>.</a:t>
            </a:r>
            <a:endParaRPr sz="1000">
              <a:solidFill>
                <a:schemeClr val="dk1"/>
              </a:solidFill>
            </a:endParaRPr>
          </a:p>
          <a:p>
            <a:pPr marL="457200" lvl="0" indent="-292100" algn="l" rtl="0">
              <a:lnSpc>
                <a:spcPct val="115000"/>
              </a:lnSpc>
              <a:spcBef>
                <a:spcPts val="0"/>
              </a:spcBef>
              <a:spcAft>
                <a:spcPts val="0"/>
              </a:spcAft>
              <a:buClr>
                <a:schemeClr val="dk1"/>
              </a:buClr>
              <a:buSzPts val="1000"/>
              <a:buChar char="●"/>
            </a:pPr>
            <a:r>
              <a:rPr lang="en" sz="1000" b="1">
                <a:solidFill>
                  <a:schemeClr val="dk1"/>
                </a:solidFill>
              </a:rPr>
              <a:t>Krugman (1980)</a:t>
            </a:r>
            <a:r>
              <a:rPr lang="en" sz="1000">
                <a:solidFill>
                  <a:schemeClr val="dk1"/>
                </a:solidFill>
              </a:rPr>
              <a:t>: no need for comparative advantage → trade arises </a:t>
            </a:r>
            <a:r>
              <a:rPr lang="en" sz="1000" i="1">
                <a:solidFill>
                  <a:schemeClr val="dk1"/>
                </a:solidFill>
              </a:rPr>
              <a:t>even between identical countries</a:t>
            </a:r>
            <a:r>
              <a:rPr lang="en" sz="1000">
                <a:solidFill>
                  <a:schemeClr val="dk1"/>
                </a:solidFill>
              </a:rPr>
              <a:t>. This explained the observed large volume of trade between similar industrialized nations.</a:t>
            </a:r>
            <a:endParaRPr sz="1000">
              <a:solidFill>
                <a:schemeClr val="dk1"/>
              </a:solidFill>
            </a:endParaRPr>
          </a:p>
          <a:p>
            <a:pPr marL="457200" lvl="0" indent="-292100" algn="l" rtl="0">
              <a:lnSpc>
                <a:spcPct val="115000"/>
              </a:lnSpc>
              <a:spcBef>
                <a:spcPts val="0"/>
              </a:spcBef>
              <a:spcAft>
                <a:spcPts val="0"/>
              </a:spcAft>
              <a:buClr>
                <a:schemeClr val="dk1"/>
              </a:buClr>
              <a:buSzPts val="1000"/>
              <a:buChar char="●"/>
            </a:pPr>
            <a:r>
              <a:rPr lang="en" sz="1000" b="1">
                <a:solidFill>
                  <a:schemeClr val="dk1"/>
                </a:solidFill>
              </a:rPr>
              <a:t>Melitz (2003)</a:t>
            </a:r>
            <a:r>
              <a:rPr lang="en" sz="1000">
                <a:solidFill>
                  <a:schemeClr val="dk1"/>
                </a:solidFill>
              </a:rPr>
              <a:t>: builds on Krugman’s framework but adds </a:t>
            </a:r>
            <a:r>
              <a:rPr lang="en" sz="1000" b="1">
                <a:solidFill>
                  <a:schemeClr val="dk1"/>
                </a:solidFill>
              </a:rPr>
              <a:t>firm-level heterogeneity</a:t>
            </a:r>
            <a:r>
              <a:rPr lang="en" sz="1000">
                <a:solidFill>
                  <a:schemeClr val="dk1"/>
                </a:solidFill>
              </a:rPr>
              <a:t>, showing how only the most productive firms export.</a:t>
            </a:r>
            <a:endParaRPr sz="1000">
              <a:solidFill>
                <a:schemeClr val="dk1"/>
              </a:solidFill>
            </a:endParaRPr>
          </a:p>
          <a:p>
            <a:pPr marL="457200" lvl="0" indent="0" algn="l" rtl="0">
              <a:lnSpc>
                <a:spcPct val="115000"/>
              </a:lnSpc>
              <a:spcBef>
                <a:spcPts val="1200"/>
              </a:spcBef>
              <a:spcAft>
                <a:spcPts val="0"/>
              </a:spcAft>
              <a:buNone/>
            </a:pPr>
            <a:endParaRPr sz="1000">
              <a:solidFill>
                <a:schemeClr val="dk1"/>
              </a:solidFill>
            </a:endParaRPr>
          </a:p>
          <a:p>
            <a:pPr marL="457200" lvl="0" indent="-292100" algn="l" rtl="0">
              <a:lnSpc>
                <a:spcPct val="115000"/>
              </a:lnSpc>
              <a:spcBef>
                <a:spcPts val="1200"/>
              </a:spcBef>
              <a:spcAft>
                <a:spcPts val="0"/>
              </a:spcAft>
              <a:buClr>
                <a:schemeClr val="dk1"/>
              </a:buClr>
              <a:buSzPts val="1000"/>
              <a:buChar char="●"/>
            </a:pPr>
            <a:r>
              <a:rPr lang="en" sz="1000" b="1">
                <a:solidFill>
                  <a:schemeClr val="dk1"/>
                </a:solidFill>
              </a:rPr>
              <a:t>Ricardo (classical)</a:t>
            </a:r>
            <a:r>
              <a:rPr lang="en" sz="1000">
                <a:solidFill>
                  <a:schemeClr val="dk1"/>
                </a:solidFill>
              </a:rPr>
              <a:t> → CA = relative productivity across sectors.</a:t>
            </a:r>
            <a:endParaRPr sz="1000">
              <a:solidFill>
                <a:schemeClr val="dk1"/>
              </a:solidFill>
            </a:endParaRPr>
          </a:p>
          <a:p>
            <a:pPr marL="457200" lvl="0" indent="-292100" algn="l" rtl="0">
              <a:lnSpc>
                <a:spcPct val="115000"/>
              </a:lnSpc>
              <a:spcBef>
                <a:spcPts val="0"/>
              </a:spcBef>
              <a:spcAft>
                <a:spcPts val="0"/>
              </a:spcAft>
              <a:buClr>
                <a:schemeClr val="dk1"/>
              </a:buClr>
              <a:buSzPts val="1000"/>
              <a:buChar char="●"/>
            </a:pPr>
            <a:r>
              <a:rPr lang="en" sz="1000" b="1">
                <a:solidFill>
                  <a:schemeClr val="dk1"/>
                </a:solidFill>
              </a:rPr>
              <a:t>Heckscher–Ohlin</a:t>
            </a:r>
            <a:r>
              <a:rPr lang="en" sz="1000">
                <a:solidFill>
                  <a:schemeClr val="dk1"/>
                </a:solidFill>
              </a:rPr>
              <a:t> → CA = factor abundance.</a:t>
            </a:r>
            <a:endParaRPr sz="1000">
              <a:solidFill>
                <a:schemeClr val="dk1"/>
              </a:solidFill>
            </a:endParaRPr>
          </a:p>
          <a:p>
            <a:pPr marL="457200" lvl="0" indent="-292100" algn="l" rtl="0">
              <a:lnSpc>
                <a:spcPct val="115000"/>
              </a:lnSpc>
              <a:spcBef>
                <a:spcPts val="0"/>
              </a:spcBef>
              <a:spcAft>
                <a:spcPts val="0"/>
              </a:spcAft>
              <a:buClr>
                <a:schemeClr val="dk1"/>
              </a:buClr>
              <a:buSzPts val="1000"/>
              <a:buChar char="●"/>
            </a:pPr>
            <a:r>
              <a:rPr lang="en" sz="1000" b="1">
                <a:solidFill>
                  <a:schemeClr val="dk1"/>
                </a:solidFill>
              </a:rPr>
              <a:t>Krugman (1980)</a:t>
            </a:r>
            <a:r>
              <a:rPr lang="en" sz="1000">
                <a:solidFill>
                  <a:schemeClr val="dk1"/>
                </a:solidFill>
              </a:rPr>
              <a:t> → CA = specialization in differentiated varieties, sometimes reinforced by market size (home-market effect).</a:t>
            </a:r>
            <a:endParaRPr sz="1000">
              <a:solidFill>
                <a:schemeClr val="dk1"/>
              </a:solidFill>
            </a:endParaRPr>
          </a:p>
          <a:p>
            <a:pPr marL="457200" lvl="0" indent="-292100" algn="l" rtl="0">
              <a:lnSpc>
                <a:spcPct val="115000"/>
              </a:lnSpc>
              <a:spcBef>
                <a:spcPts val="0"/>
              </a:spcBef>
              <a:spcAft>
                <a:spcPts val="0"/>
              </a:spcAft>
              <a:buClr>
                <a:schemeClr val="dk1"/>
              </a:buClr>
              <a:buSzPts val="1000"/>
              <a:buChar char="●"/>
            </a:pPr>
            <a:r>
              <a:rPr lang="en" sz="1000" b="1">
                <a:solidFill>
                  <a:schemeClr val="dk1"/>
                </a:solidFill>
              </a:rPr>
              <a:t>Melitz (2003)</a:t>
            </a:r>
            <a:r>
              <a:rPr lang="en" sz="1000">
                <a:solidFill>
                  <a:schemeClr val="dk1"/>
                </a:solidFill>
              </a:rPr>
              <a:t> → CA = industry-level advantage, but filtered by firm productivity cutoffs.</a:t>
            </a:r>
            <a:endParaRPr sz="1000">
              <a:solidFill>
                <a:schemeClr val="dk1"/>
              </a:solidFill>
            </a:endParaRPr>
          </a:p>
          <a:p>
            <a:pPr marL="457200" lvl="0" indent="-292100" algn="l" rtl="0">
              <a:lnSpc>
                <a:spcPct val="115000"/>
              </a:lnSpc>
              <a:spcBef>
                <a:spcPts val="0"/>
              </a:spcBef>
              <a:spcAft>
                <a:spcPts val="0"/>
              </a:spcAft>
              <a:buClr>
                <a:schemeClr val="dk1"/>
              </a:buClr>
              <a:buSzPts val="1000"/>
              <a:buChar char="●"/>
            </a:pPr>
            <a:r>
              <a:rPr lang="en" sz="1000" b="1">
                <a:solidFill>
                  <a:schemeClr val="dk1"/>
                </a:solidFill>
              </a:rPr>
              <a:t>Eaton–Kortum (2002)</a:t>
            </a:r>
            <a:r>
              <a:rPr lang="en" sz="1000">
                <a:solidFill>
                  <a:schemeClr val="dk1"/>
                </a:solidFill>
              </a:rPr>
              <a:t> → CA = stochastic productivity draws across goods and countries.</a:t>
            </a:r>
            <a:endParaRPr sz="1000">
              <a:solidFill>
                <a:schemeClr val="dk1"/>
              </a:solidFill>
            </a:endParaRPr>
          </a:p>
          <a:p>
            <a:pPr marL="457200" lvl="0" indent="0" algn="l" rtl="0">
              <a:lnSpc>
                <a:spcPct val="115000"/>
              </a:lnSpc>
              <a:spcBef>
                <a:spcPts val="1200"/>
              </a:spcBef>
              <a:spcAft>
                <a:spcPts val="0"/>
              </a:spcAft>
              <a:buNone/>
            </a:pPr>
            <a:br>
              <a:rPr lang="en" sz="1000">
                <a:solidFill>
                  <a:schemeClr val="dk1"/>
                </a:solidFill>
              </a:rPr>
            </a:br>
            <a:endParaRPr sz="1000">
              <a:solidFill>
                <a:schemeClr val="dk1"/>
              </a:solidFill>
            </a:endParaRPr>
          </a:p>
          <a:p>
            <a:pPr marL="0" lvl="0" indent="0" algn="l" rtl="0">
              <a:spcBef>
                <a:spcPts val="1200"/>
              </a:spcBef>
              <a:spcAft>
                <a:spcPts val="0"/>
              </a:spcAft>
              <a:buNone/>
            </a:pPr>
            <a:endParaRPr sz="10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79aa9b425e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79aa9b425e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-GY: is it just higher-paying job/sector story? Can we relax the condition to include higher value-added? CA for the US is mostly higher-value per capita (oil, auto, algri is special), Some overlaps but not exact. If some good-paying jobs like swiss watch, japan rail equipment, or shipbuilding but not adv, since free trade should still bring net gain</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-consider dynamic CA: current one may become disadv (e.g., telecom), hope on others</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4cd816900_0_9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4cd816900_0_9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64cd816900_0_9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64cd816900_0_9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64cd816900_0_9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364cd816900_0_9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Not exactly rule out competing theories, but consistent/provides support. Now look at survey experiment.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9" name="Google Shape;19;p2"/>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0" name="Google Shape;2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311700" y="814800"/>
            <a:ext cx="8571300" cy="942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a:p>
        </p:txBody>
      </p:sp>
      <p:sp>
        <p:nvSpPr>
          <p:cNvPr id="24" name="Google Shape;2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2" name="Google Shape;32;p5"/>
          <p:cNvSpPr txBox="1">
            <a:spLocks noGrp="1"/>
          </p:cNvSpPr>
          <p:nvPr>
            <p:ph type="body" idx="1"/>
          </p:nvPr>
        </p:nvSpPr>
        <p:spPr>
          <a:xfrm>
            <a:off x="3117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body" idx="2"/>
          </p:nvPr>
        </p:nvSpPr>
        <p:spPr>
          <a:xfrm>
            <a:off x="48324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7" name="Google Shape;3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526350"/>
            <a:ext cx="56136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dk2"/>
              </a:buClr>
              <a:buSzPts val="5400"/>
              <a:buNone/>
              <a:defRPr sz="5400" b="0">
                <a:solidFill>
                  <a:schemeClr val="dk2"/>
                </a:solidFill>
              </a:defRPr>
            </a:lvl1pPr>
            <a:lvl2pPr lvl="1">
              <a:spcBef>
                <a:spcPts val="0"/>
              </a:spcBef>
              <a:spcAft>
                <a:spcPts val="0"/>
              </a:spcAft>
              <a:buClr>
                <a:schemeClr val="dk2"/>
              </a:buClr>
              <a:buSzPts val="5400"/>
              <a:buNone/>
              <a:defRPr sz="5400" b="0">
                <a:solidFill>
                  <a:schemeClr val="dk2"/>
                </a:solidFill>
              </a:defRPr>
            </a:lvl2pPr>
            <a:lvl3pPr lvl="2">
              <a:spcBef>
                <a:spcPts val="0"/>
              </a:spcBef>
              <a:spcAft>
                <a:spcPts val="0"/>
              </a:spcAft>
              <a:buClr>
                <a:schemeClr val="dk2"/>
              </a:buClr>
              <a:buSzPts val="5400"/>
              <a:buNone/>
              <a:defRPr sz="5400" b="0">
                <a:solidFill>
                  <a:schemeClr val="dk2"/>
                </a:solidFill>
              </a:defRPr>
            </a:lvl3pPr>
            <a:lvl4pPr lvl="3">
              <a:spcBef>
                <a:spcPts val="0"/>
              </a:spcBef>
              <a:spcAft>
                <a:spcPts val="0"/>
              </a:spcAft>
              <a:buClr>
                <a:schemeClr val="dk2"/>
              </a:buClr>
              <a:buSzPts val="5400"/>
              <a:buNone/>
              <a:defRPr sz="5400" b="0">
                <a:solidFill>
                  <a:schemeClr val="dk2"/>
                </a:solidFill>
              </a:defRPr>
            </a:lvl4pPr>
            <a:lvl5pPr lvl="4">
              <a:spcBef>
                <a:spcPts val="0"/>
              </a:spcBef>
              <a:spcAft>
                <a:spcPts val="0"/>
              </a:spcAft>
              <a:buClr>
                <a:schemeClr val="dk2"/>
              </a:buClr>
              <a:buSzPts val="5400"/>
              <a:buNone/>
              <a:defRPr sz="5400" b="0">
                <a:solidFill>
                  <a:schemeClr val="dk2"/>
                </a:solidFill>
              </a:defRPr>
            </a:lvl5pPr>
            <a:lvl6pPr lvl="5">
              <a:spcBef>
                <a:spcPts val="0"/>
              </a:spcBef>
              <a:spcAft>
                <a:spcPts val="0"/>
              </a:spcAft>
              <a:buClr>
                <a:schemeClr val="dk2"/>
              </a:buClr>
              <a:buSzPts val="5400"/>
              <a:buNone/>
              <a:defRPr sz="5400" b="0">
                <a:solidFill>
                  <a:schemeClr val="dk2"/>
                </a:solidFill>
              </a:defRPr>
            </a:lvl6pPr>
            <a:lvl7pPr lvl="6">
              <a:spcBef>
                <a:spcPts val="0"/>
              </a:spcBef>
              <a:spcAft>
                <a:spcPts val="0"/>
              </a:spcAft>
              <a:buClr>
                <a:schemeClr val="dk2"/>
              </a:buClr>
              <a:buSzPts val="5400"/>
              <a:buNone/>
              <a:defRPr sz="5400" b="0">
                <a:solidFill>
                  <a:schemeClr val="dk2"/>
                </a:solidFill>
              </a:defRPr>
            </a:lvl7pPr>
            <a:lvl8pPr lvl="7">
              <a:spcBef>
                <a:spcPts val="0"/>
              </a:spcBef>
              <a:spcAft>
                <a:spcPts val="0"/>
              </a:spcAft>
              <a:buClr>
                <a:schemeClr val="dk2"/>
              </a:buClr>
              <a:buSzPts val="5400"/>
              <a:buNone/>
              <a:defRPr sz="5400" b="0">
                <a:solidFill>
                  <a:schemeClr val="dk2"/>
                </a:solidFill>
              </a:defRPr>
            </a:lvl8pPr>
            <a:lvl9pPr lvl="8">
              <a:spcBef>
                <a:spcPts val="0"/>
              </a:spcBef>
              <a:spcAft>
                <a:spcPts val="0"/>
              </a:spcAft>
              <a:buClr>
                <a:schemeClr val="dk2"/>
              </a:buClr>
              <a:buSzPts val="5400"/>
              <a:buNone/>
              <a:defRPr sz="5400" b="0">
                <a:solidFill>
                  <a:schemeClr val="dk2"/>
                </a:solidFill>
              </a:defRPr>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7" name="Google Shape;47;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265500" y="1039675"/>
            <a:ext cx="4045200" cy="16758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9" name="Google Shape;49;p9"/>
          <p:cNvSpPr txBox="1">
            <a:spLocks noGrp="1"/>
          </p:cNvSpPr>
          <p:nvPr>
            <p:ph type="subTitle" idx="1"/>
          </p:nvPr>
        </p:nvSpPr>
        <p:spPr>
          <a:xfrm>
            <a:off x="265500" y="27268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1700" y="4230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54" name="Google Shape;5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1"/>
          <p:cNvSpPr txBox="1">
            <a:spLocks noGrp="1"/>
          </p:cNvSpPr>
          <p:nvPr>
            <p:ph type="title" hasCustomPrompt="1"/>
          </p:nvPr>
        </p:nvSpPr>
        <p:spPr>
          <a:xfrm>
            <a:off x="311700" y="1304850"/>
            <a:ext cx="85206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a:spLocks noGrp="1"/>
          </p:cNvSpPr>
          <p:nvPr>
            <p:ph type="body" idx="1"/>
          </p:nvPr>
        </p:nvSpPr>
        <p:spPr>
          <a:xfrm>
            <a:off x="311700" y="29956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9" name="Google Shape;5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Background">
  <p:cSld name="CUSTOM">
    <p:bg>
      <p:bgPr>
        <a:solidFill>
          <a:schemeClr val="dk2"/>
        </a:solidFill>
        <a:effectLst/>
      </p:bgPr>
    </p:bg>
    <p:spTree>
      <p:nvGrpSpPr>
        <p:cNvPr id="1" name="Shape 62"/>
        <p:cNvGrpSpPr/>
        <p:nvPr/>
      </p:nvGrpSpPr>
      <p:grpSpPr>
        <a:xfrm>
          <a:off x="0" y="0"/>
          <a:ext cx="0" cy="0"/>
          <a:chOff x="0" y="0"/>
          <a:chExt cx="0" cy="0"/>
        </a:xfrm>
      </p:grpSpPr>
      <p:sp>
        <p:nvSpPr>
          <p:cNvPr id="63" name="Google Shape;63;p13"/>
          <p:cNvSpPr/>
          <p:nvPr/>
        </p:nvSpPr>
        <p:spPr>
          <a:xfrm>
            <a:off x="-2450" y="486600"/>
            <a:ext cx="9144000" cy="4656900"/>
          </a:xfrm>
          <a:prstGeom prst="roundRect">
            <a:avLst>
              <a:gd name="adj" fmla="val 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cxnSp>
        <p:nvCxnSpPr>
          <p:cNvPr id="64" name="Google Shape;64;p13"/>
          <p:cNvCxnSpPr/>
          <p:nvPr/>
        </p:nvCxnSpPr>
        <p:spPr>
          <a:xfrm rot="10800000">
            <a:off x="593700" y="3671900"/>
            <a:ext cx="7948200" cy="0"/>
          </a:xfrm>
          <a:prstGeom prst="straightConnector1">
            <a:avLst/>
          </a:prstGeom>
          <a:noFill/>
          <a:ln w="9525" cap="flat" cmpd="sng">
            <a:solidFill>
              <a:schemeClr val="dk1"/>
            </a:solidFill>
            <a:prstDash val="solid"/>
            <a:round/>
            <a:headEnd type="none" w="sm" len="sm"/>
            <a:tailEnd type="none" w="sm" len="sm"/>
          </a:ln>
        </p:spPr>
      </p:cxnSp>
      <p:sp>
        <p:nvSpPr>
          <p:cNvPr id="65" name="Google Shape;65;p13"/>
          <p:cNvSpPr txBox="1">
            <a:spLocks noGrp="1"/>
          </p:cNvSpPr>
          <p:nvPr>
            <p:ph type="title"/>
          </p:nvPr>
        </p:nvSpPr>
        <p:spPr>
          <a:xfrm>
            <a:off x="593175" y="486000"/>
            <a:ext cx="7916400" cy="2743200"/>
          </a:xfrm>
          <a:prstGeom prst="rect">
            <a:avLst/>
          </a:prstGeom>
        </p:spPr>
        <p:txBody>
          <a:bodyPr spcFirstLastPara="1" wrap="square" lIns="0" tIns="0" rIns="0" bIns="0" anchor="b" anchorCtr="0">
            <a:noAutofit/>
          </a:bodyPr>
          <a:lstStyle>
            <a:lvl1pPr lvl="0">
              <a:lnSpc>
                <a:spcPct val="80000"/>
              </a:lnSpc>
              <a:spcBef>
                <a:spcPts val="0"/>
              </a:spcBef>
              <a:spcAft>
                <a:spcPts val="0"/>
              </a:spcAft>
              <a:buSzPts val="8000"/>
              <a:buFont typeface="Neuton Light"/>
              <a:buNone/>
              <a:defRPr sz="8000"/>
            </a:lvl1pPr>
            <a:lvl2pPr lvl="1">
              <a:lnSpc>
                <a:spcPct val="80000"/>
              </a:lnSpc>
              <a:spcBef>
                <a:spcPts val="0"/>
              </a:spcBef>
              <a:spcAft>
                <a:spcPts val="0"/>
              </a:spcAft>
              <a:buSzPts val="5000"/>
              <a:buFont typeface="Neuton Light"/>
              <a:buNone/>
              <a:defRPr sz="5000"/>
            </a:lvl2pPr>
            <a:lvl3pPr lvl="2">
              <a:lnSpc>
                <a:spcPct val="80000"/>
              </a:lnSpc>
              <a:spcBef>
                <a:spcPts val="0"/>
              </a:spcBef>
              <a:spcAft>
                <a:spcPts val="0"/>
              </a:spcAft>
              <a:buSzPts val="5000"/>
              <a:buFont typeface="Neuton Light"/>
              <a:buNone/>
              <a:defRPr sz="5000"/>
            </a:lvl3pPr>
            <a:lvl4pPr lvl="3">
              <a:lnSpc>
                <a:spcPct val="80000"/>
              </a:lnSpc>
              <a:spcBef>
                <a:spcPts val="0"/>
              </a:spcBef>
              <a:spcAft>
                <a:spcPts val="0"/>
              </a:spcAft>
              <a:buSzPts val="5000"/>
              <a:buFont typeface="Neuton Light"/>
              <a:buNone/>
              <a:defRPr sz="5000"/>
            </a:lvl4pPr>
            <a:lvl5pPr lvl="4">
              <a:lnSpc>
                <a:spcPct val="80000"/>
              </a:lnSpc>
              <a:spcBef>
                <a:spcPts val="0"/>
              </a:spcBef>
              <a:spcAft>
                <a:spcPts val="0"/>
              </a:spcAft>
              <a:buSzPts val="5000"/>
              <a:buFont typeface="Neuton Light"/>
              <a:buNone/>
              <a:defRPr sz="5000"/>
            </a:lvl5pPr>
            <a:lvl6pPr lvl="5">
              <a:lnSpc>
                <a:spcPct val="80000"/>
              </a:lnSpc>
              <a:spcBef>
                <a:spcPts val="0"/>
              </a:spcBef>
              <a:spcAft>
                <a:spcPts val="0"/>
              </a:spcAft>
              <a:buSzPts val="5000"/>
              <a:buFont typeface="Neuton Light"/>
              <a:buNone/>
              <a:defRPr sz="5000"/>
            </a:lvl6pPr>
            <a:lvl7pPr lvl="6">
              <a:lnSpc>
                <a:spcPct val="80000"/>
              </a:lnSpc>
              <a:spcBef>
                <a:spcPts val="0"/>
              </a:spcBef>
              <a:spcAft>
                <a:spcPts val="0"/>
              </a:spcAft>
              <a:buSzPts val="5000"/>
              <a:buFont typeface="Neuton Light"/>
              <a:buNone/>
              <a:defRPr sz="5000"/>
            </a:lvl7pPr>
            <a:lvl8pPr lvl="7">
              <a:lnSpc>
                <a:spcPct val="80000"/>
              </a:lnSpc>
              <a:spcBef>
                <a:spcPts val="0"/>
              </a:spcBef>
              <a:spcAft>
                <a:spcPts val="0"/>
              </a:spcAft>
              <a:buSzPts val="5000"/>
              <a:buFont typeface="Neuton Light"/>
              <a:buNone/>
              <a:defRPr sz="5000"/>
            </a:lvl8pPr>
            <a:lvl9pPr lvl="8">
              <a:lnSpc>
                <a:spcPct val="80000"/>
              </a:lnSpc>
              <a:spcBef>
                <a:spcPts val="0"/>
              </a:spcBef>
              <a:spcAft>
                <a:spcPts val="0"/>
              </a:spcAft>
              <a:buSzPts val="5000"/>
              <a:buFont typeface="Neuton Light"/>
              <a:buNone/>
              <a:defRPr sz="5000"/>
            </a:lvl9pPr>
          </a:lstStyle>
          <a:p>
            <a:endParaRPr/>
          </a:p>
        </p:txBody>
      </p:sp>
      <p:sp>
        <p:nvSpPr>
          <p:cNvPr id="66" name="Google Shape;66;p13"/>
          <p:cNvSpPr txBox="1">
            <a:spLocks noGrp="1"/>
          </p:cNvSpPr>
          <p:nvPr>
            <p:ph type="body" idx="1"/>
          </p:nvPr>
        </p:nvSpPr>
        <p:spPr>
          <a:xfrm>
            <a:off x="575438" y="4387200"/>
            <a:ext cx="2919600" cy="648000"/>
          </a:xfrm>
          <a:prstGeom prst="rect">
            <a:avLst/>
          </a:prstGeom>
        </p:spPr>
        <p:txBody>
          <a:bodyPr spcFirstLastPara="1" wrap="square" lIns="0" tIns="0" rIns="0" bIns="91425" anchor="t" anchorCtr="0">
            <a:normAutofit/>
          </a:bodyPr>
          <a:lstStyle>
            <a:lvl1pPr marL="457200" lvl="0" indent="-292100">
              <a:spcBef>
                <a:spcPts val="0"/>
              </a:spcBef>
              <a:spcAft>
                <a:spcPts val="0"/>
              </a:spcAft>
              <a:buSzPts val="1000"/>
              <a:buFont typeface="Hanken Grotesk"/>
              <a:buChar char="●"/>
              <a:defRPr/>
            </a:lvl1pPr>
            <a:lvl2pPr marL="914400" lvl="1" indent="-292100">
              <a:spcBef>
                <a:spcPts val="0"/>
              </a:spcBef>
              <a:spcAft>
                <a:spcPts val="0"/>
              </a:spcAft>
              <a:buSzPts val="1000"/>
              <a:buFont typeface="Hanken Grotesk"/>
              <a:buChar char="○"/>
              <a:defRPr/>
            </a:lvl2pPr>
            <a:lvl3pPr marL="1371600" lvl="2" indent="-292100">
              <a:spcBef>
                <a:spcPts val="0"/>
              </a:spcBef>
              <a:spcAft>
                <a:spcPts val="0"/>
              </a:spcAft>
              <a:buSzPts val="1000"/>
              <a:buFont typeface="Hanken Grotesk"/>
              <a:buChar char="■"/>
              <a:defRPr/>
            </a:lvl3pPr>
            <a:lvl4pPr marL="1828800" lvl="3" indent="-292100">
              <a:spcBef>
                <a:spcPts val="0"/>
              </a:spcBef>
              <a:spcAft>
                <a:spcPts val="0"/>
              </a:spcAft>
              <a:buSzPts val="1000"/>
              <a:buFont typeface="Hanken Grotesk"/>
              <a:buChar char="●"/>
              <a:defRPr/>
            </a:lvl4pPr>
            <a:lvl5pPr marL="2286000" lvl="4" indent="-292100">
              <a:spcBef>
                <a:spcPts val="0"/>
              </a:spcBef>
              <a:spcAft>
                <a:spcPts val="0"/>
              </a:spcAft>
              <a:buSzPts val="1000"/>
              <a:buFont typeface="Hanken Grotesk"/>
              <a:buChar char="○"/>
              <a:defRPr/>
            </a:lvl5pPr>
            <a:lvl6pPr marL="2743200" lvl="5" indent="-292100">
              <a:spcBef>
                <a:spcPts val="0"/>
              </a:spcBef>
              <a:spcAft>
                <a:spcPts val="0"/>
              </a:spcAft>
              <a:buSzPts val="1000"/>
              <a:buFont typeface="Hanken Grotesk"/>
              <a:buChar char="■"/>
              <a:defRPr/>
            </a:lvl6pPr>
            <a:lvl7pPr marL="3200400" lvl="6" indent="-292100">
              <a:spcBef>
                <a:spcPts val="0"/>
              </a:spcBef>
              <a:spcAft>
                <a:spcPts val="0"/>
              </a:spcAft>
              <a:buSzPts val="1000"/>
              <a:buFont typeface="Hanken Grotesk"/>
              <a:buChar char="●"/>
              <a:defRPr/>
            </a:lvl7pPr>
            <a:lvl8pPr marL="3657600" lvl="7" indent="-292100">
              <a:spcBef>
                <a:spcPts val="0"/>
              </a:spcBef>
              <a:spcAft>
                <a:spcPts val="0"/>
              </a:spcAft>
              <a:buSzPts val="1000"/>
              <a:buFont typeface="Hanken Grotesk"/>
              <a:buChar char="○"/>
              <a:defRPr/>
            </a:lvl8pPr>
            <a:lvl9pPr marL="4114800" lvl="8" indent="-292100">
              <a:spcBef>
                <a:spcPts val="0"/>
              </a:spcBef>
              <a:spcAft>
                <a:spcPts val="0"/>
              </a:spcAft>
              <a:buSzPts val="1000"/>
              <a:buFont typeface="Hanken Grotesk"/>
              <a:buChar char="■"/>
              <a:defRPr/>
            </a:lvl9pPr>
          </a:lstStyle>
          <a:p>
            <a:endParaRPr/>
          </a:p>
        </p:txBody>
      </p:sp>
      <p:sp>
        <p:nvSpPr>
          <p:cNvPr id="67" name="Google Shape;67;p13"/>
          <p:cNvSpPr txBox="1">
            <a:spLocks noGrp="1"/>
          </p:cNvSpPr>
          <p:nvPr>
            <p:ph type="subTitle" idx="2"/>
          </p:nvPr>
        </p:nvSpPr>
        <p:spPr>
          <a:xfrm>
            <a:off x="1284638" y="214800"/>
            <a:ext cx="1501200" cy="183600"/>
          </a:xfrm>
          <a:prstGeom prst="rect">
            <a:avLst/>
          </a:prstGeom>
        </p:spPr>
        <p:txBody>
          <a:bodyPr spcFirstLastPara="1" wrap="square" lIns="0" tIns="0" rIns="0" bIns="0" anchor="ctr" anchorCtr="0">
            <a:normAutofit/>
          </a:bodyPr>
          <a:lstStyle>
            <a:lvl1pPr lvl="0" algn="ctr">
              <a:spcBef>
                <a:spcPts val="0"/>
              </a:spcBef>
              <a:spcAft>
                <a:spcPts val="0"/>
              </a:spcAft>
              <a:buClr>
                <a:schemeClr val="dk1"/>
              </a:buClr>
              <a:buSzPts val="1200"/>
              <a:buFont typeface="Hanken Grotesk"/>
              <a:buNone/>
              <a:defRPr sz="1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13"/>
          <p:cNvSpPr txBox="1">
            <a:spLocks noGrp="1"/>
          </p:cNvSpPr>
          <p:nvPr>
            <p:ph type="subTitle" idx="3"/>
          </p:nvPr>
        </p:nvSpPr>
        <p:spPr>
          <a:xfrm>
            <a:off x="5539488" y="4387200"/>
            <a:ext cx="1501200" cy="183600"/>
          </a:xfrm>
          <a:prstGeom prst="rect">
            <a:avLst/>
          </a:prstGeom>
        </p:spPr>
        <p:txBody>
          <a:bodyPr spcFirstLastPara="1" wrap="square" lIns="0" tIns="0" rIns="0" bIns="0" anchor="ctr" anchorCtr="0">
            <a:normAutofit/>
          </a:bodyPr>
          <a:lstStyle>
            <a:lvl1pPr lvl="0" algn="r">
              <a:spcBef>
                <a:spcPts val="0"/>
              </a:spcBef>
              <a:spcAft>
                <a:spcPts val="0"/>
              </a:spcAft>
              <a:buSzPts val="1200"/>
              <a:buFont typeface="Hanken Grotesk"/>
              <a:buNone/>
              <a:defRPr sz="1200"/>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a:endParaRPr/>
          </a:p>
        </p:txBody>
      </p:sp>
      <p:sp>
        <p:nvSpPr>
          <p:cNvPr id="69" name="Google Shape;69;p13"/>
          <p:cNvSpPr txBox="1">
            <a:spLocks noGrp="1"/>
          </p:cNvSpPr>
          <p:nvPr>
            <p:ph type="subTitle" idx="4"/>
          </p:nvPr>
        </p:nvSpPr>
        <p:spPr>
          <a:xfrm>
            <a:off x="7040700" y="4387200"/>
            <a:ext cx="1501200" cy="183600"/>
          </a:xfrm>
          <a:prstGeom prst="rect">
            <a:avLst/>
          </a:prstGeom>
        </p:spPr>
        <p:txBody>
          <a:bodyPr spcFirstLastPara="1" wrap="square" lIns="0" tIns="0" rIns="0" bIns="0" anchor="ctr" anchorCtr="0">
            <a:normAutofit/>
          </a:bodyPr>
          <a:lstStyle>
            <a:lvl1pPr lvl="0" algn="r">
              <a:spcBef>
                <a:spcPts val="0"/>
              </a:spcBef>
              <a:spcAft>
                <a:spcPts val="0"/>
              </a:spcAft>
              <a:buSzPts val="1200"/>
              <a:buFont typeface="Hanken Grotesk"/>
              <a:buNone/>
              <a:defRPr sz="1200"/>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CUSTOM_7_1_1_1_1_1_1_1_1_1_1_1_1_1_1_1_1_2">
    <p:spTree>
      <p:nvGrpSpPr>
        <p:cNvPr id="1" name="Shape 70"/>
        <p:cNvGrpSpPr/>
        <p:nvPr/>
      </p:nvGrpSpPr>
      <p:grpSpPr>
        <a:xfrm>
          <a:off x="0" y="0"/>
          <a:ext cx="0" cy="0"/>
          <a:chOff x="0" y="0"/>
          <a:chExt cx="0" cy="0"/>
        </a:xfrm>
      </p:grpSpPr>
      <p:sp>
        <p:nvSpPr>
          <p:cNvPr id="71" name="Google Shape;71;p14"/>
          <p:cNvSpPr txBox="1">
            <a:spLocks noGrp="1"/>
          </p:cNvSpPr>
          <p:nvPr>
            <p:ph type="title"/>
          </p:nvPr>
        </p:nvSpPr>
        <p:spPr>
          <a:xfrm>
            <a:off x="-2450" y="4759975"/>
            <a:ext cx="9150600" cy="383400"/>
          </a:xfrm>
          <a:prstGeom prst="rect">
            <a:avLst/>
          </a:prstGeom>
        </p:spPr>
        <p:txBody>
          <a:bodyPr spcFirstLastPara="1" wrap="square" lIns="108000" tIns="0" rIns="108000" bIns="0" anchor="ctr" anchorCtr="0">
            <a:noAutofit/>
          </a:bodyPr>
          <a:lstStyle>
            <a:lvl1pPr lvl="0">
              <a:lnSpc>
                <a:spcPct val="90000"/>
              </a:lnSpc>
              <a:spcBef>
                <a:spcPts val="0"/>
              </a:spcBef>
              <a:spcAft>
                <a:spcPts val="0"/>
              </a:spcAft>
              <a:buSzPts val="2800"/>
              <a:buFont typeface="Hanken Grotesk Light"/>
              <a:buNone/>
              <a:defRPr sz="1400">
                <a:latin typeface="Hanken Grotesk Light"/>
                <a:ea typeface="Hanken Grotesk Light"/>
                <a:cs typeface="Hanken Grotesk Light"/>
                <a:sym typeface="Hanken Grotesk Light"/>
              </a:defRPr>
            </a:lvl1pPr>
            <a:lvl2pPr lvl="1">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2pPr>
            <a:lvl3pPr lvl="2">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3pPr>
            <a:lvl4pPr lvl="3">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4pPr>
            <a:lvl5pPr lvl="4">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5pPr>
            <a:lvl6pPr lvl="5">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6pPr>
            <a:lvl7pPr lvl="6">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7pPr>
            <a:lvl8pPr lvl="7">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8pPr>
            <a:lvl9pPr lvl="8">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9pPr>
          </a:lstStyle>
          <a:p>
            <a:endParaRPr/>
          </a:p>
        </p:txBody>
      </p:sp>
      <p:cxnSp>
        <p:nvCxnSpPr>
          <p:cNvPr id="72" name="Google Shape;72;p14"/>
          <p:cNvCxnSpPr/>
          <p:nvPr/>
        </p:nvCxnSpPr>
        <p:spPr>
          <a:xfrm rot="10800000">
            <a:off x="-2100" y="4759975"/>
            <a:ext cx="9148200" cy="0"/>
          </a:xfrm>
          <a:prstGeom prst="straightConnector1">
            <a:avLst/>
          </a:prstGeom>
          <a:noFill/>
          <a:ln w="9525" cap="flat" cmpd="sng">
            <a:solidFill>
              <a:schemeClr val="dk1"/>
            </a:solidFill>
            <a:prstDash val="solid"/>
            <a:round/>
            <a:headEnd type="none" w="sm" len="sm"/>
            <a:tailEnd type="none" w="sm" len="sm"/>
          </a:ln>
        </p:spPr>
      </p:cxnSp>
      <p:sp>
        <p:nvSpPr>
          <p:cNvPr id="73" name="Google Shape;73;p14"/>
          <p:cNvSpPr txBox="1">
            <a:spLocks noGrp="1"/>
          </p:cNvSpPr>
          <p:nvPr>
            <p:ph type="subTitle" idx="1"/>
          </p:nvPr>
        </p:nvSpPr>
        <p:spPr>
          <a:xfrm>
            <a:off x="594025" y="184700"/>
            <a:ext cx="3696300" cy="1539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a:endParaRPr/>
          </a:p>
        </p:txBody>
      </p:sp>
      <p:sp>
        <p:nvSpPr>
          <p:cNvPr id="74" name="Google Shape;74;p14"/>
          <p:cNvSpPr txBox="1">
            <a:spLocks noGrp="1"/>
          </p:cNvSpPr>
          <p:nvPr>
            <p:ph type="title" idx="2"/>
          </p:nvPr>
        </p:nvSpPr>
        <p:spPr>
          <a:xfrm>
            <a:off x="850" y="1078988"/>
            <a:ext cx="9144000" cy="3598800"/>
          </a:xfrm>
          <a:prstGeom prst="rect">
            <a:avLst/>
          </a:prstGeom>
        </p:spPr>
        <p:txBody>
          <a:bodyPr spcFirstLastPara="1" wrap="square" lIns="252000" tIns="0" rIns="252000" bIns="108000" anchor="t" anchorCtr="0">
            <a:noAutofit/>
          </a:bodyPr>
          <a:lstStyle>
            <a:lvl1pPr lvl="0">
              <a:spcBef>
                <a:spcPts val="0"/>
              </a:spcBef>
              <a:spcAft>
                <a:spcPts val="0"/>
              </a:spcAft>
              <a:buSzPts val="3000"/>
              <a:buNone/>
              <a:defRPr sz="3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grpSp>
        <p:nvGrpSpPr>
          <p:cNvPr id="75" name="Google Shape;75;p14"/>
          <p:cNvGrpSpPr/>
          <p:nvPr/>
        </p:nvGrpSpPr>
        <p:grpSpPr>
          <a:xfrm>
            <a:off x="1724267" y="547463"/>
            <a:ext cx="658200" cy="449397"/>
            <a:chOff x="2467317" y="547413"/>
            <a:chExt cx="658200" cy="449397"/>
          </a:xfrm>
        </p:grpSpPr>
        <p:sp>
          <p:nvSpPr>
            <p:cNvPr id="76" name="Google Shape;76;p14"/>
            <p:cNvSpPr/>
            <p:nvPr/>
          </p:nvSpPr>
          <p:spPr>
            <a:xfrm rot="5400000">
              <a:off x="2593167" y="464460"/>
              <a:ext cx="406500" cy="658200"/>
            </a:xfrm>
            <a:prstGeom prst="roundRect">
              <a:avLst>
                <a:gd name="adj" fmla="val 5925"/>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77" name="Google Shape;77;p14"/>
            <p:cNvSpPr/>
            <p:nvPr/>
          </p:nvSpPr>
          <p:spPr>
            <a:xfrm>
              <a:off x="2507750" y="547413"/>
              <a:ext cx="269319" cy="43229"/>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grpSp>
      <p:grpSp>
        <p:nvGrpSpPr>
          <p:cNvPr id="78" name="Google Shape;78;p14"/>
          <p:cNvGrpSpPr/>
          <p:nvPr/>
        </p:nvGrpSpPr>
        <p:grpSpPr>
          <a:xfrm>
            <a:off x="981142" y="547476"/>
            <a:ext cx="658200" cy="449397"/>
            <a:chOff x="2467317" y="547413"/>
            <a:chExt cx="658200" cy="449397"/>
          </a:xfrm>
        </p:grpSpPr>
        <p:sp>
          <p:nvSpPr>
            <p:cNvPr id="79" name="Google Shape;79;p14"/>
            <p:cNvSpPr/>
            <p:nvPr/>
          </p:nvSpPr>
          <p:spPr>
            <a:xfrm rot="5400000">
              <a:off x="2593167" y="464460"/>
              <a:ext cx="406500" cy="658200"/>
            </a:xfrm>
            <a:prstGeom prst="roundRect">
              <a:avLst>
                <a:gd name="adj" fmla="val 5925"/>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80" name="Google Shape;80;p14"/>
            <p:cNvSpPr/>
            <p:nvPr/>
          </p:nvSpPr>
          <p:spPr>
            <a:xfrm>
              <a:off x="2507750" y="547413"/>
              <a:ext cx="269319" cy="43229"/>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grpSp>
      <p:grpSp>
        <p:nvGrpSpPr>
          <p:cNvPr id="81" name="Google Shape;81;p14"/>
          <p:cNvGrpSpPr/>
          <p:nvPr/>
        </p:nvGrpSpPr>
        <p:grpSpPr>
          <a:xfrm>
            <a:off x="2467317" y="547413"/>
            <a:ext cx="658200" cy="449397"/>
            <a:chOff x="2467317" y="547413"/>
            <a:chExt cx="658200" cy="449397"/>
          </a:xfrm>
        </p:grpSpPr>
        <p:sp>
          <p:nvSpPr>
            <p:cNvPr id="82" name="Google Shape;82;p14"/>
            <p:cNvSpPr/>
            <p:nvPr/>
          </p:nvSpPr>
          <p:spPr>
            <a:xfrm rot="5400000">
              <a:off x="2593167" y="464460"/>
              <a:ext cx="406500" cy="658200"/>
            </a:xfrm>
            <a:prstGeom prst="roundRect">
              <a:avLst>
                <a:gd name="adj" fmla="val 5925"/>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83" name="Google Shape;83;p14"/>
            <p:cNvSpPr/>
            <p:nvPr/>
          </p:nvSpPr>
          <p:spPr>
            <a:xfrm>
              <a:off x="2507750" y="547413"/>
              <a:ext cx="269319" cy="43229"/>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grpSp>
      <p:grpSp>
        <p:nvGrpSpPr>
          <p:cNvPr id="84" name="Google Shape;84;p14"/>
          <p:cNvGrpSpPr/>
          <p:nvPr/>
        </p:nvGrpSpPr>
        <p:grpSpPr>
          <a:xfrm>
            <a:off x="238017" y="549426"/>
            <a:ext cx="658200" cy="449397"/>
            <a:chOff x="2467317" y="547413"/>
            <a:chExt cx="658200" cy="449397"/>
          </a:xfrm>
        </p:grpSpPr>
        <p:sp>
          <p:nvSpPr>
            <p:cNvPr id="85" name="Google Shape;85;p14"/>
            <p:cNvSpPr/>
            <p:nvPr/>
          </p:nvSpPr>
          <p:spPr>
            <a:xfrm rot="5400000">
              <a:off x="2593167" y="464460"/>
              <a:ext cx="406500" cy="658200"/>
            </a:xfrm>
            <a:prstGeom prst="roundRect">
              <a:avLst>
                <a:gd name="adj" fmla="val 5925"/>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86" name="Google Shape;86;p14"/>
            <p:cNvSpPr/>
            <p:nvPr/>
          </p:nvSpPr>
          <p:spPr>
            <a:xfrm>
              <a:off x="2507750" y="547413"/>
              <a:ext cx="269319" cy="43229"/>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5"/>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4000" dirty="0">
                <a:solidFill>
                  <a:srgbClr val="C00000"/>
                </a:solidFill>
              </a:rPr>
              <a:t>After Equilibrium</a:t>
            </a:r>
            <a:endParaRPr sz="4000" dirty="0">
              <a:solidFill>
                <a:srgbClr val="C00000"/>
              </a:solidFill>
            </a:endParaRPr>
          </a:p>
        </p:txBody>
      </p:sp>
      <p:sp>
        <p:nvSpPr>
          <p:cNvPr id="92" name="Google Shape;92;p15"/>
          <p:cNvSpPr txBox="1">
            <a:spLocks noGrp="1"/>
          </p:cNvSpPr>
          <p:nvPr>
            <p:ph type="subTitle" idx="1"/>
          </p:nvPr>
        </p:nvSpPr>
        <p:spPr>
          <a:xfrm>
            <a:off x="1982058" y="2774164"/>
            <a:ext cx="5179883"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400" b="1" dirty="0">
                <a:solidFill>
                  <a:srgbClr val="002060"/>
                </a:solidFill>
              </a:rPr>
              <a:t>Expectation Mismatch, Real Deindustrialization, and the Roots of Anti-globalization Politics </a:t>
            </a:r>
            <a:endParaRPr sz="1400" b="1" dirty="0">
              <a:solidFill>
                <a:srgbClr val="002060"/>
              </a:solidFill>
            </a:endParaRPr>
          </a:p>
        </p:txBody>
      </p:sp>
      <p:sp>
        <p:nvSpPr>
          <p:cNvPr id="93" name="Google Shape;93;p15"/>
          <p:cNvSpPr txBox="1"/>
          <p:nvPr/>
        </p:nvSpPr>
        <p:spPr>
          <a:xfrm>
            <a:off x="6056775" y="4236945"/>
            <a:ext cx="2084075" cy="26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rgbClr val="002060"/>
                </a:solidFill>
                <a:latin typeface="Open Sans"/>
                <a:ea typeface="Open Sans"/>
                <a:cs typeface="Open Sans"/>
                <a:sym typeface="Open Sans"/>
              </a:rPr>
              <a:t>George Yean</a:t>
            </a:r>
          </a:p>
          <a:p>
            <a:pPr marL="0" lvl="0" indent="0" algn="l" rtl="0">
              <a:spcBef>
                <a:spcPts val="0"/>
              </a:spcBef>
              <a:spcAft>
                <a:spcPts val="0"/>
              </a:spcAft>
              <a:buNone/>
            </a:pPr>
            <a:r>
              <a:rPr lang="en" sz="1200" dirty="0">
                <a:solidFill>
                  <a:srgbClr val="002060"/>
                </a:solidFill>
                <a:latin typeface="Open Sans"/>
                <a:ea typeface="Open Sans"/>
                <a:cs typeface="Open Sans"/>
                <a:sym typeface="Open Sans"/>
              </a:rPr>
              <a:t>Harvard University</a:t>
            </a:r>
          </a:p>
          <a:p>
            <a:pPr marL="0" lvl="0" indent="0" algn="l" rtl="0">
              <a:spcBef>
                <a:spcPts val="0"/>
              </a:spcBef>
              <a:spcAft>
                <a:spcPts val="0"/>
              </a:spcAft>
              <a:buNone/>
            </a:pPr>
            <a:r>
              <a:rPr lang="en" sz="1200" dirty="0">
                <a:solidFill>
                  <a:srgbClr val="002060"/>
                </a:solidFill>
                <a:latin typeface="Open Sans"/>
                <a:ea typeface="Open Sans"/>
                <a:cs typeface="Open Sans"/>
                <a:sym typeface="Open Sans"/>
              </a:rPr>
              <a:t>MPSA 2026</a:t>
            </a:r>
            <a:endParaRPr sz="1200" dirty="0">
              <a:solidFill>
                <a:srgbClr val="002060"/>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Intensified Anti-Globalization Tensions</a:t>
            </a:r>
            <a:endParaRPr dirty="0"/>
          </a:p>
        </p:txBody>
      </p:sp>
      <p:sp>
        <p:nvSpPr>
          <p:cNvPr id="99" name="Google Shape;99;p16"/>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sz="1900" b="1" dirty="0">
              <a:solidFill>
                <a:srgbClr val="002060"/>
              </a:solidFill>
            </a:endParaRPr>
          </a:p>
          <a:p>
            <a:pPr marL="457200" lvl="0" indent="-330200" algn="l" rtl="0">
              <a:lnSpc>
                <a:spcPct val="150000"/>
              </a:lnSpc>
              <a:spcBef>
                <a:spcPts val="1000"/>
              </a:spcBef>
              <a:spcAft>
                <a:spcPts val="0"/>
              </a:spcAft>
              <a:buClr>
                <a:srgbClr val="222222"/>
              </a:buClr>
              <a:buSzPts val="1600"/>
              <a:buChar char="●"/>
            </a:pPr>
            <a:r>
              <a:rPr lang="en" sz="1600" dirty="0">
                <a:solidFill>
                  <a:srgbClr val="002060"/>
                </a:solidFill>
              </a:rPr>
              <a:t>U.S.-China trade war (</a:t>
            </a:r>
            <a:r>
              <a:rPr lang="en" sz="1600" dirty="0" err="1">
                <a:solidFill>
                  <a:srgbClr val="002060"/>
                </a:solidFill>
              </a:rPr>
              <a:t>fmr</a:t>
            </a:r>
            <a:r>
              <a:rPr lang="en" sz="1600" dirty="0">
                <a:solidFill>
                  <a:srgbClr val="002060"/>
                </a:solidFill>
              </a:rPr>
              <a:t>. U.S.-Japan trade war)</a:t>
            </a:r>
            <a:endParaRPr sz="1600" dirty="0">
              <a:solidFill>
                <a:srgbClr val="002060"/>
              </a:solidFill>
            </a:endParaRPr>
          </a:p>
          <a:p>
            <a:pPr marL="457200" lvl="0" indent="-330200" algn="l" rtl="0">
              <a:lnSpc>
                <a:spcPct val="150000"/>
              </a:lnSpc>
              <a:spcBef>
                <a:spcPts val="0"/>
              </a:spcBef>
              <a:spcAft>
                <a:spcPts val="0"/>
              </a:spcAft>
              <a:buClr>
                <a:srgbClr val="222222"/>
              </a:buClr>
              <a:buSzPts val="1600"/>
              <a:buChar char="●"/>
            </a:pPr>
            <a:r>
              <a:rPr lang="en" sz="1600" dirty="0">
                <a:solidFill>
                  <a:srgbClr val="002060"/>
                </a:solidFill>
              </a:rPr>
              <a:t>U.S. broad-based global tariffs &amp; paralyzing the WTO</a:t>
            </a:r>
            <a:endParaRPr sz="1600" dirty="0">
              <a:solidFill>
                <a:srgbClr val="002060"/>
              </a:solidFill>
            </a:endParaRPr>
          </a:p>
          <a:p>
            <a:pPr marL="457200" lvl="0" indent="-330200" algn="l" rtl="0">
              <a:lnSpc>
                <a:spcPct val="150000"/>
              </a:lnSpc>
              <a:spcBef>
                <a:spcPts val="0"/>
              </a:spcBef>
              <a:spcAft>
                <a:spcPts val="0"/>
              </a:spcAft>
              <a:buClr>
                <a:srgbClr val="222222"/>
              </a:buClr>
              <a:buSzPts val="1600"/>
              <a:buChar char="●"/>
            </a:pPr>
            <a:r>
              <a:rPr lang="en" sz="1600" dirty="0">
                <a:solidFill>
                  <a:srgbClr val="002060"/>
                </a:solidFill>
              </a:rPr>
              <a:t>EU/Canada/Indonesia/Mexico tariffs on China </a:t>
            </a:r>
            <a:endParaRPr sz="1600" dirty="0">
              <a:solidFill>
                <a:srgbClr val="002060"/>
              </a:solidFill>
            </a:endParaRPr>
          </a:p>
          <a:p>
            <a:pPr marL="457200" lvl="0" indent="0" algn="l" rtl="0">
              <a:lnSpc>
                <a:spcPct val="150000"/>
              </a:lnSpc>
              <a:spcBef>
                <a:spcPts val="1200"/>
              </a:spcBef>
              <a:spcAft>
                <a:spcPts val="0"/>
              </a:spcAft>
              <a:buNone/>
            </a:pPr>
            <a:r>
              <a:rPr lang="en" sz="1600" dirty="0">
                <a:solidFill>
                  <a:srgbClr val="002060"/>
                </a:solidFill>
              </a:rPr>
              <a:t>…</a:t>
            </a:r>
            <a:endParaRPr sz="1600" dirty="0">
              <a:solidFill>
                <a:srgbClr val="002060"/>
              </a:solidFill>
            </a:endParaRPr>
          </a:p>
          <a:p>
            <a:pPr marL="457200" lvl="0" indent="0" algn="l" rtl="0">
              <a:lnSpc>
                <a:spcPct val="150000"/>
              </a:lnSpc>
              <a:spcBef>
                <a:spcPts val="1200"/>
              </a:spcBef>
              <a:spcAft>
                <a:spcPts val="1200"/>
              </a:spcAft>
              <a:buNone/>
            </a:pPr>
            <a:endParaRPr sz="914" dirty="0">
              <a:solidFill>
                <a:srgbClr val="00206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Existing Theories …</a:t>
            </a:r>
            <a:endParaRPr dirty="0"/>
          </a:p>
        </p:txBody>
      </p:sp>
      <p:sp>
        <p:nvSpPr>
          <p:cNvPr id="105" name="Google Shape;105;p17"/>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l" rtl="0">
              <a:spcBef>
                <a:spcPts val="600"/>
              </a:spcBef>
              <a:buClr>
                <a:srgbClr val="000000"/>
              </a:buClr>
              <a:buSzPts val="1800"/>
              <a:buChar char="●"/>
            </a:pPr>
            <a:r>
              <a:rPr lang="en" dirty="0">
                <a:solidFill>
                  <a:srgbClr val="000000"/>
                </a:solidFill>
              </a:rPr>
              <a:t>Self-interest: winner-loser </a:t>
            </a:r>
            <a:endParaRPr sz="1200" dirty="0">
              <a:solidFill>
                <a:srgbClr val="000000"/>
              </a:solidFill>
            </a:endParaRPr>
          </a:p>
          <a:p>
            <a:pPr marL="457200" lvl="0" indent="-342900" algn="l" rtl="0">
              <a:spcBef>
                <a:spcPts val="600"/>
              </a:spcBef>
              <a:buClr>
                <a:srgbClr val="000000"/>
              </a:buClr>
              <a:buSzPts val="1800"/>
              <a:buChar char="●"/>
            </a:pPr>
            <a:r>
              <a:rPr lang="en" dirty="0" err="1">
                <a:solidFill>
                  <a:srgbClr val="000000"/>
                </a:solidFill>
              </a:rPr>
              <a:t>Sociotropic</a:t>
            </a:r>
            <a:endParaRPr lang="en" dirty="0">
              <a:solidFill>
                <a:srgbClr val="000000"/>
              </a:solidFill>
            </a:endParaRPr>
          </a:p>
          <a:p>
            <a:pPr marL="457200" lvl="0" indent="-342900" algn="l" rtl="0">
              <a:spcBef>
                <a:spcPts val="600"/>
              </a:spcBef>
              <a:buClr>
                <a:srgbClr val="000000"/>
              </a:buClr>
              <a:buSzPts val="1800"/>
              <a:buChar char="●"/>
            </a:pPr>
            <a:r>
              <a:rPr lang="en-US" dirty="0">
                <a:solidFill>
                  <a:srgbClr val="000000"/>
                </a:solidFill>
              </a:rPr>
              <a:t>Identity: </a:t>
            </a:r>
            <a:r>
              <a:rPr lang="en" dirty="0">
                <a:solidFill>
                  <a:srgbClr val="000000"/>
                </a:solidFill>
              </a:rPr>
              <a:t>ethnocentric, nationalist</a:t>
            </a:r>
            <a:endParaRPr lang="en-US" i="1" dirty="0">
              <a:solidFill>
                <a:srgbClr val="000000"/>
              </a:solidFill>
            </a:endParaRPr>
          </a:p>
          <a:p>
            <a:pPr marL="457200" lvl="0" indent="-342900" algn="l" rtl="0">
              <a:spcBef>
                <a:spcPts val="600"/>
              </a:spcBef>
              <a:buClr>
                <a:srgbClr val="000000"/>
              </a:buClr>
              <a:buSzPts val="1800"/>
              <a:buChar char="●"/>
            </a:pPr>
            <a:r>
              <a:rPr lang="en-US" dirty="0">
                <a:solidFill>
                  <a:srgbClr val="000000"/>
                </a:solidFill>
              </a:rPr>
              <a:t>Elite cue: unfair trade </a:t>
            </a:r>
            <a:r>
              <a:rPr lang="en-US" sz="1300" dirty="0">
                <a:solidFill>
                  <a:srgbClr val="9E9E9E"/>
                </a:solidFill>
              </a:rPr>
              <a:t>(Ballard-Rosa et al. 2021)</a:t>
            </a:r>
            <a:endParaRPr lang="en-US" sz="1400" i="1" dirty="0">
              <a:solidFill>
                <a:srgbClr val="000000"/>
              </a:solidFill>
            </a:endParaRPr>
          </a:p>
          <a:p>
            <a:pPr marL="457200" lvl="0" indent="-342900" algn="l" rtl="0">
              <a:spcBef>
                <a:spcPts val="600"/>
              </a:spcBef>
              <a:buClr>
                <a:srgbClr val="000000"/>
              </a:buClr>
              <a:buSzPts val="1800"/>
              <a:buChar char="●"/>
            </a:pPr>
            <a:r>
              <a:rPr lang="en" dirty="0">
                <a:solidFill>
                  <a:srgbClr val="000000"/>
                </a:solidFill>
              </a:rPr>
              <a:t>Other: geopolitics, security </a:t>
            </a:r>
            <a:endParaRPr dirty="0">
              <a:solidFill>
                <a:srgbClr val="000000"/>
              </a:solidFill>
            </a:endParaRPr>
          </a:p>
        </p:txBody>
      </p:sp>
      <p:sp>
        <p:nvSpPr>
          <p:cNvPr id="107" name="Google Shape;107;p17"/>
          <p:cNvSpPr txBox="1"/>
          <p:nvPr/>
        </p:nvSpPr>
        <p:spPr>
          <a:xfrm>
            <a:off x="703279" y="3864431"/>
            <a:ext cx="5382300" cy="1081804"/>
          </a:xfrm>
          <a:prstGeom prst="rect">
            <a:avLst/>
          </a:prstGeom>
          <a:noFill/>
          <a:ln>
            <a:noFill/>
          </a:ln>
        </p:spPr>
        <p:txBody>
          <a:bodyPr spcFirstLastPara="1" wrap="square" lIns="91425" tIns="91425" rIns="91425" bIns="91425" anchor="t" anchorCtr="0">
            <a:spAutoFit/>
          </a:bodyPr>
          <a:lstStyle/>
          <a:p>
            <a:pPr marL="457200" lvl="0" indent="0" algn="l" rtl="0">
              <a:lnSpc>
                <a:spcPct val="115000"/>
              </a:lnSpc>
              <a:spcBef>
                <a:spcPts val="0"/>
              </a:spcBef>
              <a:spcAft>
                <a:spcPts val="1200"/>
              </a:spcAft>
              <a:buNone/>
            </a:pPr>
            <a:r>
              <a:rPr lang="en" i="1" dirty="0">
                <a:latin typeface="Open Sans"/>
                <a:ea typeface="Open Sans"/>
                <a:cs typeface="Open Sans"/>
                <a:sym typeface="Open Sans"/>
              </a:rPr>
              <a:t>⇒ hard to explain opinion change, differentiated policy treatment (managed transition vs. opposition), elite opinion, vague source of backlash…</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Theoretical Distinction </a:t>
            </a:r>
            <a:endParaRPr dirty="0"/>
          </a:p>
        </p:txBody>
      </p:sp>
      <p:sp>
        <p:nvSpPr>
          <p:cNvPr id="113" name="Google Shape;113;p18"/>
          <p:cNvSpPr txBox="1">
            <a:spLocks noGrp="1"/>
          </p:cNvSpPr>
          <p:nvPr>
            <p:ph type="body" idx="1"/>
          </p:nvPr>
        </p:nvSpPr>
        <p:spPr>
          <a:xfrm>
            <a:off x="155850" y="1210666"/>
            <a:ext cx="9107420" cy="3675900"/>
          </a:xfrm>
          <a:prstGeom prst="rect">
            <a:avLst/>
          </a:prstGeom>
        </p:spPr>
        <p:txBody>
          <a:bodyPr spcFirstLastPara="1" wrap="square" lIns="91425" tIns="91425" rIns="91425" bIns="91425" anchor="t" anchorCtr="0">
            <a:normAutofit/>
          </a:bodyPr>
          <a:lstStyle/>
          <a:p>
            <a:pPr marL="129382" lvl="0" indent="0" algn="l" rtl="0">
              <a:lnSpc>
                <a:spcPct val="115000"/>
              </a:lnSpc>
              <a:spcBef>
                <a:spcPts val="1000"/>
              </a:spcBef>
              <a:spcAft>
                <a:spcPts val="0"/>
              </a:spcAft>
              <a:buClr>
                <a:srgbClr val="000000"/>
              </a:buClr>
              <a:buSzPct val="100000"/>
              <a:buNone/>
            </a:pPr>
            <a:r>
              <a:rPr lang="en" sz="2000" b="1" i="1" dirty="0">
                <a:solidFill>
                  <a:srgbClr val="000000"/>
                </a:solidFill>
              </a:rPr>
              <a:t>Q: W</a:t>
            </a:r>
            <a:r>
              <a:rPr lang="en-US" sz="2000" b="1" i="1" dirty="0">
                <a:solidFill>
                  <a:srgbClr val="000000"/>
                </a:solidFill>
              </a:rPr>
              <a:t>h</a:t>
            </a:r>
            <a:r>
              <a:rPr lang="en" sz="2000" b="1" i="1" dirty="0">
                <a:solidFill>
                  <a:srgbClr val="000000"/>
                </a:solidFill>
              </a:rPr>
              <a:t>y globalization is okay in its rise, but not in its maturity? </a:t>
            </a:r>
          </a:p>
          <a:p>
            <a:pPr marL="457200" lvl="0" indent="-327818" algn="l" rtl="0">
              <a:lnSpc>
                <a:spcPct val="115000"/>
              </a:lnSpc>
              <a:spcBef>
                <a:spcPts val="1000"/>
              </a:spcBef>
              <a:spcAft>
                <a:spcPts val="0"/>
              </a:spcAft>
              <a:buClr>
                <a:srgbClr val="000000"/>
              </a:buClr>
              <a:buSzPct val="100000"/>
              <a:buChar char="●"/>
            </a:pPr>
            <a:endParaRPr lang="en" sz="2000" b="1" i="1" dirty="0">
              <a:solidFill>
                <a:srgbClr val="000000"/>
              </a:solidFill>
            </a:endParaRPr>
          </a:p>
          <a:p>
            <a:pPr marL="457200" lvl="0" indent="-327818" algn="l" rtl="0">
              <a:lnSpc>
                <a:spcPct val="115000"/>
              </a:lnSpc>
              <a:spcBef>
                <a:spcPts val="1000"/>
              </a:spcBef>
              <a:spcAft>
                <a:spcPts val="0"/>
              </a:spcAft>
              <a:buClr>
                <a:srgbClr val="000000"/>
              </a:buClr>
              <a:buSzPct val="100000"/>
              <a:buChar char="●"/>
            </a:pPr>
            <a:r>
              <a:rPr lang="en" sz="2000" b="1" i="1" dirty="0">
                <a:solidFill>
                  <a:srgbClr val="000000"/>
                </a:solidFill>
              </a:rPr>
              <a:t>Pre-equilibrium:</a:t>
            </a:r>
            <a:r>
              <a:rPr lang="en" sz="2000" dirty="0">
                <a:solidFill>
                  <a:srgbClr val="000000"/>
                </a:solidFill>
              </a:rPr>
              <a:t> </a:t>
            </a:r>
            <a:r>
              <a:rPr lang="en" sz="1400" dirty="0">
                <a:solidFill>
                  <a:srgbClr val="000000"/>
                </a:solidFill>
              </a:rPr>
              <a:t>opening-up to equilibrium </a:t>
            </a:r>
            <a:r>
              <a:rPr lang="en" sz="1100" dirty="0">
                <a:solidFill>
                  <a:srgbClr val="9E9E9E"/>
                </a:solidFill>
              </a:rPr>
              <a:t>(RV/HO/Krugman/Melitz, Rogowski/</a:t>
            </a:r>
            <a:r>
              <a:rPr lang="en" sz="1100" dirty="0" err="1">
                <a:solidFill>
                  <a:srgbClr val="9E9E9E"/>
                </a:solidFill>
              </a:rPr>
              <a:t>Hiscox</a:t>
            </a:r>
            <a:r>
              <a:rPr lang="en" sz="1100" dirty="0">
                <a:solidFill>
                  <a:srgbClr val="9E9E9E"/>
                </a:solidFill>
              </a:rPr>
              <a:t>/Mutz…)</a:t>
            </a:r>
            <a:endParaRPr sz="2500" b="1" i="1" dirty="0">
              <a:solidFill>
                <a:srgbClr val="000000"/>
              </a:solidFill>
            </a:endParaRPr>
          </a:p>
          <a:p>
            <a:pPr marL="457200" lvl="0" indent="-327818" algn="l" rtl="0">
              <a:lnSpc>
                <a:spcPct val="115000"/>
              </a:lnSpc>
              <a:spcBef>
                <a:spcPts val="1200"/>
              </a:spcBef>
              <a:spcAft>
                <a:spcPts val="0"/>
              </a:spcAft>
              <a:buClr>
                <a:srgbClr val="000000"/>
              </a:buClr>
              <a:buSzPct val="100000"/>
              <a:buChar char="●"/>
            </a:pPr>
            <a:r>
              <a:rPr lang="en" sz="2000" b="1" i="1" dirty="0">
                <a:solidFill>
                  <a:srgbClr val="000000"/>
                </a:solidFill>
              </a:rPr>
              <a:t>After</a:t>
            </a:r>
            <a:r>
              <a:rPr lang="en" sz="2000" b="1" dirty="0">
                <a:solidFill>
                  <a:srgbClr val="000000"/>
                </a:solidFill>
              </a:rPr>
              <a:t>-</a:t>
            </a:r>
            <a:r>
              <a:rPr lang="en" sz="2000" b="1" i="1" dirty="0">
                <a:solidFill>
                  <a:srgbClr val="000000"/>
                </a:solidFill>
              </a:rPr>
              <a:t>equilibrium: </a:t>
            </a:r>
            <a:r>
              <a:rPr lang="en" sz="1400" dirty="0">
                <a:solidFill>
                  <a:srgbClr val="000000"/>
                </a:solidFill>
              </a:rPr>
              <a:t>long-run effect unclear </a:t>
            </a:r>
            <a:r>
              <a:rPr lang="en" sz="1100" dirty="0">
                <a:solidFill>
                  <a:srgbClr val="999999"/>
                </a:solidFill>
              </a:rPr>
              <a:t>Garret 2000; Krugman 1987; Lawrence and Weinstein 1999; Rodriguez and Rodrik 1999</a:t>
            </a:r>
            <a:endParaRPr sz="1600" dirty="0">
              <a:solidFill>
                <a:srgbClr val="000000"/>
              </a:solidFill>
            </a:endParaRPr>
          </a:p>
          <a:p>
            <a:pPr marL="914400" lvl="1" indent="-304119" algn="l" rtl="0">
              <a:lnSpc>
                <a:spcPct val="150000"/>
              </a:lnSpc>
              <a:spcBef>
                <a:spcPts val="1000"/>
              </a:spcBef>
              <a:spcAft>
                <a:spcPts val="0"/>
              </a:spcAft>
              <a:buClr>
                <a:srgbClr val="000000"/>
              </a:buClr>
              <a:buSzPct val="100000"/>
              <a:buChar char="○"/>
            </a:pPr>
            <a:r>
              <a:rPr lang="en" sz="1600" dirty="0">
                <a:solidFill>
                  <a:srgbClr val="000000"/>
                </a:solidFill>
              </a:rPr>
              <a:t>Free trade assumptions not necessarily hold: frictions, balance…</a:t>
            </a:r>
          </a:p>
          <a:p>
            <a:pPr marL="914400" lvl="1" indent="-304119" algn="l" rtl="0">
              <a:lnSpc>
                <a:spcPct val="150000"/>
              </a:lnSpc>
              <a:spcBef>
                <a:spcPts val="1000"/>
              </a:spcBef>
              <a:spcAft>
                <a:spcPts val="0"/>
              </a:spcAft>
              <a:buClr>
                <a:srgbClr val="000000"/>
              </a:buClr>
              <a:buSzPct val="100000"/>
              <a:buChar char="○"/>
            </a:pPr>
            <a:r>
              <a:rPr lang="en" sz="1600" dirty="0">
                <a:solidFill>
                  <a:srgbClr val="000000"/>
                </a:solidFill>
              </a:rPr>
              <a:t>losing </a:t>
            </a:r>
            <a:r>
              <a:rPr lang="en" sz="1600" b="1" dirty="0">
                <a:solidFill>
                  <a:srgbClr val="000000"/>
                </a:solidFill>
              </a:rPr>
              <a:t>both</a:t>
            </a:r>
            <a:r>
              <a:rPr lang="en" sz="1600" dirty="0">
                <a:solidFill>
                  <a:srgbClr val="000000"/>
                </a:solidFill>
              </a:rPr>
              <a:t> adv/</a:t>
            </a:r>
            <a:r>
              <a:rPr lang="en" sz="1600" dirty="0" err="1">
                <a:solidFill>
                  <a:srgbClr val="000000"/>
                </a:solidFill>
              </a:rPr>
              <a:t>disadv</a:t>
            </a:r>
            <a:r>
              <a:rPr lang="en" sz="1600" dirty="0">
                <a:solidFill>
                  <a:srgbClr val="000000"/>
                </a:solidFill>
              </a:rPr>
              <a:t> </a:t>
            </a:r>
            <a:r>
              <a:rPr lang="en" sz="1600" dirty="0">
                <a:solidFill>
                  <a:srgbClr val="000000"/>
                </a:solidFill>
                <a:sym typeface="Wingdings" pitchFamily="2" charset="2"/>
              </a:rPr>
              <a:t></a:t>
            </a:r>
            <a:r>
              <a:rPr lang="en" sz="1600" dirty="0">
                <a:solidFill>
                  <a:srgbClr val="000000"/>
                </a:solidFill>
              </a:rPr>
              <a:t> (bipartisan) trade skepticism</a:t>
            </a:r>
            <a:endParaRPr sz="1600" dirty="0">
              <a:solidFill>
                <a:srgbClr val="000000"/>
              </a:solidFill>
            </a:endParaRPr>
          </a:p>
          <a:p>
            <a:pPr marL="457200" lvl="0" indent="0" algn="l" rtl="0">
              <a:spcBef>
                <a:spcPts val="1200"/>
              </a:spcBef>
              <a:spcAft>
                <a:spcPts val="1200"/>
              </a:spcAft>
              <a:buNone/>
            </a:pPr>
            <a:endParaRPr sz="1414" i="1"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“After Equilibrium”: Visualization (net loss)</a:t>
            </a:r>
            <a:endParaRPr/>
          </a:p>
        </p:txBody>
      </p:sp>
      <p:pic>
        <p:nvPicPr>
          <p:cNvPr id="132" name="Google Shape;132;p21"/>
          <p:cNvPicPr preferRelativeResize="0"/>
          <p:nvPr/>
        </p:nvPicPr>
        <p:blipFill>
          <a:blip r:embed="rId3">
            <a:alphaModFix/>
          </a:blip>
          <a:stretch>
            <a:fillRect/>
          </a:stretch>
        </p:blipFill>
        <p:spPr>
          <a:xfrm>
            <a:off x="411309" y="1752135"/>
            <a:ext cx="2627449" cy="2253751"/>
          </a:xfrm>
          <a:prstGeom prst="rect">
            <a:avLst/>
          </a:prstGeom>
          <a:noFill/>
          <a:ln>
            <a:noFill/>
          </a:ln>
        </p:spPr>
      </p:pic>
      <p:pic>
        <p:nvPicPr>
          <p:cNvPr id="133" name="Google Shape;133;p21"/>
          <p:cNvPicPr preferRelativeResize="0"/>
          <p:nvPr/>
        </p:nvPicPr>
        <p:blipFill>
          <a:blip r:embed="rId4">
            <a:alphaModFix/>
          </a:blip>
          <a:stretch>
            <a:fillRect/>
          </a:stretch>
        </p:blipFill>
        <p:spPr>
          <a:xfrm>
            <a:off x="3038759" y="1757060"/>
            <a:ext cx="2639007" cy="2253751"/>
          </a:xfrm>
          <a:prstGeom prst="rect">
            <a:avLst/>
          </a:prstGeom>
          <a:noFill/>
          <a:ln>
            <a:noFill/>
          </a:ln>
        </p:spPr>
      </p:pic>
      <p:pic>
        <p:nvPicPr>
          <p:cNvPr id="134" name="Google Shape;134;p21"/>
          <p:cNvPicPr preferRelativeResize="0"/>
          <p:nvPr/>
        </p:nvPicPr>
        <p:blipFill rotWithShape="1">
          <a:blip r:embed="rId5">
            <a:alphaModFix/>
          </a:blip>
          <a:srcRect r="23236"/>
          <a:stretch/>
        </p:blipFill>
        <p:spPr>
          <a:xfrm>
            <a:off x="5677759" y="1757050"/>
            <a:ext cx="2686924" cy="2253749"/>
          </a:xfrm>
          <a:prstGeom prst="rect">
            <a:avLst/>
          </a:prstGeom>
          <a:noFill/>
          <a:ln>
            <a:noFill/>
          </a:ln>
        </p:spPr>
      </p:pic>
      <p:sp>
        <p:nvSpPr>
          <p:cNvPr id="135" name="Google Shape;135;p21"/>
          <p:cNvSpPr txBox="1"/>
          <p:nvPr/>
        </p:nvSpPr>
        <p:spPr>
          <a:xfrm>
            <a:off x="595384" y="4269044"/>
            <a:ext cx="2259300" cy="47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dk2"/>
                </a:solidFill>
                <a:latin typeface="Open Sans"/>
                <a:ea typeface="Open Sans"/>
                <a:cs typeface="Open Sans"/>
                <a:sym typeface="Open Sans"/>
              </a:rPr>
              <a:t>1. Trade Equilibrium</a:t>
            </a:r>
            <a:endParaRPr sz="1500" b="1">
              <a:solidFill>
                <a:schemeClr val="dk2"/>
              </a:solidFill>
              <a:latin typeface="Open Sans"/>
              <a:ea typeface="Open Sans"/>
              <a:cs typeface="Open Sans"/>
              <a:sym typeface="Open Sans"/>
            </a:endParaRPr>
          </a:p>
        </p:txBody>
      </p:sp>
      <p:sp>
        <p:nvSpPr>
          <p:cNvPr id="136" name="Google Shape;136;p21"/>
          <p:cNvSpPr txBox="1"/>
          <p:nvPr/>
        </p:nvSpPr>
        <p:spPr>
          <a:xfrm>
            <a:off x="3329659" y="4280004"/>
            <a:ext cx="2348100" cy="47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dk2"/>
                </a:solidFill>
                <a:latin typeface="Open Sans"/>
                <a:ea typeface="Open Sans"/>
                <a:cs typeface="Open Sans"/>
                <a:sym typeface="Open Sans"/>
              </a:rPr>
              <a:t>2. Shock (short-term)</a:t>
            </a:r>
            <a:endParaRPr sz="1500" b="1">
              <a:solidFill>
                <a:schemeClr val="dk2"/>
              </a:solidFill>
              <a:latin typeface="Open Sans"/>
              <a:ea typeface="Open Sans"/>
              <a:cs typeface="Open Sans"/>
              <a:sym typeface="Open Sans"/>
            </a:endParaRPr>
          </a:p>
        </p:txBody>
      </p:sp>
      <p:sp>
        <p:nvSpPr>
          <p:cNvPr id="137" name="Google Shape;137;p21"/>
          <p:cNvSpPr txBox="1"/>
          <p:nvPr/>
        </p:nvSpPr>
        <p:spPr>
          <a:xfrm>
            <a:off x="5889909" y="4290978"/>
            <a:ext cx="2128800" cy="47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dk2"/>
                </a:solidFill>
                <a:latin typeface="Open Sans"/>
                <a:ea typeface="Open Sans"/>
                <a:cs typeface="Open Sans"/>
                <a:sym typeface="Open Sans"/>
              </a:rPr>
              <a:t>3. Shock (long-term)</a:t>
            </a:r>
            <a:endParaRPr sz="1500" b="1">
              <a:solidFill>
                <a:schemeClr val="dk2"/>
              </a:solidFill>
              <a:latin typeface="Open Sans"/>
              <a:ea typeface="Open Sans"/>
              <a:cs typeface="Open Sans"/>
              <a:sym typeface="Open Sans"/>
            </a:endParaRPr>
          </a:p>
        </p:txBody>
      </p:sp>
      <p:pic>
        <p:nvPicPr>
          <p:cNvPr id="138" name="Google Shape;138;p21"/>
          <p:cNvPicPr preferRelativeResize="0"/>
          <p:nvPr/>
        </p:nvPicPr>
        <p:blipFill>
          <a:blip r:embed="rId6">
            <a:alphaModFix/>
          </a:blip>
          <a:stretch>
            <a:fillRect/>
          </a:stretch>
        </p:blipFill>
        <p:spPr>
          <a:xfrm>
            <a:off x="678009" y="1073825"/>
            <a:ext cx="1027825" cy="5710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Theory: Expectation Mismatch</a:t>
            </a:r>
            <a:endParaRPr dirty="0"/>
          </a:p>
        </p:txBody>
      </p:sp>
      <p:sp>
        <p:nvSpPr>
          <p:cNvPr id="150" name="Google Shape;150;p23"/>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endParaRPr dirty="0">
              <a:solidFill>
                <a:srgbClr val="000000"/>
              </a:solidFill>
            </a:endParaRPr>
          </a:p>
          <a:p>
            <a:pPr marL="127000" lvl="0" indent="0" algn="l" rtl="0">
              <a:spcBef>
                <a:spcPts val="1200"/>
              </a:spcBef>
              <a:spcAft>
                <a:spcPts val="0"/>
              </a:spcAft>
              <a:buClr>
                <a:srgbClr val="000000"/>
              </a:buClr>
              <a:buSzPts val="1600"/>
              <a:buNone/>
            </a:pPr>
            <a:r>
              <a:rPr lang="en" b="1" i="1" dirty="0">
                <a:solidFill>
                  <a:srgbClr val="000000"/>
                </a:solidFill>
              </a:rPr>
              <a:t>1. Expectation origin</a:t>
            </a:r>
            <a:r>
              <a:rPr lang="en" i="1" dirty="0">
                <a:solidFill>
                  <a:srgbClr val="000000"/>
                </a:solidFill>
              </a:rPr>
              <a:t>:</a:t>
            </a:r>
            <a:r>
              <a:rPr lang="en" dirty="0">
                <a:solidFill>
                  <a:srgbClr val="000000"/>
                </a:solidFill>
              </a:rPr>
              <a:t> </a:t>
            </a:r>
          </a:p>
          <a:p>
            <a:pPr marL="457200" lvl="0" indent="-330200" algn="l" rtl="0">
              <a:spcBef>
                <a:spcPts val="1200"/>
              </a:spcBef>
              <a:spcAft>
                <a:spcPts val="0"/>
              </a:spcAft>
              <a:buClr>
                <a:srgbClr val="000000"/>
              </a:buClr>
              <a:buSzPts val="1600"/>
              <a:buChar char="-"/>
            </a:pPr>
            <a:r>
              <a:rPr lang="en" sz="1600" dirty="0">
                <a:solidFill>
                  <a:srgbClr val="000000"/>
                </a:solidFill>
              </a:rPr>
              <a:t>Free trade &amp; comparative adv </a:t>
            </a:r>
          </a:p>
          <a:p>
            <a:pPr marL="457200" lvl="0" indent="-330200" algn="l" rtl="0">
              <a:spcBef>
                <a:spcPts val="1200"/>
              </a:spcBef>
              <a:spcAft>
                <a:spcPts val="0"/>
              </a:spcAft>
              <a:buClr>
                <a:srgbClr val="000000"/>
              </a:buClr>
              <a:buSzPts val="1600"/>
              <a:buChar char="-"/>
            </a:pPr>
            <a:r>
              <a:rPr lang="en" sz="1600" dirty="0">
                <a:solidFill>
                  <a:srgbClr val="000000"/>
                </a:solidFill>
              </a:rPr>
              <a:t>Deeply influenced liberalization policies &amp; pro-trade sentiment since the 1940s </a:t>
            </a:r>
            <a:r>
              <a:rPr lang="en" sz="1200" dirty="0">
                <a:solidFill>
                  <a:schemeClr val="bg1">
                    <a:lumMod val="65000"/>
                  </a:schemeClr>
                </a:solidFill>
              </a:rPr>
              <a:t>(</a:t>
            </a:r>
            <a:r>
              <a:rPr lang="en-US" sz="1200" b="0" i="0" u="none" strike="noStrike" dirty="0">
                <a:solidFill>
                  <a:schemeClr val="bg1">
                    <a:lumMod val="65000"/>
                  </a:schemeClr>
                </a:solidFill>
                <a:effectLst/>
                <a:latin typeface="Arial" panose="020B0604020202020204" pitchFamily="34" charset="0"/>
              </a:rPr>
              <a:t>Williamson 1990; USITC p84; Samuelson 1972</a:t>
            </a:r>
            <a:r>
              <a:rPr lang="en" sz="1200" dirty="0">
                <a:solidFill>
                  <a:schemeClr val="bg1">
                    <a:lumMod val="65000"/>
                  </a:schemeClr>
                </a:solidFill>
              </a:rPr>
              <a:t>)</a:t>
            </a:r>
            <a:endParaRPr lang="en" sz="1000" dirty="0">
              <a:solidFill>
                <a:schemeClr val="bg1">
                  <a:lumMod val="65000"/>
                </a:schemeClr>
              </a:solidFill>
            </a:endParaRPr>
          </a:p>
          <a:p>
            <a:pPr marL="127000" lvl="0" indent="0" algn="l" rtl="0">
              <a:spcBef>
                <a:spcPts val="1200"/>
              </a:spcBef>
              <a:spcAft>
                <a:spcPts val="0"/>
              </a:spcAft>
              <a:buClr>
                <a:srgbClr val="000000"/>
              </a:buClr>
              <a:buSzPts val="1600"/>
              <a:buNone/>
            </a:pPr>
            <a:endParaRPr lang="en-US" sz="1600" dirty="0">
              <a:solidFill>
                <a:srgbClr val="000000"/>
              </a:solidFill>
            </a:endParaRPr>
          </a:p>
          <a:p>
            <a:pPr marL="127000" lvl="0" indent="0" algn="l" rtl="0">
              <a:spcBef>
                <a:spcPts val="1200"/>
              </a:spcBef>
              <a:spcAft>
                <a:spcPts val="0"/>
              </a:spcAft>
              <a:buClr>
                <a:srgbClr val="000000"/>
              </a:buClr>
              <a:buSzPts val="1600"/>
              <a:buNone/>
            </a:pPr>
            <a:r>
              <a:rPr lang="en-US" sz="1400" i="1" dirty="0">
                <a:solidFill>
                  <a:schemeClr val="bg2"/>
                </a:solidFill>
              </a:rPr>
              <a:t>                      “… </a:t>
            </a:r>
            <a:r>
              <a:rPr lang="en-US" sz="1600" b="0" i="1" u="none" strike="noStrike" dirty="0">
                <a:solidFill>
                  <a:schemeClr val="bg2"/>
                </a:solidFill>
                <a:effectLst/>
                <a:latin typeface="Arial" panose="020B0604020202020204" pitchFamily="34" charset="0"/>
              </a:rPr>
              <a:t>comparative advantage has been at the heart of </a:t>
            </a:r>
          </a:p>
          <a:p>
            <a:pPr marL="127000" lvl="0" indent="0" algn="l" rtl="0">
              <a:spcBef>
                <a:spcPts val="1200"/>
              </a:spcBef>
              <a:spcAft>
                <a:spcPts val="0"/>
              </a:spcAft>
              <a:buClr>
                <a:srgbClr val="000000"/>
              </a:buClr>
              <a:buSzPts val="1600"/>
              <a:buNone/>
            </a:pPr>
            <a:r>
              <a:rPr lang="en-US" sz="1600" b="0" i="1" u="none" strike="noStrike" dirty="0">
                <a:solidFill>
                  <a:schemeClr val="bg2"/>
                </a:solidFill>
                <a:effectLst/>
                <a:latin typeface="Arial" panose="020B0604020202020204" pitchFamily="34" charset="0"/>
              </a:rPr>
              <a:t>                       all informed reasoning of globalization.</a:t>
            </a:r>
            <a:r>
              <a:rPr lang="en-US" sz="1400" i="1" dirty="0">
                <a:solidFill>
                  <a:schemeClr val="bg2"/>
                </a:solidFill>
              </a:rPr>
              <a:t>” </a:t>
            </a:r>
          </a:p>
          <a:p>
            <a:pPr marL="127000" lvl="0" indent="0" algn="l" rtl="0">
              <a:spcBef>
                <a:spcPts val="1200"/>
              </a:spcBef>
              <a:spcAft>
                <a:spcPts val="0"/>
              </a:spcAft>
              <a:buClr>
                <a:srgbClr val="000000"/>
              </a:buClr>
              <a:buSzPts val="1600"/>
              <a:buNone/>
            </a:pPr>
            <a:r>
              <a:rPr lang="en-US" sz="1200" dirty="0">
                <a:solidFill>
                  <a:srgbClr val="000000"/>
                </a:solidFill>
              </a:rPr>
              <a:t>           				                     – Baldwin, 2016</a:t>
            </a:r>
            <a:endParaRPr sz="120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0">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0">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0">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0">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Theory: Expectation Mismatch</a:t>
            </a:r>
            <a:endParaRPr dirty="0"/>
          </a:p>
        </p:txBody>
      </p:sp>
      <p:sp>
        <p:nvSpPr>
          <p:cNvPr id="150" name="Google Shape;150;p23"/>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dirty="0">
              <a:solidFill>
                <a:srgbClr val="000000"/>
              </a:solidFill>
            </a:endParaRPr>
          </a:p>
          <a:p>
            <a:pPr marL="127000" lvl="0" indent="0" algn="l" rtl="0">
              <a:spcBef>
                <a:spcPts val="1200"/>
              </a:spcBef>
              <a:spcAft>
                <a:spcPts val="0"/>
              </a:spcAft>
              <a:buClr>
                <a:srgbClr val="000000"/>
              </a:buClr>
              <a:buSzPts val="1600"/>
              <a:buNone/>
            </a:pPr>
            <a:r>
              <a:rPr lang="en" b="1" i="1" dirty="0">
                <a:solidFill>
                  <a:srgbClr val="000000"/>
                </a:solidFill>
              </a:rPr>
              <a:t>2. When adv. </a:t>
            </a:r>
            <a:r>
              <a:rPr lang="en-US" b="1" i="1" dirty="0">
                <a:solidFill>
                  <a:srgbClr val="000000"/>
                </a:solidFill>
              </a:rPr>
              <a:t>s</a:t>
            </a:r>
            <a:r>
              <a:rPr lang="en" b="1" i="1" dirty="0" err="1">
                <a:solidFill>
                  <a:srgbClr val="000000"/>
                </a:solidFill>
              </a:rPr>
              <a:t>ectors</a:t>
            </a:r>
            <a:r>
              <a:rPr lang="en" b="1" i="1" dirty="0">
                <a:solidFill>
                  <a:srgbClr val="000000"/>
                </a:solidFill>
              </a:rPr>
              <a:t> are </a:t>
            </a:r>
            <a:r>
              <a:rPr lang="en" b="1" i="1" dirty="0" err="1">
                <a:solidFill>
                  <a:srgbClr val="000000"/>
                </a:solidFill>
              </a:rPr>
              <a:t>thre</a:t>
            </a:r>
            <a:r>
              <a:rPr lang="en-US" b="1" i="1" dirty="0">
                <a:solidFill>
                  <a:srgbClr val="000000"/>
                </a:solidFill>
              </a:rPr>
              <a:t>a</a:t>
            </a:r>
            <a:r>
              <a:rPr lang="en" b="1" i="1" dirty="0" err="1">
                <a:solidFill>
                  <a:srgbClr val="000000"/>
                </a:solidFill>
              </a:rPr>
              <a:t>tened</a:t>
            </a:r>
            <a:r>
              <a:rPr lang="en" b="1" i="1" dirty="0">
                <a:solidFill>
                  <a:srgbClr val="000000"/>
                </a:solidFill>
              </a:rPr>
              <a:t>:</a:t>
            </a:r>
            <a:endParaRPr lang="en" dirty="0">
              <a:solidFill>
                <a:srgbClr val="000000"/>
              </a:solidFill>
            </a:endParaRPr>
          </a:p>
          <a:p>
            <a:pPr marL="457200" lvl="0" indent="-330200" algn="l" rtl="0">
              <a:spcBef>
                <a:spcPts val="1200"/>
              </a:spcBef>
              <a:spcAft>
                <a:spcPts val="0"/>
              </a:spcAft>
              <a:buClr>
                <a:srgbClr val="000000"/>
              </a:buClr>
              <a:buSzPts val="1600"/>
              <a:buChar char="-"/>
            </a:pPr>
            <a:r>
              <a:rPr lang="en" sz="1600" dirty="0">
                <a:solidFill>
                  <a:srgbClr val="000000"/>
                </a:solidFill>
              </a:rPr>
              <a:t>Old bargain &amp; consensus breaks </a:t>
            </a:r>
            <a:r>
              <a:rPr lang="en" sz="1600" dirty="0">
                <a:solidFill>
                  <a:srgbClr val="000000"/>
                </a:solidFill>
                <a:sym typeface="Wingdings" pitchFamily="2" charset="2"/>
              </a:rPr>
              <a:t>down</a:t>
            </a:r>
            <a:endParaRPr lang="en" sz="1600" dirty="0">
              <a:solidFill>
                <a:srgbClr val="000000"/>
              </a:solidFill>
            </a:endParaRPr>
          </a:p>
          <a:p>
            <a:pPr marL="457200" lvl="0" indent="-330200" algn="l" rtl="0">
              <a:spcBef>
                <a:spcPts val="1200"/>
              </a:spcBef>
              <a:spcAft>
                <a:spcPts val="0"/>
              </a:spcAft>
              <a:buClr>
                <a:srgbClr val="000000"/>
              </a:buClr>
              <a:buSzPts val="1600"/>
              <a:buChar char="-"/>
            </a:pPr>
            <a:r>
              <a:rPr lang="en-US" sz="1600" dirty="0">
                <a:solidFill>
                  <a:srgbClr val="000000"/>
                </a:solidFill>
              </a:rPr>
              <a:t>Mismatched expectation </a:t>
            </a:r>
            <a:r>
              <a:rPr lang="en-US" sz="1600" dirty="0">
                <a:solidFill>
                  <a:srgbClr val="000000"/>
                </a:solidFill>
                <a:sym typeface="Wingdings" pitchFamily="2" charset="2"/>
              </a:rPr>
              <a:t>+</a:t>
            </a:r>
            <a:r>
              <a:rPr lang="en-US" sz="1600" dirty="0">
                <a:solidFill>
                  <a:srgbClr val="000000"/>
                </a:solidFill>
              </a:rPr>
              <a:t> a sense of ”unfair trade” </a:t>
            </a:r>
            <a:r>
              <a:rPr lang="en-US" sz="1600" dirty="0">
                <a:solidFill>
                  <a:srgbClr val="000000"/>
                </a:solidFill>
                <a:sym typeface="Wingdings" pitchFamily="2" charset="2"/>
              </a:rPr>
              <a:t> </a:t>
            </a:r>
            <a:r>
              <a:rPr lang="en-US" sz="1600" dirty="0">
                <a:solidFill>
                  <a:srgbClr val="000000"/>
                </a:solidFill>
              </a:rPr>
              <a:t>(moralized) skepticism &amp; opposition.</a:t>
            </a:r>
            <a:endParaRPr lang="en" sz="1000" dirty="0">
              <a:solidFill>
                <a:schemeClr val="bg1">
                  <a:lumMod val="65000"/>
                </a:schemeClr>
              </a:solidFill>
            </a:endParaRPr>
          </a:p>
        </p:txBody>
      </p:sp>
    </p:spTree>
    <p:extLst>
      <p:ext uri="{BB962C8B-B14F-4D97-AF65-F5344CB8AC3E}">
        <p14:creationId xmlns:p14="http://schemas.microsoft.com/office/powerpoint/2010/main" val="2644780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Why Politically Matter?</a:t>
            </a:r>
            <a:endParaRPr dirty="0"/>
          </a:p>
        </p:txBody>
      </p:sp>
      <p:sp>
        <p:nvSpPr>
          <p:cNvPr id="150" name="Google Shape;150;p23"/>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dirty="0">
              <a:solidFill>
                <a:srgbClr val="000000"/>
              </a:solidFill>
            </a:endParaRPr>
          </a:p>
          <a:p>
            <a:pPr marL="457200" lvl="0" indent="-330200" algn="l" rtl="0">
              <a:spcBef>
                <a:spcPts val="1200"/>
              </a:spcBef>
              <a:spcAft>
                <a:spcPts val="0"/>
              </a:spcAft>
              <a:buClr>
                <a:srgbClr val="000000"/>
              </a:buClr>
              <a:buSzPts val="1600"/>
              <a:buChar char="-"/>
            </a:pPr>
            <a:r>
              <a:rPr lang="en" sz="1600" b="1" i="1" dirty="0">
                <a:solidFill>
                  <a:srgbClr val="000000"/>
                </a:solidFill>
              </a:rPr>
              <a:t>Expectational</a:t>
            </a:r>
            <a:r>
              <a:rPr lang="en" sz="1600" i="1" dirty="0">
                <a:solidFill>
                  <a:srgbClr val="000000"/>
                </a:solidFill>
              </a:rPr>
              <a:t>:</a:t>
            </a:r>
            <a:r>
              <a:rPr lang="en" sz="1600" dirty="0">
                <a:solidFill>
                  <a:srgbClr val="000000"/>
                </a:solidFill>
              </a:rPr>
              <a:t> benefit adv sectors, welfare</a:t>
            </a:r>
            <a:endParaRPr sz="1600" dirty="0">
              <a:solidFill>
                <a:srgbClr val="000000"/>
              </a:solidFill>
            </a:endParaRPr>
          </a:p>
          <a:p>
            <a:pPr marL="457200" lvl="0" indent="-330200" algn="l" rtl="0">
              <a:spcBef>
                <a:spcPts val="1000"/>
              </a:spcBef>
              <a:spcAft>
                <a:spcPts val="0"/>
              </a:spcAft>
              <a:buClr>
                <a:srgbClr val="000000"/>
              </a:buClr>
              <a:buSzPts val="1600"/>
              <a:buChar char="-"/>
            </a:pPr>
            <a:r>
              <a:rPr lang="en" sz="1600" b="1" i="1" dirty="0">
                <a:solidFill>
                  <a:srgbClr val="000000"/>
                </a:solidFill>
              </a:rPr>
              <a:t>Developmental:</a:t>
            </a:r>
            <a:r>
              <a:rPr lang="en" sz="1600" dirty="0">
                <a:solidFill>
                  <a:srgbClr val="000000"/>
                </a:solidFill>
              </a:rPr>
              <a:t> real </a:t>
            </a:r>
            <a:r>
              <a:rPr lang="en" sz="1600" dirty="0" err="1">
                <a:solidFill>
                  <a:srgbClr val="000000"/>
                </a:solidFill>
              </a:rPr>
              <a:t>deindus</a:t>
            </a:r>
            <a:r>
              <a:rPr lang="en" sz="1600" dirty="0">
                <a:solidFill>
                  <a:srgbClr val="000000"/>
                </a:solidFill>
              </a:rPr>
              <a:t>. &amp; being poorer</a:t>
            </a:r>
            <a:endParaRPr sz="1600" dirty="0">
              <a:solidFill>
                <a:srgbClr val="000000"/>
              </a:solidFill>
            </a:endParaRPr>
          </a:p>
          <a:p>
            <a:pPr marL="457200" lvl="0" indent="-330200" algn="l" rtl="0">
              <a:spcBef>
                <a:spcPts val="1000"/>
              </a:spcBef>
              <a:spcAft>
                <a:spcPts val="1200"/>
              </a:spcAft>
              <a:buClr>
                <a:srgbClr val="000000"/>
              </a:buClr>
              <a:buSzPts val="1600"/>
              <a:buChar char="-"/>
            </a:pPr>
            <a:r>
              <a:rPr lang="en" sz="1600" b="1" i="1" dirty="0">
                <a:solidFill>
                  <a:srgbClr val="000000"/>
                </a:solidFill>
              </a:rPr>
              <a:t>Psychological</a:t>
            </a:r>
            <a:r>
              <a:rPr lang="en" sz="1600" i="1" dirty="0">
                <a:solidFill>
                  <a:srgbClr val="000000"/>
                </a:solidFill>
              </a:rPr>
              <a:t>:</a:t>
            </a:r>
            <a:r>
              <a:rPr lang="en" sz="1600" dirty="0">
                <a:solidFill>
                  <a:srgbClr val="000000"/>
                </a:solidFill>
              </a:rPr>
              <a:t> national identity, </a:t>
            </a:r>
            <a:r>
              <a:rPr lang="en" sz="1600" dirty="0" err="1">
                <a:solidFill>
                  <a:srgbClr val="000000"/>
                </a:solidFill>
              </a:rPr>
              <a:t>sociotropic</a:t>
            </a:r>
            <a:r>
              <a:rPr lang="en" sz="1600" dirty="0">
                <a:solidFill>
                  <a:srgbClr val="000000"/>
                </a:solidFill>
              </a:rPr>
              <a:t>, national security</a:t>
            </a:r>
            <a:endParaRPr sz="1600" dirty="0">
              <a:solidFill>
                <a:srgbClr val="000000"/>
              </a:solidFill>
            </a:endParaRPr>
          </a:p>
        </p:txBody>
      </p:sp>
    </p:spTree>
    <p:extLst>
      <p:ext uri="{BB962C8B-B14F-4D97-AF65-F5344CB8AC3E}">
        <p14:creationId xmlns:p14="http://schemas.microsoft.com/office/powerpoint/2010/main" val="4173296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Theoretical Expectations</a:t>
            </a:r>
            <a:endParaRPr/>
          </a:p>
        </p:txBody>
      </p:sp>
      <p:graphicFrame>
        <p:nvGraphicFramePr>
          <p:cNvPr id="156" name="Google Shape;156;p24"/>
          <p:cNvGraphicFramePr/>
          <p:nvPr>
            <p:extLst>
              <p:ext uri="{D42A27DB-BD31-4B8C-83A1-F6EECF244321}">
                <p14:modId xmlns:p14="http://schemas.microsoft.com/office/powerpoint/2010/main" val="1038317231"/>
              </p:ext>
            </p:extLst>
          </p:nvPr>
        </p:nvGraphicFramePr>
        <p:xfrm>
          <a:off x="773390" y="1543591"/>
          <a:ext cx="7239000" cy="1669884"/>
        </p:xfrm>
        <a:graphic>
          <a:graphicData uri="http://schemas.openxmlformats.org/drawingml/2006/table">
            <a:tbl>
              <a:tblPr>
                <a:noFill/>
                <a:tableStyleId>{0F129E07-9AE8-432F-BE6E-13882F435ABB}</a:tableStyleId>
              </a:tblPr>
              <a:tblGrid>
                <a:gridCol w="1694450">
                  <a:extLst>
                    <a:ext uri="{9D8B030D-6E8A-4147-A177-3AD203B41FA5}">
                      <a16:colId xmlns:a16="http://schemas.microsoft.com/office/drawing/2014/main" val="20000"/>
                    </a:ext>
                  </a:extLst>
                </a:gridCol>
                <a:gridCol w="2762825">
                  <a:extLst>
                    <a:ext uri="{9D8B030D-6E8A-4147-A177-3AD203B41FA5}">
                      <a16:colId xmlns:a16="http://schemas.microsoft.com/office/drawing/2014/main" val="20001"/>
                    </a:ext>
                  </a:extLst>
                </a:gridCol>
                <a:gridCol w="278172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endParaRPr dirty="0"/>
                    </a:p>
                  </a:txBody>
                  <a:tcPr marR="91425" marT="91425" marB="91425"/>
                </a:tc>
                <a:tc>
                  <a:txBody>
                    <a:bodyPr/>
                    <a:lstStyle/>
                    <a:p>
                      <a:pPr marL="0" lvl="0" indent="0" algn="l" rtl="0">
                        <a:spcBef>
                          <a:spcPts val="0"/>
                        </a:spcBef>
                        <a:spcAft>
                          <a:spcPts val="0"/>
                        </a:spcAft>
                        <a:buNone/>
                      </a:pPr>
                      <a:r>
                        <a:rPr lang="en" sz="1400" b="1" i="1" dirty="0"/>
                        <a:t>Sectoral Threat</a:t>
                      </a:r>
                      <a:endParaRPr sz="1400" b="1" i="1" dirty="0"/>
                    </a:p>
                  </a:txBody>
                  <a:tcPr marR="91425" marT="91425" marB="91425">
                    <a:noFill/>
                  </a:tcPr>
                </a:tc>
                <a:tc>
                  <a:txBody>
                    <a:bodyPr/>
                    <a:lstStyle/>
                    <a:p>
                      <a:pPr marL="0" lvl="0" indent="0" algn="l" rtl="0">
                        <a:spcBef>
                          <a:spcPts val="0"/>
                        </a:spcBef>
                        <a:spcAft>
                          <a:spcPts val="0"/>
                        </a:spcAft>
                        <a:buNone/>
                      </a:pPr>
                      <a:r>
                        <a:rPr lang="en" sz="1400" b="1" i="1" dirty="0"/>
                        <a:t>Systemic Threat</a:t>
                      </a:r>
                      <a:endParaRPr sz="1400" b="1" i="1" dirty="0"/>
                    </a:p>
                  </a:txBody>
                  <a:tcPr marR="91425" marT="91425" marB="91425">
                    <a:no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400" b="1" i="1" dirty="0"/>
                        <a:t>Disadvantage </a:t>
                      </a:r>
                      <a:endParaRPr sz="1400" b="1" i="1" dirty="0"/>
                    </a:p>
                  </a:txBody>
                  <a:tcPr marR="91425" marT="91425" marB="91425"/>
                </a:tc>
                <a:tc>
                  <a:txBody>
                    <a:bodyPr/>
                    <a:lstStyle/>
                    <a:p>
                      <a:pPr marL="0" lvl="0" indent="0" algn="l" rtl="0">
                        <a:spcBef>
                          <a:spcPts val="0"/>
                        </a:spcBef>
                        <a:spcAft>
                          <a:spcPts val="0"/>
                        </a:spcAft>
                        <a:buNone/>
                      </a:pPr>
                      <a:r>
                        <a:rPr lang="en" sz="1100" b="1" dirty="0"/>
                        <a:t>managed transition (regional)</a:t>
                      </a:r>
                      <a:endParaRPr sz="1100" b="1" dirty="0"/>
                    </a:p>
                    <a:p>
                      <a:pPr marL="0" lvl="0" indent="0" algn="l" rtl="0">
                        <a:spcBef>
                          <a:spcPts val="1000"/>
                        </a:spcBef>
                        <a:spcAft>
                          <a:spcPts val="0"/>
                        </a:spcAft>
                        <a:buNone/>
                      </a:pPr>
                      <a:r>
                        <a:rPr lang="en" sz="1000" i="1" dirty="0"/>
                        <a:t>(e.g., 1990s Mexico/NAFTA)</a:t>
                      </a:r>
                      <a:endParaRPr sz="1000" i="1" dirty="0"/>
                    </a:p>
                  </a:txBody>
                  <a:tcPr marR="91425" marT="91425" marB="91425">
                    <a:solidFill>
                      <a:schemeClr val="bg2">
                        <a:lumMod val="20000"/>
                        <a:lumOff val="80000"/>
                      </a:schemeClr>
                    </a:solidFill>
                  </a:tcPr>
                </a:tc>
                <a:tc>
                  <a:txBody>
                    <a:bodyPr/>
                    <a:lstStyle/>
                    <a:p>
                      <a:pPr marL="0" lvl="0" indent="0" algn="l" rtl="0">
                        <a:spcBef>
                          <a:spcPts val="0"/>
                        </a:spcBef>
                        <a:spcAft>
                          <a:spcPts val="0"/>
                        </a:spcAft>
                        <a:buNone/>
                      </a:pPr>
                      <a:r>
                        <a:rPr lang="en" sz="1100" b="1" dirty="0"/>
                        <a:t>managed transition (regional politics)</a:t>
                      </a:r>
                      <a:endParaRPr sz="1100" b="1" dirty="0"/>
                    </a:p>
                    <a:p>
                      <a:pPr marL="0" lvl="0" indent="0" algn="l" rtl="0">
                        <a:spcBef>
                          <a:spcPts val="1000"/>
                        </a:spcBef>
                        <a:spcAft>
                          <a:spcPts val="0"/>
                        </a:spcAft>
                        <a:buNone/>
                      </a:pPr>
                      <a:r>
                        <a:rPr lang="en" sz="1000" i="1" dirty="0"/>
                        <a:t>(e.g., first China shock)</a:t>
                      </a:r>
                      <a:endParaRPr sz="1000" i="1" dirty="0"/>
                    </a:p>
                  </a:txBody>
                  <a:tcPr marR="91425" marT="91425" marB="91425">
                    <a:solidFill>
                      <a:srgbClr val="FFC000"/>
                    </a:solidFill>
                  </a:tcPr>
                </a:tc>
                <a:extLst>
                  <a:ext uri="{0D108BD9-81ED-4DB2-BD59-A6C34878D82A}">
                    <a16:rowId xmlns:a16="http://schemas.microsoft.com/office/drawing/2014/main" val="10001"/>
                  </a:ext>
                </a:extLst>
              </a:tr>
              <a:tr h="643784">
                <a:tc>
                  <a:txBody>
                    <a:bodyPr/>
                    <a:lstStyle/>
                    <a:p>
                      <a:pPr marL="0" lvl="0" indent="0" algn="l" rtl="0">
                        <a:spcBef>
                          <a:spcPts val="0"/>
                        </a:spcBef>
                        <a:spcAft>
                          <a:spcPts val="0"/>
                        </a:spcAft>
                        <a:buNone/>
                      </a:pPr>
                      <a:r>
                        <a:rPr lang="en" sz="1400" b="1" i="1" dirty="0"/>
                        <a:t>Advantage</a:t>
                      </a:r>
                      <a:endParaRPr sz="1400" b="1" i="1" dirty="0"/>
                    </a:p>
                  </a:txBody>
                  <a:tcPr marR="91425" marT="91425" marB="91425"/>
                </a:tc>
                <a:tc>
                  <a:txBody>
                    <a:bodyPr/>
                    <a:lstStyle/>
                    <a:p>
                      <a:pPr marL="0" lvl="0" indent="0" algn="l" rtl="0">
                        <a:spcBef>
                          <a:spcPts val="0"/>
                        </a:spcBef>
                        <a:spcAft>
                          <a:spcPts val="0"/>
                        </a:spcAft>
                        <a:buNone/>
                      </a:pPr>
                      <a:r>
                        <a:rPr lang="en" sz="1100" b="1" dirty="0"/>
                        <a:t>targeted protection (bipartisan) </a:t>
                      </a:r>
                      <a:endParaRPr sz="1100" b="1" dirty="0"/>
                    </a:p>
                    <a:p>
                      <a:pPr marL="0" lvl="0" indent="0" algn="l" rtl="0">
                        <a:spcBef>
                          <a:spcPts val="1000"/>
                        </a:spcBef>
                        <a:spcAft>
                          <a:spcPts val="0"/>
                        </a:spcAft>
                        <a:buNone/>
                      </a:pPr>
                      <a:r>
                        <a:rPr lang="en" sz="1000" i="1" dirty="0"/>
                        <a:t>(e.g., U.S.-Japan trade war)</a:t>
                      </a:r>
                      <a:endParaRPr sz="1000" i="1" dirty="0"/>
                    </a:p>
                  </a:txBody>
                  <a:tcPr marR="91425" marT="91425" marB="91425">
                    <a:solidFill>
                      <a:schemeClr val="bg2">
                        <a:lumMod val="20000"/>
                        <a:lumOff val="80000"/>
                      </a:schemeClr>
                    </a:solidFill>
                  </a:tcPr>
                </a:tc>
                <a:tc>
                  <a:txBody>
                    <a:bodyPr/>
                    <a:lstStyle/>
                    <a:p>
                      <a:pPr marL="0" lvl="0" indent="0" algn="l" rtl="0">
                        <a:spcBef>
                          <a:spcPts val="0"/>
                        </a:spcBef>
                        <a:spcAft>
                          <a:spcPts val="0"/>
                        </a:spcAft>
                        <a:buNone/>
                      </a:pPr>
                      <a:r>
                        <a:rPr lang="en" sz="1100" b="1" dirty="0"/>
                        <a:t>broad-based protection (bipartisan)</a:t>
                      </a:r>
                      <a:endParaRPr sz="1100" b="1" dirty="0"/>
                    </a:p>
                    <a:p>
                      <a:pPr marL="0" lvl="0" indent="0" algn="l" rtl="0">
                        <a:spcBef>
                          <a:spcPts val="1000"/>
                        </a:spcBef>
                        <a:spcAft>
                          <a:spcPts val="0"/>
                        </a:spcAft>
                        <a:buNone/>
                      </a:pPr>
                      <a:r>
                        <a:rPr lang="en" sz="1000" i="1" dirty="0"/>
                        <a:t>(e.g., second China shock)</a:t>
                      </a:r>
                      <a:endParaRPr sz="1000" i="1" dirty="0"/>
                    </a:p>
                  </a:txBody>
                  <a:tcPr marR="91425" marT="91425" marB="91425">
                    <a:solidFill>
                      <a:srgbClr val="FFC000"/>
                    </a:solidFill>
                  </a:tcPr>
                </a:tc>
                <a:extLst>
                  <a:ext uri="{0D108BD9-81ED-4DB2-BD59-A6C34878D82A}">
                    <a16:rowId xmlns:a16="http://schemas.microsoft.com/office/drawing/2014/main" val="10002"/>
                  </a:ext>
                </a:extLst>
              </a:tr>
            </a:tbl>
          </a:graphicData>
        </a:graphic>
      </p:graphicFrame>
      <p:sp>
        <p:nvSpPr>
          <p:cNvPr id="157" name="Google Shape;157;p24"/>
          <p:cNvSpPr txBox="1"/>
          <p:nvPr/>
        </p:nvSpPr>
        <p:spPr>
          <a:xfrm>
            <a:off x="633740" y="3699905"/>
            <a:ext cx="7159500" cy="1187987"/>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b="1" dirty="0">
                <a:latin typeface="Open Sans"/>
                <a:ea typeface="Open Sans"/>
                <a:cs typeface="Open Sans"/>
                <a:sym typeface="Open Sans"/>
              </a:rPr>
              <a:t>Possible moderators:</a:t>
            </a:r>
            <a:endParaRPr sz="1200" b="1" dirty="0">
              <a:latin typeface="Open Sans"/>
              <a:ea typeface="Open Sans"/>
              <a:cs typeface="Open Sans"/>
              <a:sym typeface="Open Sans"/>
            </a:endParaRPr>
          </a:p>
          <a:p>
            <a:pPr marL="457200" lvl="0" indent="-304800" algn="l" rtl="0">
              <a:lnSpc>
                <a:spcPct val="115000"/>
              </a:lnSpc>
              <a:spcBef>
                <a:spcPts val="1200"/>
              </a:spcBef>
              <a:spcAft>
                <a:spcPts val="0"/>
              </a:spcAft>
              <a:buClr>
                <a:srgbClr val="000000"/>
              </a:buClr>
              <a:buSzPts val="1200"/>
              <a:buFont typeface="Open Sans"/>
              <a:buChar char="●"/>
            </a:pPr>
            <a:r>
              <a:rPr lang="en" sz="1200" b="1" dirty="0">
                <a:latin typeface="Open Sans"/>
                <a:ea typeface="Open Sans"/>
                <a:cs typeface="Open Sans"/>
                <a:sym typeface="Open Sans"/>
              </a:rPr>
              <a:t>Geopolitics:</a:t>
            </a:r>
            <a:r>
              <a:rPr lang="en" sz="1200" dirty="0">
                <a:latin typeface="Open Sans"/>
                <a:ea typeface="Open Sans"/>
                <a:cs typeface="Open Sans"/>
                <a:sym typeface="Open Sans"/>
              </a:rPr>
              <a:t> ally status, regime type </a:t>
            </a:r>
            <a:endParaRPr sz="1200" dirty="0">
              <a:latin typeface="Open Sans"/>
              <a:ea typeface="Open Sans"/>
              <a:cs typeface="Open Sans"/>
              <a:sym typeface="Open Sans"/>
            </a:endParaRPr>
          </a:p>
          <a:p>
            <a:pPr marL="457200" lvl="0" indent="-304800" algn="l" rtl="0">
              <a:lnSpc>
                <a:spcPct val="115000"/>
              </a:lnSpc>
              <a:spcBef>
                <a:spcPts val="0"/>
              </a:spcBef>
              <a:spcAft>
                <a:spcPts val="0"/>
              </a:spcAft>
              <a:buClr>
                <a:srgbClr val="000000"/>
              </a:buClr>
              <a:buSzPts val="1200"/>
              <a:buFont typeface="Open Sans"/>
              <a:buChar char="●"/>
            </a:pPr>
            <a:r>
              <a:rPr lang="en" sz="1200" b="1" dirty="0">
                <a:latin typeface="Open Sans"/>
                <a:ea typeface="Open Sans"/>
                <a:cs typeface="Open Sans"/>
                <a:sym typeface="Open Sans"/>
              </a:rPr>
              <a:t>New trade theory:</a:t>
            </a:r>
            <a:r>
              <a:rPr lang="en" sz="1200" dirty="0">
                <a:latin typeface="Open Sans"/>
                <a:ea typeface="Open Sans"/>
                <a:cs typeface="Open Sans"/>
                <a:sym typeface="Open Sans"/>
              </a:rPr>
              <a:t> product diff. </a:t>
            </a:r>
            <a:endParaRPr sz="1200" dirty="0">
              <a:latin typeface="Open Sans"/>
              <a:ea typeface="Open Sans"/>
              <a:cs typeface="Open Sans"/>
              <a:sym typeface="Open Sans"/>
            </a:endParaRPr>
          </a:p>
          <a:p>
            <a:pPr marL="457200" lvl="0" indent="-304800" algn="l" rtl="0">
              <a:lnSpc>
                <a:spcPct val="115000"/>
              </a:lnSpc>
              <a:spcBef>
                <a:spcPts val="0"/>
              </a:spcBef>
              <a:spcAft>
                <a:spcPts val="0"/>
              </a:spcAft>
              <a:buClr>
                <a:srgbClr val="000000"/>
              </a:buClr>
              <a:buSzPts val="1200"/>
              <a:buFont typeface="Open Sans"/>
              <a:buChar char="●"/>
            </a:pPr>
            <a:r>
              <a:rPr lang="en" sz="1200" b="1" dirty="0">
                <a:latin typeface="Open Sans"/>
                <a:ea typeface="Open Sans"/>
                <a:cs typeface="Open Sans"/>
                <a:sym typeface="Open Sans"/>
              </a:rPr>
              <a:t>New new trade theory</a:t>
            </a:r>
            <a:r>
              <a:rPr lang="en" sz="1200" dirty="0">
                <a:latin typeface="Open Sans"/>
                <a:ea typeface="Open Sans"/>
                <a:cs typeface="Open Sans"/>
                <a:sym typeface="Open Sans"/>
              </a:rPr>
              <a:t>: own MNC, localized production </a:t>
            </a:r>
            <a:endParaRPr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6"/>
          <p:cNvSpPr txBox="1">
            <a:spLocks noGrp="1"/>
          </p:cNvSpPr>
          <p:nvPr>
            <p:ph type="title"/>
          </p:nvPr>
        </p:nvSpPr>
        <p:spPr>
          <a:xfrm>
            <a:off x="695366" y="2218050"/>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Empirical Evidence: Mixed-methods</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Elite Opinion: Congressional Speech </a:t>
            </a:r>
            <a:endParaRPr/>
          </a:p>
          <a:p>
            <a:pPr marL="0" lvl="0" indent="0" algn="l" rtl="0">
              <a:spcBef>
                <a:spcPts val="0"/>
              </a:spcBef>
              <a:spcAft>
                <a:spcPts val="0"/>
              </a:spcAft>
              <a:buNone/>
            </a:pPr>
            <a:r>
              <a:rPr lang="en" sz="1466"/>
              <a:t>(Keywords: Free Trade, excl. Free Trade Agreement)</a:t>
            </a:r>
            <a:endParaRPr sz="1466"/>
          </a:p>
        </p:txBody>
      </p:sp>
      <p:sp>
        <p:nvSpPr>
          <p:cNvPr id="176" name="Google Shape;176;p27"/>
          <p:cNvSpPr txBox="1"/>
          <p:nvPr/>
        </p:nvSpPr>
        <p:spPr>
          <a:xfrm>
            <a:off x="5213200" y="1991028"/>
            <a:ext cx="3803100" cy="289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t># of topics picked based on frex/excl and manual inspection</a:t>
            </a:r>
            <a:endParaRPr sz="600"/>
          </a:p>
          <a:p>
            <a:pPr marL="0" lvl="0" indent="0" algn="l" rtl="0">
              <a:spcBef>
                <a:spcPts val="0"/>
              </a:spcBef>
              <a:spcAft>
                <a:spcPts val="0"/>
              </a:spcAft>
              <a:buNone/>
            </a:pPr>
            <a:r>
              <a:rPr lang="en" sz="600"/>
              <a:t>Topic 1: wage, job, factori, hour, outsourc, worker, lost, class, plant, manufactur</a:t>
            </a:r>
            <a:endParaRPr sz="600"/>
          </a:p>
          <a:p>
            <a:pPr marL="0" lvl="0" indent="0" algn="l" rtl="0">
              <a:spcBef>
                <a:spcPts val="0"/>
              </a:spcBef>
              <a:spcAft>
                <a:spcPts val="0"/>
              </a:spcAft>
              <a:buNone/>
            </a:pPr>
            <a:r>
              <a:rPr lang="en" sz="600"/>
              <a:t>Topic 2: fsx, smoothawley, navi, british, father, distinguish, alexand, hamilton, lawyer, roosevelt</a:t>
            </a:r>
            <a:endParaRPr sz="600"/>
          </a:p>
          <a:p>
            <a:pPr marL="0" lvl="0" indent="0" algn="l" rtl="0">
              <a:spcBef>
                <a:spcPts val="0"/>
              </a:spcBef>
              <a:spcAft>
                <a:spcPts val="0"/>
              </a:spcAft>
              <a:buNone/>
            </a:pPr>
            <a:r>
              <a:rPr lang="en" sz="600"/>
              <a:t>Topic 3: mfn, poland, communist, repress, solidar, soviet, democraci, polish, cuba, endow</a:t>
            </a:r>
            <a:endParaRPr sz="600"/>
          </a:p>
          <a:p>
            <a:pPr marL="0" lvl="0" indent="0" algn="l" rtl="0">
              <a:spcBef>
                <a:spcPts val="0"/>
              </a:spcBef>
              <a:spcAft>
                <a:spcPts val="0"/>
              </a:spcAft>
              <a:buNone/>
            </a:pPr>
            <a:r>
              <a:rPr lang="en" sz="600"/>
              <a:t>Topic 4: caribbean, provis, taa, amend, truck, section, confer, appropri, fund, assist</a:t>
            </a:r>
            <a:endParaRPr sz="600"/>
          </a:p>
          <a:p>
            <a:pPr marL="0" lvl="0" indent="0" algn="l" rtl="0">
              <a:spcBef>
                <a:spcPts val="0"/>
              </a:spcBef>
              <a:spcAft>
                <a:spcPts val="0"/>
              </a:spcAft>
              <a:buNone/>
            </a:pPr>
            <a:r>
              <a:rPr lang="en" sz="600"/>
              <a:t>Topic 5: sugar, catfish, wheat, prescript, farm, grain, oil, drug, farmer, food</a:t>
            </a:r>
            <a:endParaRPr sz="600"/>
          </a:p>
          <a:p>
            <a:pPr marL="0" lvl="0" indent="0" algn="l" rtl="0">
              <a:spcBef>
                <a:spcPts val="0"/>
              </a:spcBef>
              <a:spcAft>
                <a:spcPts val="0"/>
              </a:spcAft>
              <a:buNone/>
            </a:pPr>
            <a:r>
              <a:rPr lang="en" sz="600"/>
              <a:t>Topic 6: steel, japanes, japan, quota, industri, dump, auto, retali, footwear, uranium</a:t>
            </a:r>
            <a:endParaRPr sz="600"/>
          </a:p>
          <a:p>
            <a:pPr marL="0" lvl="0" indent="0" algn="l" rtl="0">
              <a:spcBef>
                <a:spcPts val="0"/>
              </a:spcBef>
              <a:spcAft>
                <a:spcPts val="0"/>
              </a:spcAft>
              <a:buNone/>
            </a:pPr>
            <a:r>
              <a:rPr lang="en" sz="600"/>
              <a:t>Topic 7: fasttrack, agreement, track, freetrad, fast, negoti, mexico, environment, colombia, nafta</a:t>
            </a:r>
            <a:endParaRPr sz="600"/>
          </a:p>
          <a:p>
            <a:pPr marL="0" lvl="0" indent="0" algn="l" rtl="0">
              <a:spcBef>
                <a:spcPts val="0"/>
              </a:spcBef>
              <a:spcAft>
                <a:spcPts val="0"/>
              </a:spcAft>
              <a:buNone/>
            </a:pPr>
            <a:endParaRPr sz="800"/>
          </a:p>
          <a:p>
            <a:pPr marL="0" lvl="0" indent="0" algn="l" rtl="0">
              <a:spcBef>
                <a:spcPts val="0"/>
              </a:spcBef>
              <a:spcAft>
                <a:spcPts val="0"/>
              </a:spcAft>
              <a:buNone/>
            </a:pPr>
            <a:endParaRPr sz="800"/>
          </a:p>
          <a:p>
            <a:pPr marL="0" lvl="0" indent="0" algn="l" rtl="0">
              <a:spcBef>
                <a:spcPts val="0"/>
              </a:spcBef>
              <a:spcAft>
                <a:spcPts val="0"/>
              </a:spcAft>
              <a:buNone/>
            </a:pPr>
            <a:endParaRPr sz="800"/>
          </a:p>
          <a:p>
            <a:pPr marL="0" lvl="0" indent="0" algn="l" rtl="0">
              <a:spcBef>
                <a:spcPts val="0"/>
              </a:spcBef>
              <a:spcAft>
                <a:spcPts val="0"/>
              </a:spcAft>
              <a:buNone/>
            </a:pPr>
            <a:r>
              <a:rPr lang="en" sz="800"/>
              <a:t>Note: </a:t>
            </a:r>
            <a:endParaRPr sz="800"/>
          </a:p>
          <a:p>
            <a:pPr marL="0" lvl="0" indent="0" algn="l" rtl="0">
              <a:spcBef>
                <a:spcPts val="0"/>
              </a:spcBef>
              <a:spcAft>
                <a:spcPts val="0"/>
              </a:spcAft>
              <a:buNone/>
            </a:pPr>
            <a:r>
              <a:rPr lang="en" sz="800"/>
              <a:t>-black line includes complaints about high-end imports from Japan (cars/semi/steel) vs. others (textile/apparel). Although both were set import restrictions, the latter faded along with the WTO establishment without demanding localized production (e.g. jpn cars), nor did it capture national spotlight as the former or framed as national security/identity. Its protection has historical reasons (multi-fiber agreement) and regional politics. Under WTO, other low-end products weren’t allowed protection; low-end products were also rarely mentioned in red line. </a:t>
            </a:r>
            <a:endParaRPr sz="800"/>
          </a:p>
          <a:p>
            <a:pPr marL="0" lvl="0" indent="0" algn="l" rtl="0">
              <a:spcBef>
                <a:spcPts val="0"/>
              </a:spcBef>
              <a:spcAft>
                <a:spcPts val="0"/>
              </a:spcAft>
              <a:buNone/>
            </a:pPr>
            <a:r>
              <a:rPr lang="en" sz="800"/>
              <a:t>-after early 2010s, red line declines, brown/green lines rise – they are continuation of red line. Anti-trade rhetoric and hr accusation docs framed based on de-indus.</a:t>
            </a:r>
            <a:endParaRPr sz="800"/>
          </a:p>
          <a:p>
            <a:pPr marL="0" lvl="0" indent="0" algn="l" rtl="0">
              <a:spcBef>
                <a:spcPts val="0"/>
              </a:spcBef>
              <a:spcAft>
                <a:spcPts val="0"/>
              </a:spcAft>
              <a:buNone/>
            </a:pPr>
            <a:r>
              <a:rPr lang="en" sz="800"/>
              <a:t>-since 1995/wto during which many low-end sectors eroded/dissapeared, the anti-trade rhetoric has been largely stable until early 2010s</a:t>
            </a:r>
            <a:endParaRPr sz="800"/>
          </a:p>
        </p:txBody>
      </p:sp>
      <p:pic>
        <p:nvPicPr>
          <p:cNvPr id="177" name="Google Shape;177;p27"/>
          <p:cNvPicPr preferRelativeResize="0"/>
          <p:nvPr/>
        </p:nvPicPr>
        <p:blipFill>
          <a:blip r:embed="rId3">
            <a:alphaModFix/>
          </a:blip>
          <a:stretch>
            <a:fillRect/>
          </a:stretch>
        </p:blipFill>
        <p:spPr>
          <a:xfrm>
            <a:off x="152400" y="1304825"/>
            <a:ext cx="4653820" cy="36862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Elite Opinion: Congressional Speech - by party </a:t>
            </a:r>
            <a:endParaRPr/>
          </a:p>
          <a:p>
            <a:pPr marL="0" lvl="0" indent="0" algn="l" rtl="0">
              <a:spcBef>
                <a:spcPts val="0"/>
              </a:spcBef>
              <a:spcAft>
                <a:spcPts val="0"/>
              </a:spcAft>
              <a:buNone/>
            </a:pPr>
            <a:r>
              <a:rPr lang="en" sz="1466"/>
              <a:t>(Keywords: Free Trade)</a:t>
            </a:r>
            <a:endParaRPr sz="1466"/>
          </a:p>
        </p:txBody>
      </p:sp>
      <p:pic>
        <p:nvPicPr>
          <p:cNvPr id="183" name="Google Shape;183;p28"/>
          <p:cNvPicPr preferRelativeResize="0"/>
          <p:nvPr/>
        </p:nvPicPr>
        <p:blipFill>
          <a:blip r:embed="rId3">
            <a:alphaModFix/>
          </a:blip>
          <a:stretch>
            <a:fillRect/>
          </a:stretch>
        </p:blipFill>
        <p:spPr>
          <a:xfrm>
            <a:off x="311700" y="1608525"/>
            <a:ext cx="6343227" cy="3406125"/>
          </a:xfrm>
          <a:prstGeom prst="rect">
            <a:avLst/>
          </a:prstGeom>
          <a:noFill/>
          <a:ln>
            <a:noFill/>
          </a:ln>
        </p:spPr>
      </p:pic>
      <p:sp>
        <p:nvSpPr>
          <p:cNvPr id="184" name="Google Shape;184;p28"/>
          <p:cNvSpPr txBox="1"/>
          <p:nvPr/>
        </p:nvSpPr>
        <p:spPr>
          <a:xfrm>
            <a:off x="6494275" y="2605375"/>
            <a:ext cx="2397600" cy="225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2"/>
                </a:solidFill>
                <a:latin typeface="Open Sans"/>
                <a:ea typeface="Open Sans"/>
                <a:cs typeface="Open Sans"/>
                <a:sym typeface="Open Sans"/>
              </a:rPr>
              <a:t>Note: </a:t>
            </a:r>
            <a:endParaRPr sz="700">
              <a:solidFill>
                <a:schemeClr val="dk2"/>
              </a:solidFill>
              <a:latin typeface="Open Sans"/>
              <a:ea typeface="Open Sans"/>
              <a:cs typeface="Open Sans"/>
              <a:sym typeface="Open Sans"/>
            </a:endParaRPr>
          </a:p>
          <a:p>
            <a:pPr marL="0" lvl="0" indent="0" algn="l" rtl="0">
              <a:spcBef>
                <a:spcPts val="0"/>
              </a:spcBef>
              <a:spcAft>
                <a:spcPts val="0"/>
              </a:spcAft>
              <a:buNone/>
            </a:pPr>
            <a:r>
              <a:rPr lang="en" sz="700">
                <a:solidFill>
                  <a:schemeClr val="dk2"/>
                </a:solidFill>
                <a:latin typeface="Open Sans"/>
                <a:ea typeface="Open Sans"/>
                <a:cs typeface="Open Sans"/>
                <a:sym typeface="Open Sans"/>
              </a:rPr>
              <a:t>-Republicans (establishment, although intra-party dissents from midwestern) were generally pro-free trade until the early 2010s and TEA party/Trump to become anti-free trade. Dems were historically more protectionist. Both parties similarly concerned Japan’s trade shocks (even R like Reagan)</a:t>
            </a:r>
            <a:endParaRPr sz="700">
              <a:solidFill>
                <a:schemeClr val="dk2"/>
              </a:solidFill>
              <a:latin typeface="Open Sans"/>
              <a:ea typeface="Open Sans"/>
              <a:cs typeface="Open Sans"/>
              <a:sym typeface="Open Sans"/>
            </a:endParaRPr>
          </a:p>
          <a:p>
            <a:pPr marL="0" lvl="0" indent="0" algn="l" rtl="0">
              <a:spcBef>
                <a:spcPts val="0"/>
              </a:spcBef>
              <a:spcAft>
                <a:spcPts val="0"/>
              </a:spcAft>
              <a:buNone/>
            </a:pPr>
            <a:r>
              <a:rPr lang="en" sz="700">
                <a:solidFill>
                  <a:schemeClr val="dk2"/>
                </a:solidFill>
                <a:latin typeface="Open Sans"/>
                <a:ea typeface="Open Sans"/>
                <a:cs typeface="Open Sans"/>
                <a:sym typeface="Open Sans"/>
              </a:rPr>
              <a:t>-from 1992 to 2012, rust belt states mostly voted dems. So gop red line is mild, also b/c displaced sectors were disadv.</a:t>
            </a:r>
            <a:endParaRPr sz="700">
              <a:solidFill>
                <a:schemeClr val="dk2"/>
              </a:solidFill>
              <a:latin typeface="Open Sans"/>
              <a:ea typeface="Open Sans"/>
              <a:cs typeface="Open Sans"/>
              <a:sym typeface="Open Sans"/>
            </a:endParaRPr>
          </a:p>
          <a:p>
            <a:pPr marL="0" lvl="0" indent="0" algn="l" rtl="0">
              <a:spcBef>
                <a:spcPts val="0"/>
              </a:spcBef>
              <a:spcAft>
                <a:spcPts val="0"/>
              </a:spcAft>
              <a:buNone/>
            </a:pPr>
            <a:r>
              <a:rPr lang="en" sz="700">
                <a:solidFill>
                  <a:schemeClr val="dk2"/>
                </a:solidFill>
                <a:latin typeface="Open Sans"/>
                <a:ea typeface="Open Sans"/>
                <a:cs typeface="Open Sans"/>
                <a:sym typeface="Open Sans"/>
              </a:rPr>
              <a:t>-Trump’s anti-trade stance largely comes from concerns over deindus. (e.g. tariffs on semi/steel/cars) and mercantilism (e.g., trade deficit) by trading partners. Anti-trade views can quickly spread to establishment if deindus goes deeper.</a:t>
            </a:r>
            <a:endParaRPr sz="700">
              <a:solidFill>
                <a:schemeClr val="dk2"/>
              </a:solidFill>
              <a:latin typeface="Open Sans"/>
              <a:ea typeface="Open Sans"/>
              <a:cs typeface="Open Sans"/>
              <a:sym typeface="Open Sans"/>
            </a:endParaRPr>
          </a:p>
          <a:p>
            <a:pPr marL="0" lvl="0" indent="0" algn="l" rtl="0">
              <a:spcBef>
                <a:spcPts val="0"/>
              </a:spcBef>
              <a:spcAft>
                <a:spcPts val="0"/>
              </a:spcAft>
              <a:buNone/>
            </a:pPr>
            <a:endParaRPr sz="700">
              <a:solidFill>
                <a:schemeClr val="dk2"/>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Elite Opinion: Congressional Speech </a:t>
            </a:r>
            <a:endParaRPr/>
          </a:p>
          <a:p>
            <a:pPr marL="0" lvl="0" indent="0" algn="l" rtl="0">
              <a:spcBef>
                <a:spcPts val="0"/>
              </a:spcBef>
              <a:spcAft>
                <a:spcPts val="0"/>
              </a:spcAft>
              <a:buNone/>
            </a:pPr>
            <a:r>
              <a:rPr lang="en" sz="1466"/>
              <a:t>(Keywords: Chinese Imports, Trade w/ China)</a:t>
            </a:r>
            <a:endParaRPr sz="1466"/>
          </a:p>
        </p:txBody>
      </p:sp>
      <p:sp>
        <p:nvSpPr>
          <p:cNvPr id="196" name="Google Shape;196;p30"/>
          <p:cNvSpPr txBox="1">
            <a:spLocks noGrp="1"/>
          </p:cNvSpPr>
          <p:nvPr>
            <p:ph type="body" idx="1"/>
          </p:nvPr>
        </p:nvSpPr>
        <p:spPr>
          <a:xfrm>
            <a:off x="5869150" y="4064100"/>
            <a:ext cx="3202800" cy="965700"/>
          </a:xfrm>
          <a:prstGeom prst="rect">
            <a:avLst/>
          </a:prstGeom>
        </p:spPr>
        <p:txBody>
          <a:bodyPr spcFirstLastPara="1" wrap="square" lIns="91425" tIns="91425" rIns="91425" bIns="91425" anchor="t" anchorCtr="0">
            <a:normAutofit fontScale="92500" lnSpcReduction="10000"/>
          </a:bodyPr>
          <a:lstStyle/>
          <a:p>
            <a:pPr marL="0" lvl="0" indent="0" algn="l" rtl="0">
              <a:lnSpc>
                <a:spcPct val="115000"/>
              </a:lnSpc>
              <a:spcBef>
                <a:spcPts val="0"/>
              </a:spcBef>
              <a:spcAft>
                <a:spcPts val="0"/>
              </a:spcAft>
              <a:buSzPct val="68750"/>
              <a:buNone/>
            </a:pPr>
            <a:r>
              <a:rPr lang="en" sz="625">
                <a:solidFill>
                  <a:srgbClr val="666666"/>
                </a:solidFill>
              </a:rPr>
              <a:t>Topic 1 missil, prison, iran, arrest, mass, tortur, abort, slave, weapon, women </a:t>
            </a:r>
            <a:endParaRPr sz="625">
              <a:solidFill>
                <a:srgbClr val="666666"/>
              </a:solidFill>
            </a:endParaRPr>
          </a:p>
          <a:p>
            <a:pPr marL="0" lvl="0" indent="0" algn="l" rtl="0">
              <a:lnSpc>
                <a:spcPct val="115000"/>
              </a:lnSpc>
              <a:spcBef>
                <a:spcPts val="0"/>
              </a:spcBef>
              <a:spcAft>
                <a:spcPts val="0"/>
              </a:spcAft>
              <a:buSzPct val="68750"/>
              <a:buNone/>
            </a:pPr>
            <a:r>
              <a:rPr lang="en" sz="625">
                <a:solidFill>
                  <a:srgbClr val="666666"/>
                </a:solidFill>
              </a:rPr>
              <a:t>Topic 2: hour, wage, deficit, mexico, nafta, cent, car, automobil, doesnt, trump </a:t>
            </a:r>
            <a:endParaRPr sz="625">
              <a:solidFill>
                <a:srgbClr val="666666"/>
              </a:solidFill>
            </a:endParaRPr>
          </a:p>
          <a:p>
            <a:pPr marL="0" lvl="0" indent="0" algn="l" rtl="0">
              <a:lnSpc>
                <a:spcPct val="115000"/>
              </a:lnSpc>
              <a:spcBef>
                <a:spcPts val="0"/>
              </a:spcBef>
              <a:spcAft>
                <a:spcPts val="0"/>
              </a:spcAft>
              <a:buSzPct val="68750"/>
              <a:buNone/>
            </a:pPr>
            <a:r>
              <a:rPr lang="en" sz="625">
                <a:solidFill>
                  <a:srgbClr val="666666"/>
                </a:solidFill>
              </a:rPr>
              <a:t>Topic 3: textil, manipul, currenc, rate, undervalu, unfair, apparel, program, enforc, duti </a:t>
            </a:r>
            <a:endParaRPr sz="625">
              <a:solidFill>
                <a:srgbClr val="666666"/>
              </a:solidFill>
            </a:endParaRPr>
          </a:p>
          <a:p>
            <a:pPr marL="0" lvl="0" indent="0" algn="l" rtl="0">
              <a:lnSpc>
                <a:spcPct val="115000"/>
              </a:lnSpc>
              <a:spcBef>
                <a:spcPts val="0"/>
              </a:spcBef>
              <a:spcAft>
                <a:spcPts val="0"/>
              </a:spcAft>
              <a:buSzPct val="68750"/>
              <a:buNone/>
            </a:pPr>
            <a:r>
              <a:rPr lang="en" sz="625">
                <a:solidFill>
                  <a:srgbClr val="666666"/>
                </a:solidFill>
              </a:rPr>
              <a:t>Topic 4: agricultur, pntr, wto, access, review, perman, normal, farmer, annual, prosper </a:t>
            </a:r>
            <a:endParaRPr sz="625">
              <a:solidFill>
                <a:srgbClr val="666666"/>
              </a:solidFill>
            </a:endParaRPr>
          </a:p>
          <a:p>
            <a:pPr marL="0" lvl="0" indent="0" algn="l" rtl="0">
              <a:lnSpc>
                <a:spcPct val="115000"/>
              </a:lnSpc>
              <a:spcBef>
                <a:spcPts val="0"/>
              </a:spcBef>
              <a:spcAft>
                <a:spcPts val="0"/>
              </a:spcAft>
              <a:buSzPct val="68750"/>
              <a:buNone/>
            </a:pPr>
            <a:r>
              <a:rPr lang="en" sz="625">
                <a:solidFill>
                  <a:srgbClr val="666666"/>
                </a:solidFill>
              </a:rPr>
              <a:t>Topic 5: mfn, hong, kong, revok, mostfavoredn, status, resolut, renew, condit, influenc </a:t>
            </a:r>
            <a:endParaRPr sz="625">
              <a:solidFill>
                <a:srgbClr val="666666"/>
              </a:solidFill>
            </a:endParaRPr>
          </a:p>
          <a:p>
            <a:pPr marL="0" lvl="0" indent="0" algn="l" rtl="0">
              <a:lnSpc>
                <a:spcPct val="115000"/>
              </a:lnSpc>
              <a:spcBef>
                <a:spcPts val="0"/>
              </a:spcBef>
              <a:spcAft>
                <a:spcPts val="0"/>
              </a:spcAft>
              <a:buSzPct val="68750"/>
              <a:buNone/>
            </a:pPr>
            <a:r>
              <a:rPr lang="en" sz="625">
                <a:solidFill>
                  <a:srgbClr val="666666"/>
                </a:solidFill>
              </a:rPr>
              <a:t>Topic 6: cuba, taxpay, castro, gentleman, cuban, bank, money, russia, colorado, credit </a:t>
            </a:r>
            <a:endParaRPr sz="625">
              <a:solidFill>
                <a:srgbClr val="666666"/>
              </a:solidFill>
            </a:endParaRPr>
          </a:p>
          <a:p>
            <a:pPr marL="0" lvl="0" indent="0" algn="l" rtl="0">
              <a:lnSpc>
                <a:spcPct val="115000"/>
              </a:lnSpc>
              <a:spcBef>
                <a:spcPts val="0"/>
              </a:spcBef>
              <a:spcAft>
                <a:spcPts val="0"/>
              </a:spcAft>
              <a:buSzPct val="68750"/>
              <a:buNone/>
            </a:pPr>
            <a:endParaRPr sz="625">
              <a:solidFill>
                <a:srgbClr val="666666"/>
              </a:solidFill>
            </a:endParaRPr>
          </a:p>
        </p:txBody>
      </p:sp>
      <p:pic>
        <p:nvPicPr>
          <p:cNvPr id="197" name="Google Shape;197;p30"/>
          <p:cNvPicPr preferRelativeResize="0"/>
          <p:nvPr/>
        </p:nvPicPr>
        <p:blipFill>
          <a:blip r:embed="rId3">
            <a:alphaModFix/>
          </a:blip>
          <a:stretch>
            <a:fillRect/>
          </a:stretch>
        </p:blipFill>
        <p:spPr>
          <a:xfrm>
            <a:off x="516600" y="1472350"/>
            <a:ext cx="5128376" cy="35257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Section 301: List 1 and 2 (2018/19)</a:t>
            </a:r>
            <a:endParaRPr dirty="0"/>
          </a:p>
          <a:p>
            <a:pPr marL="0" lvl="0" indent="0" algn="l" rtl="0">
              <a:spcBef>
                <a:spcPts val="0"/>
              </a:spcBef>
              <a:spcAft>
                <a:spcPts val="0"/>
              </a:spcAft>
              <a:buNone/>
            </a:pPr>
            <a:endParaRPr sz="1466" dirty="0"/>
          </a:p>
        </p:txBody>
      </p:sp>
      <p:sp>
        <p:nvSpPr>
          <p:cNvPr id="196" name="Google Shape;196;p30"/>
          <p:cNvSpPr txBox="1">
            <a:spLocks noGrp="1"/>
          </p:cNvSpPr>
          <p:nvPr>
            <p:ph type="body" idx="1"/>
          </p:nvPr>
        </p:nvSpPr>
        <p:spPr>
          <a:xfrm>
            <a:off x="395702" y="1276962"/>
            <a:ext cx="7956447" cy="3549562"/>
          </a:xfrm>
          <a:prstGeom prst="rect">
            <a:avLst/>
          </a:prstGeom>
        </p:spPr>
        <p:txBody>
          <a:bodyPr spcFirstLastPara="1" wrap="square" lIns="91425" tIns="91425" rIns="91425" bIns="91425" anchor="t" anchorCtr="0">
            <a:normAutofit fontScale="92500" lnSpcReduction="20000"/>
          </a:bodyPr>
          <a:lstStyle/>
          <a:p>
            <a:pPr marL="0" lvl="0" indent="0" algn="l" rtl="0">
              <a:lnSpc>
                <a:spcPct val="115000"/>
              </a:lnSpc>
              <a:spcBef>
                <a:spcPts val="0"/>
              </a:spcBef>
              <a:spcAft>
                <a:spcPts val="0"/>
              </a:spcAft>
              <a:buSzPct val="68750"/>
              <a:buNone/>
            </a:pPr>
            <a:r>
              <a:rPr lang="en-US" sz="1600" b="1" dirty="0">
                <a:solidFill>
                  <a:srgbClr val="002060"/>
                </a:solidFill>
                <a:latin typeface="Arial" panose="020B0604020202020204" pitchFamily="34" charset="0"/>
                <a:cs typeface="Arial" panose="020B0604020202020204" pitchFamily="34" charset="0"/>
              </a:rPr>
              <a:t>DV: </a:t>
            </a:r>
          </a:p>
          <a:p>
            <a:pPr marL="285750" lvl="0" indent="-285750" algn="l" rtl="0">
              <a:lnSpc>
                <a:spcPct val="115000"/>
              </a:lnSpc>
              <a:spcBef>
                <a:spcPts val="600"/>
              </a:spcBef>
              <a:spcAft>
                <a:spcPts val="0"/>
              </a:spcAft>
              <a:buSzPct val="68750"/>
              <a:buFont typeface="Arial" panose="020B0604020202020204" pitchFamily="34" charset="0"/>
              <a:buChar char="•"/>
            </a:pPr>
            <a:r>
              <a:rPr lang="en-US" sz="1300" dirty="0">
                <a:solidFill>
                  <a:srgbClr val="002060"/>
                </a:solidFill>
                <a:latin typeface="Arial" panose="020B0604020202020204" pitchFamily="34" charset="0"/>
                <a:cs typeface="Arial" panose="020B0604020202020204" pitchFamily="34" charset="0"/>
              </a:rPr>
              <a:t>Prior investigations (localized competition); list 3/4 (tit-for-tat); explicitly </a:t>
            </a:r>
            <a:r>
              <a:rPr lang="en-US" sz="1300">
                <a:solidFill>
                  <a:srgbClr val="002060"/>
                </a:solidFill>
                <a:latin typeface="Arial" panose="020B0604020202020204" pitchFamily="34" charset="0"/>
                <a:cs typeface="Arial" panose="020B0604020202020204" pitchFamily="34" charset="0"/>
              </a:rPr>
              <a:t>from lobby. </a:t>
            </a:r>
            <a:endParaRPr lang="en-US" sz="1300" dirty="0">
              <a:solidFill>
                <a:srgbClr val="002060"/>
              </a:solidFill>
              <a:latin typeface="Arial" panose="020B0604020202020204" pitchFamily="34" charset="0"/>
              <a:cs typeface="Arial" panose="020B0604020202020204" pitchFamily="34" charset="0"/>
            </a:endParaRPr>
          </a:p>
          <a:p>
            <a:pPr marL="285750" lvl="0" indent="-285750" algn="l" rtl="0">
              <a:lnSpc>
                <a:spcPct val="115000"/>
              </a:lnSpc>
              <a:spcBef>
                <a:spcPts val="600"/>
              </a:spcBef>
              <a:spcAft>
                <a:spcPts val="0"/>
              </a:spcAft>
              <a:buSzPct val="68750"/>
              <a:buFont typeface="Arial" panose="020B0604020202020204" pitchFamily="34" charset="0"/>
              <a:buChar char="•"/>
            </a:pPr>
            <a:r>
              <a:rPr lang="en-US" sz="1300" dirty="0">
                <a:solidFill>
                  <a:srgbClr val="002060"/>
                </a:solidFill>
                <a:latin typeface="Arial" panose="020B0604020202020204" pitchFamily="34" charset="0"/>
                <a:cs typeface="Arial" panose="020B0604020202020204" pitchFamily="34" charset="0"/>
              </a:rPr>
              <a:t>$34b + $16b,  4,000+ 8-digit HTS product-level (manufacturing only)</a:t>
            </a:r>
          </a:p>
          <a:p>
            <a:pPr marL="285750" lvl="0" indent="-285750" algn="l" rtl="0">
              <a:lnSpc>
                <a:spcPct val="115000"/>
              </a:lnSpc>
              <a:spcBef>
                <a:spcPts val="600"/>
              </a:spcBef>
              <a:spcAft>
                <a:spcPts val="0"/>
              </a:spcAft>
              <a:buSzPct val="68750"/>
              <a:buFont typeface="Arial" panose="020B0604020202020204" pitchFamily="34" charset="0"/>
              <a:buChar char="•"/>
            </a:pPr>
            <a:r>
              <a:rPr lang="en-US" sz="1300" dirty="0">
                <a:solidFill>
                  <a:srgbClr val="002060"/>
                </a:solidFill>
                <a:latin typeface="Arial" panose="020B0604020202020204" pitchFamily="34" charset="0"/>
                <a:cs typeface="Arial" panose="020B0604020202020204" pitchFamily="34" charset="0"/>
              </a:rPr>
              <a:t>Explicitly target ”MIC 2025” </a:t>
            </a:r>
            <a:r>
              <a:rPr lang="en-US" sz="1300" dirty="0">
                <a:solidFill>
                  <a:srgbClr val="002060"/>
                </a:solidFill>
                <a:latin typeface="Arial" panose="020B0604020202020204" pitchFamily="34" charset="0"/>
                <a:cs typeface="Arial" panose="020B0604020202020204" pitchFamily="34" charset="0"/>
                <a:sym typeface="Wingdings" pitchFamily="2" charset="2"/>
              </a:rPr>
              <a:t> perceived threat </a:t>
            </a:r>
          </a:p>
          <a:p>
            <a:pPr marL="285750" lvl="0" indent="-285750" algn="l" rtl="0">
              <a:lnSpc>
                <a:spcPct val="115000"/>
              </a:lnSpc>
              <a:spcBef>
                <a:spcPts val="0"/>
              </a:spcBef>
              <a:spcAft>
                <a:spcPts val="0"/>
              </a:spcAft>
              <a:buSzPct val="68750"/>
              <a:buFontTx/>
              <a:buChar char="-"/>
            </a:pPr>
            <a:endParaRPr lang="en-US" sz="1600" dirty="0">
              <a:solidFill>
                <a:srgbClr val="002060"/>
              </a:solidFill>
              <a:latin typeface="Arial" panose="020B0604020202020204" pitchFamily="34" charset="0"/>
              <a:cs typeface="Arial" panose="020B0604020202020204" pitchFamily="34" charset="0"/>
              <a:sym typeface="Wingdings" pitchFamily="2" charset="2"/>
            </a:endParaRPr>
          </a:p>
          <a:p>
            <a:pPr marL="0" lvl="0" indent="0" algn="l" rtl="0">
              <a:lnSpc>
                <a:spcPct val="115000"/>
              </a:lnSpc>
              <a:spcBef>
                <a:spcPts val="0"/>
              </a:spcBef>
              <a:spcAft>
                <a:spcPts val="0"/>
              </a:spcAft>
              <a:buSzPct val="68750"/>
              <a:buNone/>
            </a:pPr>
            <a:r>
              <a:rPr lang="en-US" sz="1600" b="1" dirty="0">
                <a:solidFill>
                  <a:srgbClr val="002060"/>
                </a:solidFill>
                <a:latin typeface="Arial" panose="020B0604020202020204" pitchFamily="34" charset="0"/>
                <a:cs typeface="Arial" panose="020B0604020202020204" pitchFamily="34" charset="0"/>
                <a:sym typeface="Wingdings" pitchFamily="2" charset="2"/>
              </a:rPr>
              <a:t>IV: </a:t>
            </a:r>
            <a:r>
              <a:rPr lang="en-US" sz="1600" i="1" dirty="0">
                <a:solidFill>
                  <a:srgbClr val="002060"/>
                </a:solidFill>
                <a:latin typeface="Arial" panose="020B0604020202020204" pitchFamily="34" charset="0"/>
                <a:cs typeface="Arial" panose="020B0604020202020204" pitchFamily="34" charset="0"/>
                <a:sym typeface="Wingdings" pitchFamily="2" charset="2"/>
              </a:rPr>
              <a:t>Stable</a:t>
            </a:r>
            <a:r>
              <a:rPr lang="en-US" sz="1600" dirty="0">
                <a:solidFill>
                  <a:srgbClr val="002060"/>
                </a:solidFill>
                <a:latin typeface="Arial" panose="020B0604020202020204" pitchFamily="34" charset="0"/>
                <a:cs typeface="Arial" panose="020B0604020202020204" pitchFamily="34" charset="0"/>
                <a:sym typeface="Wingdings" pitchFamily="2" charset="2"/>
              </a:rPr>
              <a:t> revealed comparative advantage (RCA)</a:t>
            </a:r>
          </a:p>
          <a:p>
            <a:pPr marL="285750" lvl="0" indent="-285750" algn="l" rtl="0">
              <a:lnSpc>
                <a:spcPct val="115000"/>
              </a:lnSpc>
              <a:spcBef>
                <a:spcPts val="600"/>
              </a:spcBef>
              <a:spcAft>
                <a:spcPts val="0"/>
              </a:spcAft>
              <a:buSzPct val="68750"/>
              <a:buFont typeface="Arial" panose="020B0604020202020204" pitchFamily="34" charset="0"/>
              <a:buChar char="•"/>
            </a:pPr>
            <a:r>
              <a:rPr lang="en-US" sz="1300" dirty="0">
                <a:solidFill>
                  <a:srgbClr val="002060"/>
                </a:solidFill>
                <a:latin typeface="Arial" panose="020B0604020202020204" pitchFamily="34" charset="0"/>
                <a:cs typeface="Arial" panose="020B0604020202020204" pitchFamily="34" charset="0"/>
                <a:sym typeface="Wingdings" pitchFamily="2" charset="2"/>
              </a:rPr>
              <a:t>RCA &gt; 1 (2001-07)  &amp;  RCA</a:t>
            </a:r>
            <a:r>
              <a:rPr lang="en-US" sz="1300" baseline="-25000" dirty="0">
                <a:solidFill>
                  <a:srgbClr val="002060"/>
                </a:solidFill>
                <a:latin typeface="Arial" panose="020B0604020202020204" pitchFamily="34" charset="0"/>
                <a:cs typeface="Arial" panose="020B0604020202020204" pitchFamily="34" charset="0"/>
                <a:sym typeface="Wingdings" pitchFamily="2" charset="2"/>
              </a:rPr>
              <a:t>2007</a:t>
            </a:r>
            <a:r>
              <a:rPr lang="en-US" sz="1300" dirty="0">
                <a:solidFill>
                  <a:srgbClr val="002060"/>
                </a:solidFill>
                <a:latin typeface="Arial" panose="020B0604020202020204" pitchFamily="34" charset="0"/>
                <a:cs typeface="Arial" panose="020B0604020202020204" pitchFamily="34" charset="0"/>
                <a:sym typeface="Wingdings" pitchFamily="2" charset="2"/>
              </a:rPr>
              <a:t> − RCA</a:t>
            </a:r>
            <a:r>
              <a:rPr lang="en-US" sz="1300" baseline="-25000" dirty="0">
                <a:solidFill>
                  <a:srgbClr val="002060"/>
                </a:solidFill>
                <a:latin typeface="Arial" panose="020B0604020202020204" pitchFamily="34" charset="0"/>
                <a:cs typeface="Arial" panose="020B0604020202020204" pitchFamily="34" charset="0"/>
                <a:sym typeface="Wingdings" pitchFamily="2" charset="2"/>
              </a:rPr>
              <a:t>2001  </a:t>
            </a:r>
            <a:r>
              <a:rPr lang="en-US" sz="1300" dirty="0">
                <a:solidFill>
                  <a:srgbClr val="002060"/>
                </a:solidFill>
                <a:latin typeface="Arial" panose="020B0604020202020204" pitchFamily="34" charset="0"/>
                <a:cs typeface="Arial" panose="020B0604020202020204" pitchFamily="34" charset="0"/>
                <a:sym typeface="Wingdings" pitchFamily="2" charset="2"/>
              </a:rPr>
              <a:t>&gt; -0.1</a:t>
            </a:r>
          </a:p>
          <a:p>
            <a:pPr marL="285750" lvl="0" indent="-285750" algn="l" rtl="0">
              <a:lnSpc>
                <a:spcPct val="115000"/>
              </a:lnSpc>
              <a:spcBef>
                <a:spcPts val="600"/>
              </a:spcBef>
              <a:spcAft>
                <a:spcPts val="0"/>
              </a:spcAft>
              <a:buSzPct val="68750"/>
              <a:buFont typeface="Arial" panose="020B0604020202020204" pitchFamily="34" charset="0"/>
              <a:buChar char="•"/>
            </a:pPr>
            <a:r>
              <a:rPr lang="en-US" sz="1300" dirty="0">
                <a:solidFill>
                  <a:srgbClr val="002060"/>
                </a:solidFill>
                <a:latin typeface="Arial" panose="020B0604020202020204" pitchFamily="34" charset="0"/>
                <a:cs typeface="Arial" panose="020B0604020202020204" pitchFamily="34" charset="0"/>
                <a:sym typeface="Wingdings" pitchFamily="2" charset="2"/>
              </a:rPr>
              <a:t>HS6 level</a:t>
            </a:r>
          </a:p>
          <a:p>
            <a:pPr marL="285750" lvl="0" indent="-285750" algn="l" rtl="0">
              <a:lnSpc>
                <a:spcPct val="115000"/>
              </a:lnSpc>
              <a:spcBef>
                <a:spcPts val="0"/>
              </a:spcBef>
              <a:spcAft>
                <a:spcPts val="0"/>
              </a:spcAft>
              <a:buSzPct val="68750"/>
              <a:buFont typeface="Arial" panose="020B0604020202020204" pitchFamily="34" charset="0"/>
              <a:buChar char="•"/>
            </a:pPr>
            <a:endParaRPr lang="en-US" sz="1400" dirty="0">
              <a:solidFill>
                <a:srgbClr val="002060"/>
              </a:solidFill>
              <a:latin typeface="Arial" panose="020B0604020202020204" pitchFamily="34" charset="0"/>
              <a:cs typeface="Arial" panose="020B0604020202020204" pitchFamily="34" charset="0"/>
              <a:sym typeface="Wingdings" pitchFamily="2" charset="2"/>
            </a:endParaRPr>
          </a:p>
          <a:p>
            <a:pPr marL="0" lvl="0" indent="0" algn="l" rtl="0">
              <a:lnSpc>
                <a:spcPct val="115000"/>
              </a:lnSpc>
              <a:spcBef>
                <a:spcPts val="0"/>
              </a:spcBef>
              <a:spcAft>
                <a:spcPts val="0"/>
              </a:spcAft>
              <a:buSzPct val="68750"/>
              <a:buNone/>
            </a:pPr>
            <a:r>
              <a:rPr lang="en-US" sz="1600" b="1" dirty="0">
                <a:solidFill>
                  <a:srgbClr val="002060"/>
                </a:solidFill>
                <a:latin typeface="Arial" panose="020B0604020202020204" pitchFamily="34" charset="0"/>
                <a:cs typeface="Arial" panose="020B0604020202020204" pitchFamily="34" charset="0"/>
                <a:sym typeface="Wingdings" pitchFamily="2" charset="2"/>
              </a:rPr>
              <a:t>Controls: </a:t>
            </a:r>
          </a:p>
          <a:p>
            <a:pPr marL="285750" lvl="0" indent="-285750" algn="l" rtl="0">
              <a:lnSpc>
                <a:spcPct val="115000"/>
              </a:lnSpc>
              <a:spcBef>
                <a:spcPts val="600"/>
              </a:spcBef>
              <a:spcAft>
                <a:spcPts val="0"/>
              </a:spcAft>
              <a:buSzPct val="68750"/>
              <a:buFont typeface="Arial" panose="020B0604020202020204" pitchFamily="34" charset="0"/>
              <a:buChar char="•"/>
            </a:pPr>
            <a:r>
              <a:rPr lang="en-US" sz="1300" dirty="0">
                <a:solidFill>
                  <a:srgbClr val="002060"/>
                </a:solidFill>
                <a:latin typeface="Arial" panose="020B0604020202020204" pitchFamily="34" charset="0"/>
                <a:cs typeface="Arial" panose="020B0604020202020204" pitchFamily="34" charset="0"/>
              </a:rPr>
              <a:t>Sectoral exports, sectoral imports, world market</a:t>
            </a:r>
          </a:p>
          <a:p>
            <a:pPr marL="285750" lvl="0" indent="-285750" algn="l" rtl="0">
              <a:lnSpc>
                <a:spcPct val="115000"/>
              </a:lnSpc>
              <a:spcBef>
                <a:spcPts val="600"/>
              </a:spcBef>
              <a:spcAft>
                <a:spcPts val="0"/>
              </a:spcAft>
              <a:buSzPct val="68750"/>
              <a:buFont typeface="Arial" panose="020B0604020202020204" pitchFamily="34" charset="0"/>
              <a:buChar char="•"/>
            </a:pPr>
            <a:r>
              <a:rPr lang="en-US" sz="1300" dirty="0">
                <a:solidFill>
                  <a:srgbClr val="002060"/>
                </a:solidFill>
                <a:latin typeface="Arial" panose="020B0604020202020204" pitchFamily="34" charset="0"/>
                <a:cs typeface="Arial" panose="020B0604020202020204" pitchFamily="34" charset="0"/>
              </a:rPr>
              <a:t>China’s import share, China’s RCA, bilateral exports to China</a:t>
            </a:r>
          </a:p>
          <a:p>
            <a:pPr marL="285750" lvl="0" indent="-285750" algn="l" rtl="0">
              <a:lnSpc>
                <a:spcPct val="115000"/>
              </a:lnSpc>
              <a:spcBef>
                <a:spcPts val="600"/>
              </a:spcBef>
              <a:spcAft>
                <a:spcPts val="0"/>
              </a:spcAft>
              <a:buSzPct val="68750"/>
              <a:buFont typeface="Arial" panose="020B0604020202020204" pitchFamily="34" charset="0"/>
              <a:buChar char="•"/>
            </a:pPr>
            <a:r>
              <a:rPr lang="en-US" sz="1300" dirty="0">
                <a:solidFill>
                  <a:srgbClr val="002060"/>
                </a:solidFill>
                <a:latin typeface="Arial" panose="020B0604020202020204" pitchFamily="34" charset="0"/>
                <a:cs typeface="Arial" panose="020B0604020202020204" pitchFamily="34" charset="0"/>
              </a:rPr>
              <a:t>Capital good, consumer good, value-added, TFP</a:t>
            </a:r>
          </a:p>
          <a:p>
            <a:pPr marL="285750" lvl="0" indent="-285750" algn="l" rtl="0">
              <a:lnSpc>
                <a:spcPct val="115000"/>
              </a:lnSpc>
              <a:spcBef>
                <a:spcPts val="600"/>
              </a:spcBef>
              <a:spcAft>
                <a:spcPts val="0"/>
              </a:spcAft>
              <a:buSzPct val="68750"/>
              <a:buFont typeface="Arial" panose="020B0604020202020204" pitchFamily="34" charset="0"/>
              <a:buChar char="•"/>
            </a:pPr>
            <a:r>
              <a:rPr lang="en-US" sz="1300" dirty="0">
                <a:solidFill>
                  <a:srgbClr val="002060"/>
                </a:solidFill>
                <a:latin typeface="Arial" panose="020B0604020202020204" pitchFamily="34" charset="0"/>
                <a:cs typeface="Arial" panose="020B0604020202020204" pitchFamily="34" charset="0"/>
              </a:rPr>
              <a:t>HS2 FE </a:t>
            </a:r>
            <a:endParaRPr sz="1300"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33402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6">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6">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6">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6">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6">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6">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Section 301: List 1 and 2</a:t>
            </a:r>
            <a:endParaRPr dirty="0"/>
          </a:p>
          <a:p>
            <a:pPr marL="0" lvl="0" indent="0" algn="l" rtl="0">
              <a:spcBef>
                <a:spcPts val="0"/>
              </a:spcBef>
              <a:spcAft>
                <a:spcPts val="0"/>
              </a:spcAft>
              <a:buNone/>
            </a:pPr>
            <a:endParaRPr sz="1466" dirty="0"/>
          </a:p>
        </p:txBody>
      </p:sp>
      <p:pic>
        <p:nvPicPr>
          <p:cNvPr id="5" name="Picture 4">
            <a:extLst>
              <a:ext uri="{FF2B5EF4-FFF2-40B4-BE49-F238E27FC236}">
                <a16:creationId xmlns:a16="http://schemas.microsoft.com/office/drawing/2014/main" id="{C619FE75-791C-7DD5-97D3-22A69C96A4E7}"/>
              </a:ext>
            </a:extLst>
          </p:cNvPr>
          <p:cNvPicPr>
            <a:picLocks noChangeAspect="1"/>
          </p:cNvPicPr>
          <p:nvPr/>
        </p:nvPicPr>
        <p:blipFill>
          <a:blip r:embed="rId3"/>
          <a:stretch>
            <a:fillRect/>
          </a:stretch>
        </p:blipFill>
        <p:spPr>
          <a:xfrm>
            <a:off x="4762458" y="1481328"/>
            <a:ext cx="4381542" cy="2782613"/>
          </a:xfrm>
          <a:prstGeom prst="rect">
            <a:avLst/>
          </a:prstGeom>
        </p:spPr>
      </p:pic>
      <p:pic>
        <p:nvPicPr>
          <p:cNvPr id="4" name="Picture 3">
            <a:extLst>
              <a:ext uri="{FF2B5EF4-FFF2-40B4-BE49-F238E27FC236}">
                <a16:creationId xmlns:a16="http://schemas.microsoft.com/office/drawing/2014/main" id="{360739AF-B751-8576-AF38-E4205541887F}"/>
              </a:ext>
            </a:extLst>
          </p:cNvPr>
          <p:cNvPicPr>
            <a:picLocks noChangeAspect="1"/>
          </p:cNvPicPr>
          <p:nvPr/>
        </p:nvPicPr>
        <p:blipFill>
          <a:blip r:embed="rId4"/>
          <a:stretch>
            <a:fillRect/>
          </a:stretch>
        </p:blipFill>
        <p:spPr>
          <a:xfrm>
            <a:off x="0" y="1481328"/>
            <a:ext cx="4766115" cy="3265153"/>
          </a:xfrm>
          <a:prstGeom prst="rect">
            <a:avLst/>
          </a:prstGeom>
        </p:spPr>
      </p:pic>
    </p:spTree>
    <p:extLst>
      <p:ext uri="{BB962C8B-B14F-4D97-AF65-F5344CB8AC3E}">
        <p14:creationId xmlns:p14="http://schemas.microsoft.com/office/powerpoint/2010/main" val="1249653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Case Study </a:t>
            </a:r>
            <a:endParaRPr dirty="0"/>
          </a:p>
        </p:txBody>
      </p:sp>
      <p:sp>
        <p:nvSpPr>
          <p:cNvPr id="215" name="Google Shape;215;p33"/>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77500" lnSpcReduction="20000"/>
          </a:bodyPr>
          <a:lstStyle/>
          <a:p>
            <a:pPr marL="457200" lvl="0" indent="-317182" algn="l" rtl="0">
              <a:spcBef>
                <a:spcPts val="0"/>
              </a:spcBef>
              <a:spcAft>
                <a:spcPts val="0"/>
              </a:spcAft>
              <a:buClr>
                <a:srgbClr val="434343"/>
              </a:buClr>
              <a:buSzPct val="100000"/>
              <a:buAutoNum type="arabicPeriod"/>
            </a:pPr>
            <a:r>
              <a:rPr lang="en" b="1" dirty="0">
                <a:solidFill>
                  <a:srgbClr val="434343"/>
                </a:solidFill>
              </a:rPr>
              <a:t>Trade wars in the 1980/90s </a:t>
            </a:r>
            <a:endParaRPr b="1" dirty="0">
              <a:solidFill>
                <a:srgbClr val="434343"/>
              </a:solidFill>
            </a:endParaRPr>
          </a:p>
          <a:p>
            <a:pPr marL="914400" lvl="0" indent="-307340" algn="l" rtl="0">
              <a:lnSpc>
                <a:spcPct val="150000"/>
              </a:lnSpc>
              <a:spcBef>
                <a:spcPts val="1000"/>
              </a:spcBef>
              <a:spcAft>
                <a:spcPts val="0"/>
              </a:spcAft>
              <a:buClr>
                <a:srgbClr val="434343"/>
              </a:buClr>
              <a:buSzPct val="100000"/>
              <a:buChar char="●"/>
            </a:pPr>
            <a:r>
              <a:rPr lang="en" sz="1600" dirty="0">
                <a:solidFill>
                  <a:srgbClr val="434343"/>
                </a:solidFill>
              </a:rPr>
              <a:t>Let go textile, electronics, </a:t>
            </a:r>
            <a:r>
              <a:rPr lang="en" sz="1600" b="1" dirty="0">
                <a:solidFill>
                  <a:srgbClr val="434343"/>
                </a:solidFill>
              </a:rPr>
              <a:t>shipbuilding, passenger rail, DRAM </a:t>
            </a:r>
            <a:r>
              <a:rPr lang="en" sz="1600" dirty="0">
                <a:solidFill>
                  <a:srgbClr val="434343"/>
                </a:solidFill>
              </a:rPr>
              <a:t>(eventually), </a:t>
            </a:r>
            <a:r>
              <a:rPr lang="en" sz="1600" dirty="0" err="1">
                <a:solidFill>
                  <a:srgbClr val="434343"/>
                </a:solidFill>
              </a:rPr>
              <a:t>etc</a:t>
            </a:r>
            <a:endParaRPr sz="1600" dirty="0">
              <a:solidFill>
                <a:srgbClr val="434343"/>
              </a:solidFill>
            </a:endParaRPr>
          </a:p>
          <a:p>
            <a:pPr marL="914400" lvl="0" indent="-307340" algn="l" rtl="0">
              <a:lnSpc>
                <a:spcPct val="150000"/>
              </a:lnSpc>
              <a:spcBef>
                <a:spcPts val="0"/>
              </a:spcBef>
              <a:spcAft>
                <a:spcPts val="0"/>
              </a:spcAft>
              <a:buClr>
                <a:srgbClr val="434343"/>
              </a:buClr>
              <a:buSzPct val="100000"/>
              <a:buChar char="●"/>
            </a:pPr>
            <a:r>
              <a:rPr lang="en" sz="1600" dirty="0">
                <a:solidFill>
                  <a:srgbClr val="434343"/>
                </a:solidFill>
              </a:rPr>
              <a:t>Fought autos, semiconductor, machine tools, precision equip, </a:t>
            </a:r>
            <a:r>
              <a:rPr lang="en" sz="1600" dirty="0" err="1">
                <a:solidFill>
                  <a:srgbClr val="434343"/>
                </a:solidFill>
              </a:rPr>
              <a:t>etc</a:t>
            </a:r>
            <a:endParaRPr sz="1600" dirty="0">
              <a:solidFill>
                <a:srgbClr val="434343"/>
              </a:solidFill>
            </a:endParaRPr>
          </a:p>
          <a:p>
            <a:pPr marL="914400" lvl="0" indent="-307340" algn="l" rtl="0">
              <a:lnSpc>
                <a:spcPct val="150000"/>
              </a:lnSpc>
              <a:spcBef>
                <a:spcPts val="0"/>
              </a:spcBef>
              <a:spcAft>
                <a:spcPts val="0"/>
              </a:spcAft>
              <a:buClr>
                <a:srgbClr val="434343"/>
              </a:buClr>
              <a:buSzPct val="100000"/>
              <a:buChar char="●"/>
            </a:pPr>
            <a:r>
              <a:rPr lang="en" sz="1600" dirty="0">
                <a:solidFill>
                  <a:srgbClr val="434343"/>
                </a:solidFill>
              </a:rPr>
              <a:t>Within semiconductor, let go </a:t>
            </a:r>
            <a:r>
              <a:rPr lang="en" sz="1600" b="1" dirty="0">
                <a:solidFill>
                  <a:srgbClr val="434343"/>
                </a:solidFill>
              </a:rPr>
              <a:t>semi</a:t>
            </a:r>
            <a:r>
              <a:rPr lang="en" sz="1600" dirty="0">
                <a:solidFill>
                  <a:srgbClr val="434343"/>
                </a:solidFill>
              </a:rPr>
              <a:t> </a:t>
            </a:r>
            <a:r>
              <a:rPr lang="en" sz="1600" b="1" dirty="0">
                <a:solidFill>
                  <a:srgbClr val="434343"/>
                </a:solidFill>
              </a:rPr>
              <a:t>manufacturing</a:t>
            </a:r>
            <a:r>
              <a:rPr lang="en" sz="1600" dirty="0">
                <a:solidFill>
                  <a:srgbClr val="434343"/>
                </a:solidFill>
              </a:rPr>
              <a:t> (defend design &amp; high-end)</a:t>
            </a:r>
            <a:endParaRPr sz="1600" dirty="0">
              <a:solidFill>
                <a:srgbClr val="434343"/>
              </a:solidFill>
            </a:endParaRPr>
          </a:p>
          <a:p>
            <a:pPr marL="914400" lvl="0" indent="-307340" algn="l" rtl="0">
              <a:lnSpc>
                <a:spcPct val="150000"/>
              </a:lnSpc>
              <a:spcBef>
                <a:spcPts val="0"/>
              </a:spcBef>
              <a:spcAft>
                <a:spcPts val="0"/>
              </a:spcAft>
              <a:buClr>
                <a:srgbClr val="434343"/>
              </a:buClr>
              <a:buSzPct val="100000"/>
              <a:buChar char="●"/>
            </a:pPr>
            <a:r>
              <a:rPr lang="en" sz="1600" dirty="0">
                <a:solidFill>
                  <a:srgbClr val="434343"/>
                </a:solidFill>
              </a:rPr>
              <a:t>Defended steel, military shipbuilding (security)</a:t>
            </a:r>
            <a:endParaRPr sz="1600" dirty="0">
              <a:solidFill>
                <a:srgbClr val="434343"/>
              </a:solidFill>
            </a:endParaRPr>
          </a:p>
          <a:p>
            <a:pPr marL="914400" lvl="0" indent="-307340" algn="l" rtl="0">
              <a:lnSpc>
                <a:spcPct val="150000"/>
              </a:lnSpc>
              <a:spcBef>
                <a:spcPts val="0"/>
              </a:spcBef>
              <a:spcAft>
                <a:spcPts val="0"/>
              </a:spcAft>
              <a:buClr>
                <a:srgbClr val="434343"/>
              </a:buClr>
              <a:buSzPct val="100000"/>
              <a:buChar char="●"/>
            </a:pPr>
            <a:r>
              <a:rPr lang="en" sz="1600" dirty="0">
                <a:solidFill>
                  <a:srgbClr val="434343"/>
                </a:solidFill>
              </a:rPr>
              <a:t>Tolerated semi manufacturing in TW/KR (ally/democracy)</a:t>
            </a:r>
            <a:endParaRPr sz="1600" dirty="0">
              <a:solidFill>
                <a:srgbClr val="434343"/>
              </a:solidFill>
            </a:endParaRPr>
          </a:p>
          <a:p>
            <a:pPr marL="457200" lvl="0" indent="0" algn="l" rtl="0">
              <a:spcBef>
                <a:spcPts val="1200"/>
              </a:spcBef>
              <a:spcAft>
                <a:spcPts val="0"/>
              </a:spcAft>
              <a:buNone/>
            </a:pPr>
            <a:endParaRPr dirty="0">
              <a:solidFill>
                <a:srgbClr val="434343"/>
              </a:solidFill>
            </a:endParaRPr>
          </a:p>
          <a:p>
            <a:pPr marL="457200" lvl="0" indent="-317182" algn="l" rtl="0">
              <a:spcBef>
                <a:spcPts val="1200"/>
              </a:spcBef>
              <a:spcAft>
                <a:spcPts val="0"/>
              </a:spcAft>
              <a:buClr>
                <a:srgbClr val="434343"/>
              </a:buClr>
              <a:buSzPct val="100000"/>
              <a:buAutoNum type="arabicPeriod"/>
            </a:pPr>
            <a:r>
              <a:rPr lang="en" b="1" dirty="0">
                <a:solidFill>
                  <a:srgbClr val="434343"/>
                </a:solidFill>
              </a:rPr>
              <a:t>Trade wars in the 2010/20s</a:t>
            </a:r>
            <a:endParaRPr b="1" dirty="0">
              <a:solidFill>
                <a:srgbClr val="434343"/>
              </a:solidFill>
            </a:endParaRPr>
          </a:p>
          <a:p>
            <a:pPr marL="914400" lvl="0" indent="-307340" algn="l" rtl="0">
              <a:lnSpc>
                <a:spcPct val="150000"/>
              </a:lnSpc>
              <a:spcBef>
                <a:spcPts val="1000"/>
              </a:spcBef>
              <a:spcAft>
                <a:spcPts val="0"/>
              </a:spcAft>
              <a:buClr>
                <a:srgbClr val="434343"/>
              </a:buClr>
              <a:buSzPct val="100000"/>
              <a:buChar char="●"/>
            </a:pPr>
            <a:r>
              <a:rPr lang="en" sz="1600" dirty="0">
                <a:solidFill>
                  <a:srgbClr val="434343"/>
                </a:solidFill>
              </a:rPr>
              <a:t>Ignored “China shock 1.0”</a:t>
            </a:r>
            <a:endParaRPr sz="1600" dirty="0">
              <a:solidFill>
                <a:srgbClr val="434343"/>
              </a:solidFill>
            </a:endParaRPr>
          </a:p>
          <a:p>
            <a:pPr marL="914400" lvl="0" indent="-307340" algn="l" rtl="0">
              <a:lnSpc>
                <a:spcPct val="150000"/>
              </a:lnSpc>
              <a:spcBef>
                <a:spcPts val="0"/>
              </a:spcBef>
              <a:spcAft>
                <a:spcPts val="0"/>
              </a:spcAft>
              <a:buClr>
                <a:srgbClr val="434343"/>
              </a:buClr>
              <a:buSzPct val="100000"/>
              <a:buChar char="●"/>
            </a:pPr>
            <a:r>
              <a:rPr lang="en" sz="1600" dirty="0">
                <a:solidFill>
                  <a:srgbClr val="434343"/>
                </a:solidFill>
              </a:rPr>
              <a:t>Board-based tariffs (systemic threat)</a:t>
            </a:r>
            <a:endParaRPr sz="1600" dirty="0">
              <a:solidFill>
                <a:srgbClr val="434343"/>
              </a:solidFill>
            </a:endParaRPr>
          </a:p>
          <a:p>
            <a:pPr marL="914400" lvl="0" indent="-307340" algn="l" rtl="0">
              <a:lnSpc>
                <a:spcPct val="150000"/>
              </a:lnSpc>
              <a:spcBef>
                <a:spcPts val="0"/>
              </a:spcBef>
              <a:spcAft>
                <a:spcPts val="0"/>
              </a:spcAft>
              <a:buClr>
                <a:srgbClr val="434343"/>
              </a:buClr>
              <a:buSzPct val="100000"/>
              <a:buChar char="●"/>
            </a:pPr>
            <a:r>
              <a:rPr lang="en" sz="1600" dirty="0">
                <a:solidFill>
                  <a:srgbClr val="434343"/>
                </a:solidFill>
              </a:rPr>
              <a:t>Steel &amp; alum tariffs (security)</a:t>
            </a:r>
            <a:endParaRPr sz="1600" dirty="0">
              <a:solidFill>
                <a:srgbClr val="434343"/>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1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5">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5">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(TODO) Public Opinion: Conjoint </a:t>
            </a:r>
            <a:endParaRPr/>
          </a:p>
        </p:txBody>
      </p:sp>
      <p:sp>
        <p:nvSpPr>
          <p:cNvPr id="221" name="Google Shape;221;p3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285750" indent="-285750">
              <a:buFont typeface="Arial" panose="020B0604020202020204" pitchFamily="34" charset="0"/>
              <a:buChar char="•"/>
            </a:pPr>
            <a:r>
              <a:rPr lang="en-US" b="1" dirty="0">
                <a:latin typeface="PT Sans Narrow"/>
                <a:ea typeface="PT Sans Narrow"/>
                <a:cs typeface="PT Sans Narrow"/>
                <a:sym typeface="PT Sans Narrow"/>
              </a:rPr>
              <a:t>Verify micro-mechanisms</a:t>
            </a:r>
          </a:p>
          <a:p>
            <a:pPr marL="285750" indent="-285750">
              <a:buFont typeface="Arial" panose="020B0604020202020204" pitchFamily="34" charset="0"/>
              <a:buChar char="•"/>
            </a:pPr>
            <a:r>
              <a:rPr lang="en-US" b="1" dirty="0">
                <a:latin typeface="PT Sans Narrow"/>
                <a:ea typeface="PT Sans Narrow"/>
                <a:cs typeface="PT Sans Narrow"/>
                <a:sym typeface="PT Sans Narrow"/>
              </a:rPr>
              <a:t>Rule out competing theories</a:t>
            </a:r>
          </a:p>
          <a:p>
            <a:pPr marL="0" lvl="0" indent="0" algn="l" rtl="0">
              <a:spcBef>
                <a:spcPts val="0"/>
              </a:spcBef>
              <a:spcAft>
                <a:spcPts val="0"/>
              </a:spcAft>
              <a:buNone/>
            </a:pPr>
            <a:endParaRPr lang="en-US" b="1" dirty="0">
              <a:latin typeface="PT Sans Narrow"/>
              <a:ea typeface="PT Sans Narrow"/>
              <a:cs typeface="PT Sans Narrow"/>
              <a:sym typeface="PT Sans Narrow"/>
            </a:endParaRPr>
          </a:p>
          <a:p>
            <a:pPr marL="0" lvl="0" indent="0" algn="l" rtl="0">
              <a:spcBef>
                <a:spcPts val="1200"/>
              </a:spcBef>
              <a:spcAft>
                <a:spcPts val="0"/>
              </a:spcAft>
              <a:buNone/>
            </a:pPr>
            <a:endParaRPr sz="1000" dirty="0">
              <a:solidFill>
                <a:srgbClr val="000000"/>
              </a:solidFill>
              <a:latin typeface="PT Sans Narrow"/>
              <a:ea typeface="PT Sans Narrow"/>
              <a:cs typeface="PT Sans Narrow"/>
              <a:sym typeface="PT Sans Narrow"/>
            </a:endParaRPr>
          </a:p>
          <a:p>
            <a:pPr marL="0" lvl="0" indent="0" algn="l" rtl="0">
              <a:spcBef>
                <a:spcPts val="0"/>
              </a:spcBef>
              <a:spcAft>
                <a:spcPts val="0"/>
              </a:spcAft>
              <a:buNone/>
            </a:pPr>
            <a:endParaRPr b="1" dirty="0">
              <a:latin typeface="PT Sans Narrow"/>
              <a:ea typeface="PT Sans Narrow"/>
              <a:cs typeface="PT Sans Narrow"/>
              <a:sym typeface="PT Sans Narrow"/>
            </a:endParaRPr>
          </a:p>
          <a:p>
            <a:pPr marL="0" lvl="0" indent="0" algn="l" rtl="0">
              <a:spcBef>
                <a:spcPts val="1200"/>
              </a:spcBef>
              <a:spcAft>
                <a:spcPts val="0"/>
              </a:spcAft>
              <a:buNone/>
            </a:pPr>
            <a:endParaRPr dirty="0">
              <a:latin typeface="PT Sans Narrow"/>
              <a:ea typeface="PT Sans Narrow"/>
              <a:cs typeface="PT Sans Narrow"/>
              <a:sym typeface="PT Sans Narrow"/>
            </a:endParaRPr>
          </a:p>
          <a:p>
            <a:pPr marL="0" lvl="0" indent="0" algn="l" rtl="0">
              <a:spcBef>
                <a:spcPts val="1200"/>
              </a:spcBef>
              <a:spcAft>
                <a:spcPts val="1200"/>
              </a:spcAft>
              <a:buNone/>
            </a:pPr>
            <a:endParaRPr sz="1447" dirty="0">
              <a:latin typeface="PT Sans Narrow"/>
              <a:ea typeface="PT Sans Narrow"/>
              <a:cs typeface="PT Sans Narrow"/>
              <a:sym typeface="PT Sans Narrow"/>
            </a:endParaRPr>
          </a:p>
        </p:txBody>
      </p:sp>
      <p:graphicFrame>
        <p:nvGraphicFramePr>
          <p:cNvPr id="222" name="Google Shape;222;p34"/>
          <p:cNvGraphicFramePr/>
          <p:nvPr>
            <p:extLst>
              <p:ext uri="{D42A27DB-BD31-4B8C-83A1-F6EECF244321}">
                <p14:modId xmlns:p14="http://schemas.microsoft.com/office/powerpoint/2010/main" val="3677775009"/>
              </p:ext>
            </p:extLst>
          </p:nvPr>
        </p:nvGraphicFramePr>
        <p:xfrm>
          <a:off x="877086" y="2356319"/>
          <a:ext cx="7239000" cy="1745682"/>
        </p:xfrm>
        <a:graphic>
          <a:graphicData uri="http://schemas.openxmlformats.org/drawingml/2006/table">
            <a:tbl>
              <a:tblPr>
                <a:noFill/>
                <a:tableStyleId>{0F129E07-9AE8-432F-BE6E-13882F435ABB}</a:tableStyleId>
              </a:tblPr>
              <a:tblGrid>
                <a:gridCol w="14478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gridCol w="1447800">
                  <a:extLst>
                    <a:ext uri="{9D8B030D-6E8A-4147-A177-3AD203B41FA5}">
                      <a16:colId xmlns:a16="http://schemas.microsoft.com/office/drawing/2014/main" val="20004"/>
                    </a:ext>
                  </a:extLst>
                </a:gridCol>
              </a:tblGrid>
              <a:tr h="0">
                <a:tc>
                  <a:txBody>
                    <a:bodyPr/>
                    <a:lstStyle/>
                    <a:p>
                      <a:pPr marL="0" lvl="0" indent="0" algn="l" rtl="0">
                        <a:spcBef>
                          <a:spcPts val="0"/>
                        </a:spcBef>
                        <a:spcAft>
                          <a:spcPts val="0"/>
                        </a:spcAft>
                        <a:buNone/>
                      </a:pPr>
                      <a:r>
                        <a:rPr lang="en" sz="1000" b="1" i="1">
                          <a:latin typeface="Open Sans"/>
                          <a:ea typeface="Open Sans"/>
                          <a:cs typeface="Open Sans"/>
                          <a:sym typeface="Open Sans"/>
                        </a:rPr>
                        <a:t>Shock type</a:t>
                      </a:r>
                      <a:endParaRPr sz="1000" b="1" i="1">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 sz="1000" b="1" i="1" dirty="0">
                          <a:highlight>
                            <a:srgbClr val="CCCCCC"/>
                          </a:highlight>
                          <a:latin typeface="Open Sans"/>
                          <a:ea typeface="Open Sans"/>
                          <a:cs typeface="Open Sans"/>
                          <a:sym typeface="Open Sans"/>
                        </a:rPr>
                        <a:t>Geopolitics</a:t>
                      </a:r>
                      <a:endParaRPr sz="1000" b="1" i="1" dirty="0">
                        <a:highlight>
                          <a:srgbClr val="CCCCCC"/>
                        </a:highlight>
                        <a:latin typeface="Open Sans"/>
                        <a:ea typeface="Open Sans"/>
                        <a:cs typeface="Open Sans"/>
                        <a:sym typeface="Open Sans"/>
                      </a:endParaRPr>
                    </a:p>
                  </a:txBody>
                  <a:tcPr marL="91425" marR="91425" marT="91425" marB="91425"/>
                </a:tc>
                <a:tc>
                  <a:txBody>
                    <a:bodyPr/>
                    <a:lstStyle/>
                    <a:p>
                      <a:pPr marL="0" lvl="0" indent="0" algn="l" rtl="0">
                        <a:lnSpc>
                          <a:spcPct val="115000"/>
                        </a:lnSpc>
                        <a:spcBef>
                          <a:spcPts val="0"/>
                        </a:spcBef>
                        <a:spcAft>
                          <a:spcPts val="1200"/>
                        </a:spcAft>
                        <a:buNone/>
                      </a:pPr>
                      <a:r>
                        <a:rPr lang="en" sz="1000" b="1" i="1">
                          <a:solidFill>
                            <a:srgbClr val="222222"/>
                          </a:solidFill>
                          <a:highlight>
                            <a:srgbClr val="CCCCCC"/>
                          </a:highlight>
                          <a:latin typeface="Open Sans"/>
                          <a:ea typeface="Open Sans"/>
                          <a:cs typeface="Open Sans"/>
                          <a:sym typeface="Open Sans"/>
                        </a:rPr>
                        <a:t>Sociotropic</a:t>
                      </a:r>
                      <a:endParaRPr sz="1000" b="1" i="1">
                        <a:solidFill>
                          <a:srgbClr val="222222"/>
                        </a:solidFill>
                        <a:highlight>
                          <a:srgbClr val="CCCCCC"/>
                        </a:highlight>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 sz="1000" b="1" i="1" dirty="0">
                          <a:highlight>
                            <a:srgbClr val="CCCCCC"/>
                          </a:highlight>
                          <a:latin typeface="Open Sans"/>
                          <a:ea typeface="Open Sans"/>
                          <a:cs typeface="Open Sans"/>
                          <a:sym typeface="Open Sans"/>
                        </a:rPr>
                        <a:t>NTT [??]</a:t>
                      </a:r>
                      <a:endParaRPr sz="1000" b="1" i="1" dirty="0">
                        <a:highlight>
                          <a:srgbClr val="CCCCCC"/>
                        </a:highlight>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 sz="1000" b="1" i="1" dirty="0">
                          <a:highlight>
                            <a:srgbClr val="CCCCCC"/>
                          </a:highlight>
                          <a:latin typeface="Open Sans"/>
                          <a:ea typeface="Open Sans"/>
                          <a:cs typeface="Open Sans"/>
                          <a:sym typeface="Open Sans"/>
                        </a:rPr>
                        <a:t>NNTT [??]</a:t>
                      </a:r>
                      <a:endParaRPr sz="1000" b="1" i="1" dirty="0">
                        <a:highlight>
                          <a:srgbClr val="CCCCCC"/>
                        </a:highlight>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lnSpc>
                          <a:spcPct val="115000"/>
                        </a:lnSpc>
                        <a:spcBef>
                          <a:spcPts val="0"/>
                        </a:spcBef>
                        <a:spcAft>
                          <a:spcPts val="0"/>
                        </a:spcAft>
                        <a:buNone/>
                      </a:pPr>
                      <a:r>
                        <a:rPr lang="en" sz="1000" dirty="0">
                          <a:latin typeface="Open Sans"/>
                          <a:ea typeface="Open Sans"/>
                          <a:cs typeface="Open Sans"/>
                          <a:sym typeface="Open Sans"/>
                        </a:rPr>
                        <a:t>-</a:t>
                      </a:r>
                      <a:r>
                        <a:rPr lang="en" sz="1000" dirty="0" err="1">
                          <a:latin typeface="Open Sans"/>
                          <a:ea typeface="Open Sans"/>
                          <a:cs typeface="Open Sans"/>
                          <a:sym typeface="Open Sans"/>
                        </a:rPr>
                        <a:t>disadv</a:t>
                      </a:r>
                      <a:r>
                        <a:rPr lang="en" sz="1000" dirty="0">
                          <a:latin typeface="Open Sans"/>
                          <a:ea typeface="Open Sans"/>
                          <a:cs typeface="Open Sans"/>
                          <a:sym typeface="Open Sans"/>
                        </a:rPr>
                        <a:t> sector</a:t>
                      </a:r>
                      <a:endParaRPr sz="1000" dirty="0">
                        <a:latin typeface="Open Sans"/>
                        <a:ea typeface="Open Sans"/>
                        <a:cs typeface="Open Sans"/>
                        <a:sym typeface="Open Sans"/>
                      </a:endParaRPr>
                    </a:p>
                    <a:p>
                      <a:pPr marL="0" lvl="0" indent="0" algn="l" rtl="0">
                        <a:lnSpc>
                          <a:spcPct val="115000"/>
                        </a:lnSpc>
                        <a:spcBef>
                          <a:spcPts val="0"/>
                        </a:spcBef>
                        <a:spcAft>
                          <a:spcPts val="0"/>
                        </a:spcAft>
                        <a:buNone/>
                      </a:pPr>
                      <a:r>
                        <a:rPr lang="en" sz="1000" dirty="0">
                          <a:latin typeface="Open Sans"/>
                          <a:ea typeface="Open Sans"/>
                          <a:cs typeface="Open Sans"/>
                          <a:sym typeface="Open Sans"/>
                        </a:rPr>
                        <a:t>-higher VA, but not comparative adv</a:t>
                      </a:r>
                      <a:endParaRPr sz="1000" dirty="0">
                        <a:latin typeface="Open Sans"/>
                        <a:ea typeface="Open Sans"/>
                        <a:cs typeface="Open Sans"/>
                        <a:sym typeface="Open Sans"/>
                      </a:endParaRPr>
                    </a:p>
                    <a:p>
                      <a:pPr marL="0" lvl="0" indent="0" algn="l" rtl="0">
                        <a:lnSpc>
                          <a:spcPct val="115000"/>
                        </a:lnSpc>
                        <a:spcBef>
                          <a:spcPts val="0"/>
                        </a:spcBef>
                        <a:spcAft>
                          <a:spcPts val="0"/>
                        </a:spcAft>
                        <a:buNone/>
                      </a:pPr>
                      <a:r>
                        <a:rPr lang="en" sz="1000" dirty="0">
                          <a:latin typeface="Open Sans"/>
                          <a:ea typeface="Open Sans"/>
                          <a:cs typeface="Open Sans"/>
                          <a:sym typeface="Open Sans"/>
                        </a:rPr>
                        <a:t>-higher VA, </a:t>
                      </a:r>
                      <a:r>
                        <a:rPr lang="en" sz="1000" dirty="0" err="1">
                          <a:latin typeface="Open Sans"/>
                          <a:ea typeface="Open Sans"/>
                          <a:cs typeface="Open Sans"/>
                          <a:sym typeface="Open Sans"/>
                        </a:rPr>
                        <a:t>compAdv</a:t>
                      </a:r>
                      <a:r>
                        <a:rPr lang="en" sz="1000" dirty="0">
                          <a:latin typeface="Open Sans"/>
                          <a:ea typeface="Open Sans"/>
                          <a:cs typeface="Open Sans"/>
                          <a:sym typeface="Open Sans"/>
                        </a:rPr>
                        <a:t>, sectoral </a:t>
                      </a:r>
                      <a:endParaRPr sz="1000" dirty="0">
                        <a:latin typeface="Open Sans"/>
                        <a:ea typeface="Open Sans"/>
                        <a:cs typeface="Open Sans"/>
                        <a:sym typeface="Open Sans"/>
                      </a:endParaRPr>
                    </a:p>
                    <a:p>
                      <a:pPr marL="0" lvl="0" indent="0" algn="l" rtl="0">
                        <a:lnSpc>
                          <a:spcPct val="115000"/>
                        </a:lnSpc>
                        <a:spcBef>
                          <a:spcPts val="0"/>
                        </a:spcBef>
                        <a:spcAft>
                          <a:spcPts val="0"/>
                        </a:spcAft>
                        <a:buNone/>
                      </a:pPr>
                      <a:r>
                        <a:rPr lang="en" sz="1000" dirty="0">
                          <a:latin typeface="Open Sans"/>
                          <a:ea typeface="Open Sans"/>
                          <a:cs typeface="Open Sans"/>
                          <a:sym typeface="Open Sans"/>
                        </a:rPr>
                        <a:t>-higher VA, </a:t>
                      </a:r>
                      <a:r>
                        <a:rPr lang="en" sz="1000" dirty="0" err="1">
                          <a:latin typeface="Open Sans"/>
                          <a:ea typeface="Open Sans"/>
                          <a:cs typeface="Open Sans"/>
                          <a:sym typeface="Open Sans"/>
                        </a:rPr>
                        <a:t>compAdv</a:t>
                      </a:r>
                      <a:r>
                        <a:rPr lang="en" sz="1000" dirty="0">
                          <a:latin typeface="Open Sans"/>
                          <a:ea typeface="Open Sans"/>
                          <a:cs typeface="Open Sans"/>
                          <a:sym typeface="Open Sans"/>
                        </a:rPr>
                        <a:t>, systemic</a:t>
                      </a:r>
                      <a:endParaRPr sz="1000" dirty="0">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 sz="1000">
                          <a:latin typeface="Open Sans"/>
                          <a:ea typeface="Open Sans"/>
                          <a:cs typeface="Open Sans"/>
                          <a:sym typeface="Open Sans"/>
                        </a:rPr>
                        <a:t>-ally, adversary</a:t>
                      </a:r>
                      <a:endParaRPr sz="1000">
                        <a:latin typeface="Open Sans"/>
                        <a:ea typeface="Open Sans"/>
                        <a:cs typeface="Open Sans"/>
                        <a:sym typeface="Open Sans"/>
                      </a:endParaRPr>
                    </a:p>
                    <a:p>
                      <a:pPr marL="0" lvl="0" indent="0" algn="l" rtl="0">
                        <a:spcBef>
                          <a:spcPts val="0"/>
                        </a:spcBef>
                        <a:spcAft>
                          <a:spcPts val="0"/>
                        </a:spcAft>
                        <a:buNone/>
                      </a:pPr>
                      <a:r>
                        <a:rPr lang="en" sz="1000">
                          <a:latin typeface="Open Sans"/>
                          <a:ea typeface="Open Sans"/>
                          <a:cs typeface="Open Sans"/>
                          <a:sym typeface="Open Sans"/>
                        </a:rPr>
                        <a:t>-democracy/autocracy</a:t>
                      </a:r>
                      <a:endParaRPr sz="1000">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 sz="1000">
                          <a:latin typeface="Open Sans"/>
                          <a:ea typeface="Open Sans"/>
                          <a:cs typeface="Open Sans"/>
                          <a:sym typeface="Open Sans"/>
                        </a:rPr>
                        <a:t>-no overall harm</a:t>
                      </a:r>
                      <a:endParaRPr sz="1000">
                        <a:latin typeface="Open Sans"/>
                        <a:ea typeface="Open Sans"/>
                        <a:cs typeface="Open Sans"/>
                        <a:sym typeface="Open Sans"/>
                      </a:endParaRPr>
                    </a:p>
                    <a:p>
                      <a:pPr marL="0" lvl="0" indent="0" algn="l" rtl="0">
                        <a:spcBef>
                          <a:spcPts val="0"/>
                        </a:spcBef>
                        <a:spcAft>
                          <a:spcPts val="0"/>
                        </a:spcAft>
                        <a:buNone/>
                      </a:pPr>
                      <a:r>
                        <a:rPr lang="en" sz="1000">
                          <a:latin typeface="Open Sans"/>
                          <a:ea typeface="Open Sans"/>
                          <a:cs typeface="Open Sans"/>
                          <a:sym typeface="Open Sans"/>
                        </a:rPr>
                        <a:t>-net harm U.S. economy</a:t>
                      </a:r>
                      <a:endParaRPr sz="1000">
                        <a:latin typeface="Open Sans"/>
                        <a:ea typeface="Open Sans"/>
                        <a:cs typeface="Open Sans"/>
                        <a:sym typeface="Open Sans"/>
                      </a:endParaRPr>
                    </a:p>
                    <a:p>
                      <a:pPr marL="0" lvl="0" indent="0" algn="l" rtl="0">
                        <a:spcBef>
                          <a:spcPts val="0"/>
                        </a:spcBef>
                        <a:spcAft>
                          <a:spcPts val="0"/>
                        </a:spcAft>
                        <a:buNone/>
                      </a:pPr>
                      <a:endParaRPr sz="1000">
                        <a:latin typeface="Open Sans"/>
                        <a:ea typeface="Open Sans"/>
                        <a:cs typeface="Open Sans"/>
                        <a:sym typeface="Open Sans"/>
                      </a:endParaRPr>
                    </a:p>
                    <a:p>
                      <a:pPr marL="0" lvl="0" indent="0" algn="l" rtl="0">
                        <a:spcBef>
                          <a:spcPts val="0"/>
                        </a:spcBef>
                        <a:spcAft>
                          <a:spcPts val="0"/>
                        </a:spcAft>
                        <a:buNone/>
                      </a:pPr>
                      <a:endParaRPr sz="1000">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 sz="1000">
                          <a:latin typeface="Open Sans"/>
                          <a:ea typeface="Open Sans"/>
                          <a:cs typeface="Open Sans"/>
                          <a:sym typeface="Open Sans"/>
                        </a:rPr>
                        <a:t>-no product diff.</a:t>
                      </a:r>
                      <a:endParaRPr sz="1000">
                        <a:latin typeface="Open Sans"/>
                        <a:ea typeface="Open Sans"/>
                        <a:cs typeface="Open Sans"/>
                        <a:sym typeface="Open Sans"/>
                      </a:endParaRPr>
                    </a:p>
                    <a:p>
                      <a:pPr marL="0" lvl="0" indent="0" algn="l" rtl="0">
                        <a:spcBef>
                          <a:spcPts val="0"/>
                        </a:spcBef>
                        <a:spcAft>
                          <a:spcPts val="0"/>
                        </a:spcAft>
                        <a:buNone/>
                      </a:pPr>
                      <a:r>
                        <a:rPr lang="en" sz="1000">
                          <a:latin typeface="Open Sans"/>
                          <a:ea typeface="Open Sans"/>
                          <a:cs typeface="Open Sans"/>
                          <a:sym typeface="Open Sans"/>
                        </a:rPr>
                        <a:t>-product diff.</a:t>
                      </a:r>
                      <a:endParaRPr sz="1000">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 sz="1000" dirty="0">
                          <a:latin typeface="Open Sans"/>
                          <a:ea typeface="Open Sans"/>
                          <a:cs typeface="Open Sans"/>
                          <a:sym typeface="Open Sans"/>
                        </a:rPr>
                        <a:t>-foreign firm</a:t>
                      </a:r>
                      <a:endParaRPr sz="1000" dirty="0">
                        <a:latin typeface="Open Sans"/>
                        <a:ea typeface="Open Sans"/>
                        <a:cs typeface="Open Sans"/>
                        <a:sym typeface="Open Sans"/>
                      </a:endParaRPr>
                    </a:p>
                    <a:p>
                      <a:pPr marL="0" lvl="0" indent="0" algn="l" rtl="0">
                        <a:spcBef>
                          <a:spcPts val="0"/>
                        </a:spcBef>
                        <a:spcAft>
                          <a:spcPts val="0"/>
                        </a:spcAft>
                        <a:buNone/>
                      </a:pPr>
                      <a:r>
                        <a:rPr lang="en" sz="1000" dirty="0">
                          <a:latin typeface="Open Sans"/>
                          <a:ea typeface="Open Sans"/>
                          <a:cs typeface="Open Sans"/>
                          <a:sym typeface="Open Sans"/>
                        </a:rPr>
                        <a:t>-own MNC</a:t>
                      </a:r>
                      <a:endParaRPr sz="1000" dirty="0">
                        <a:latin typeface="Open Sans"/>
                        <a:ea typeface="Open Sans"/>
                        <a:cs typeface="Open Sans"/>
                        <a:sym typeface="Open Sans"/>
                      </a:endParaRPr>
                    </a:p>
                    <a:p>
                      <a:pPr marL="0" lvl="0" indent="0" algn="l" rtl="0">
                        <a:spcBef>
                          <a:spcPts val="0"/>
                        </a:spcBef>
                        <a:spcAft>
                          <a:spcPts val="0"/>
                        </a:spcAft>
                        <a:buNone/>
                      </a:pPr>
                      <a:r>
                        <a:rPr lang="en" sz="1000" dirty="0">
                          <a:latin typeface="Open Sans"/>
                          <a:ea typeface="Open Sans"/>
                          <a:cs typeface="Open Sans"/>
                          <a:sym typeface="Open Sans"/>
                        </a:rPr>
                        <a:t>-localized production</a:t>
                      </a:r>
                      <a:endParaRPr sz="1000" dirty="0">
                        <a:latin typeface="Open Sans"/>
                        <a:ea typeface="Open Sans"/>
                        <a:cs typeface="Open Sans"/>
                        <a:sym typeface="Open Sans"/>
                      </a:endParaRPr>
                    </a:p>
                    <a:p>
                      <a:pPr marL="0" lvl="0" indent="0" algn="l" rtl="0">
                        <a:spcBef>
                          <a:spcPts val="0"/>
                        </a:spcBef>
                        <a:spcAft>
                          <a:spcPts val="0"/>
                        </a:spcAft>
                        <a:buNone/>
                      </a:pPr>
                      <a:endParaRPr sz="1000" dirty="0">
                        <a:latin typeface="Open Sans"/>
                        <a:ea typeface="Open Sans"/>
                        <a:cs typeface="Open Sans"/>
                        <a:sym typeface="Open Sans"/>
                      </a:endParaRPr>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Contribution</a:t>
            </a:r>
            <a:endParaRPr dirty="0"/>
          </a:p>
        </p:txBody>
      </p:sp>
      <p:sp>
        <p:nvSpPr>
          <p:cNvPr id="228" name="Google Shape;228;p35"/>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0" algn="l" rtl="0">
              <a:spcBef>
                <a:spcPts val="0"/>
              </a:spcBef>
              <a:spcAft>
                <a:spcPts val="0"/>
              </a:spcAft>
              <a:buNone/>
            </a:pPr>
            <a:endParaRPr b="1" dirty="0">
              <a:solidFill>
                <a:srgbClr val="434343"/>
              </a:solidFill>
            </a:endParaRPr>
          </a:p>
          <a:p>
            <a:pPr marL="457200" lvl="0" indent="-325755" algn="l" rtl="0">
              <a:lnSpc>
                <a:spcPct val="100000"/>
              </a:lnSpc>
              <a:spcBef>
                <a:spcPts val="1200"/>
              </a:spcBef>
              <a:spcAft>
                <a:spcPts val="0"/>
              </a:spcAft>
              <a:buClr>
                <a:srgbClr val="434343"/>
              </a:buClr>
              <a:buSzPct val="100000"/>
              <a:buChar char="●"/>
            </a:pPr>
            <a:r>
              <a:rPr lang="en" b="1" dirty="0">
                <a:solidFill>
                  <a:srgbClr val="434343"/>
                </a:solidFill>
              </a:rPr>
              <a:t>Advance a theory:</a:t>
            </a:r>
            <a:endParaRPr b="1" dirty="0">
              <a:solidFill>
                <a:srgbClr val="434343"/>
              </a:solidFill>
            </a:endParaRPr>
          </a:p>
          <a:p>
            <a:pPr marL="914400" lvl="1" indent="-309562" algn="l" rtl="0">
              <a:lnSpc>
                <a:spcPct val="150000"/>
              </a:lnSpc>
              <a:spcBef>
                <a:spcPts val="1000"/>
              </a:spcBef>
              <a:spcAft>
                <a:spcPts val="0"/>
              </a:spcAft>
              <a:buClr>
                <a:srgbClr val="434343"/>
              </a:buClr>
              <a:buSzPct val="100000"/>
              <a:buChar char="○"/>
            </a:pPr>
            <a:r>
              <a:rPr lang="en" sz="1500" b="1" dirty="0">
                <a:solidFill>
                  <a:srgbClr val="434343"/>
                </a:solidFill>
              </a:rPr>
              <a:t>The intensification of anti-globalization sentiment </a:t>
            </a:r>
            <a:endParaRPr sz="1500" b="1" dirty="0">
              <a:solidFill>
                <a:srgbClr val="434343"/>
              </a:solidFill>
            </a:endParaRPr>
          </a:p>
          <a:p>
            <a:pPr marL="914400" lvl="1" indent="-309562" algn="l" rtl="0">
              <a:lnSpc>
                <a:spcPct val="150000"/>
              </a:lnSpc>
              <a:spcBef>
                <a:spcPts val="0"/>
              </a:spcBef>
              <a:spcAft>
                <a:spcPts val="0"/>
              </a:spcAft>
              <a:buClr>
                <a:srgbClr val="434343"/>
              </a:buClr>
              <a:buSzPct val="100000"/>
              <a:buChar char="○"/>
            </a:pPr>
            <a:r>
              <a:rPr lang="en-US" sz="1500" b="1" dirty="0">
                <a:solidFill>
                  <a:srgbClr val="434343"/>
                </a:solidFill>
              </a:rPr>
              <a:t>Conceptualization of ”after equilibrium” phase</a:t>
            </a:r>
          </a:p>
          <a:p>
            <a:pPr marL="604838" lvl="1" indent="0" algn="l" rtl="0">
              <a:lnSpc>
                <a:spcPct val="150000"/>
              </a:lnSpc>
              <a:spcBef>
                <a:spcPts val="0"/>
              </a:spcBef>
              <a:spcAft>
                <a:spcPts val="0"/>
              </a:spcAft>
              <a:buClr>
                <a:srgbClr val="434343"/>
              </a:buClr>
              <a:buSzPct val="100000"/>
              <a:buNone/>
            </a:pPr>
            <a:endParaRPr lang="en-US" sz="1500" dirty="0">
              <a:solidFill>
                <a:srgbClr val="434343"/>
              </a:solidFill>
            </a:endParaRPr>
          </a:p>
          <a:p>
            <a:pPr marL="604838" lvl="1" indent="0" algn="l" rtl="0">
              <a:lnSpc>
                <a:spcPct val="150000"/>
              </a:lnSpc>
              <a:spcBef>
                <a:spcPts val="0"/>
              </a:spcBef>
              <a:spcAft>
                <a:spcPts val="0"/>
              </a:spcAft>
              <a:buClr>
                <a:srgbClr val="434343"/>
              </a:buClr>
              <a:buSzPct val="100000"/>
              <a:buNone/>
            </a:pPr>
            <a:endParaRPr lang="en-US" sz="1500" dirty="0">
              <a:solidFill>
                <a:srgbClr val="434343"/>
              </a:solidFill>
            </a:endParaRPr>
          </a:p>
          <a:p>
            <a:pPr marL="604838" lvl="1" indent="0" algn="l" rtl="0">
              <a:lnSpc>
                <a:spcPct val="150000"/>
              </a:lnSpc>
              <a:spcBef>
                <a:spcPts val="0"/>
              </a:spcBef>
              <a:spcAft>
                <a:spcPts val="0"/>
              </a:spcAft>
              <a:buClr>
                <a:srgbClr val="434343"/>
              </a:buClr>
              <a:buSzPct val="100000"/>
              <a:buNone/>
            </a:pPr>
            <a:r>
              <a:rPr lang="en-US" sz="1500" dirty="0">
                <a:solidFill>
                  <a:srgbClr val="434343"/>
                </a:solidFill>
              </a:rPr>
              <a:t>Thank you.</a:t>
            </a:r>
            <a:endParaRPr sz="1500" dirty="0">
              <a:solidFill>
                <a:srgbClr val="434343"/>
              </a:solidFill>
            </a:endParaRPr>
          </a:p>
          <a:p>
            <a:pPr marL="457200" lvl="0" indent="0" algn="l" rtl="0">
              <a:lnSpc>
                <a:spcPct val="100000"/>
              </a:lnSpc>
              <a:spcBef>
                <a:spcPts val="1200"/>
              </a:spcBef>
              <a:spcAft>
                <a:spcPts val="0"/>
              </a:spcAft>
              <a:buNone/>
            </a:pPr>
            <a:endParaRPr dirty="0">
              <a:solidFill>
                <a:srgbClr val="434343"/>
              </a:solidFill>
            </a:endParaRPr>
          </a:p>
          <a:p>
            <a:pPr marL="457200" lvl="0" indent="0" algn="l" rtl="0">
              <a:spcBef>
                <a:spcPts val="1000"/>
              </a:spcBef>
              <a:spcAft>
                <a:spcPts val="0"/>
              </a:spcAft>
              <a:buNone/>
            </a:pPr>
            <a:endParaRPr dirty="0">
              <a:solidFill>
                <a:srgbClr val="434343"/>
              </a:solidFill>
            </a:endParaRPr>
          </a:p>
          <a:p>
            <a:pPr marL="457200" lvl="0" indent="0" algn="l" rtl="0">
              <a:spcBef>
                <a:spcPts val="1200"/>
              </a:spcBef>
              <a:spcAft>
                <a:spcPts val="1200"/>
              </a:spcAft>
              <a:buNone/>
            </a:pPr>
            <a:endParaRPr dirty="0">
              <a:solidFill>
                <a:srgbClr val="434343"/>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Possible Examples of AE</a:t>
            </a:r>
            <a:endParaRPr/>
          </a:p>
        </p:txBody>
      </p:sp>
      <p:sp>
        <p:nvSpPr>
          <p:cNvPr id="121" name="Google Shape;121;p19"/>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25000" lnSpcReduction="20000"/>
          </a:bodyPr>
          <a:lstStyle/>
          <a:p>
            <a:pPr marL="457200" lvl="0" indent="-315912" algn="l" rtl="0">
              <a:spcBef>
                <a:spcPts val="0"/>
              </a:spcBef>
              <a:spcAft>
                <a:spcPts val="0"/>
              </a:spcAft>
              <a:buClr>
                <a:srgbClr val="000000"/>
              </a:buClr>
              <a:buSzPct val="100000"/>
              <a:buChar char="●"/>
            </a:pPr>
            <a:r>
              <a:rPr lang="en" sz="5500" b="1" dirty="0">
                <a:solidFill>
                  <a:srgbClr val="000000"/>
                </a:solidFill>
              </a:rPr>
              <a:t>U.S.-China/Japan trade wars</a:t>
            </a:r>
            <a:endParaRPr sz="5500" b="1" dirty="0">
              <a:solidFill>
                <a:srgbClr val="000000"/>
              </a:solidFill>
            </a:endParaRPr>
          </a:p>
          <a:p>
            <a:pPr marL="457200" lvl="0" indent="-315912" algn="l" rtl="0">
              <a:spcBef>
                <a:spcPts val="1000"/>
              </a:spcBef>
              <a:spcAft>
                <a:spcPts val="0"/>
              </a:spcAft>
              <a:buClr>
                <a:srgbClr val="000000"/>
              </a:buClr>
              <a:buSzPct val="100000"/>
              <a:buChar char="●"/>
            </a:pPr>
            <a:r>
              <a:rPr lang="en" sz="5500" b="1" dirty="0">
                <a:solidFill>
                  <a:srgbClr val="000000"/>
                </a:solidFill>
              </a:rPr>
              <a:t>Trump’s 1st round of China tariffs: </a:t>
            </a:r>
            <a:endParaRPr sz="5500" b="1" dirty="0">
              <a:solidFill>
                <a:srgbClr val="000000"/>
              </a:solidFill>
            </a:endParaRPr>
          </a:p>
          <a:p>
            <a:pPr marL="914400" lvl="1" indent="-304800" algn="l" rtl="0">
              <a:spcBef>
                <a:spcPts val="1000"/>
              </a:spcBef>
              <a:spcAft>
                <a:spcPts val="0"/>
              </a:spcAft>
              <a:buClr>
                <a:srgbClr val="000000"/>
              </a:buClr>
              <a:buSzPct val="100000"/>
              <a:buChar char="○"/>
            </a:pPr>
            <a:r>
              <a:rPr lang="en" sz="4000" dirty="0">
                <a:solidFill>
                  <a:srgbClr val="000000"/>
                </a:solidFill>
              </a:rPr>
              <a:t>Target sectors in “MIC 2025”:  Aerospace, Information &amp; Communications Tech (ICT), Robotics &amp; Automation, Industrial Machinery &amp; Equipment, New Materials, Automotive, Precision Instruments, etc.</a:t>
            </a:r>
            <a:endParaRPr sz="4000" dirty="0">
              <a:solidFill>
                <a:srgbClr val="000000"/>
              </a:solidFill>
            </a:endParaRPr>
          </a:p>
          <a:p>
            <a:pPr marL="914400" lvl="1" indent="-304800" algn="l" rtl="0">
              <a:spcBef>
                <a:spcPts val="0"/>
              </a:spcBef>
              <a:spcAft>
                <a:spcPts val="0"/>
              </a:spcAft>
              <a:buClr>
                <a:srgbClr val="000000"/>
              </a:buClr>
              <a:buSzPct val="100000"/>
              <a:buChar char="○"/>
            </a:pPr>
            <a:r>
              <a:rPr lang="en" sz="4000" dirty="0">
                <a:solidFill>
                  <a:srgbClr val="000000"/>
                </a:solidFill>
              </a:rPr>
              <a:t>Consumer goods largely excluded.</a:t>
            </a:r>
            <a:endParaRPr sz="4000" dirty="0">
              <a:solidFill>
                <a:srgbClr val="000000"/>
              </a:solidFill>
            </a:endParaRPr>
          </a:p>
          <a:p>
            <a:pPr marL="457200" lvl="0" indent="-315912" algn="l" rtl="0">
              <a:lnSpc>
                <a:spcPct val="150000"/>
              </a:lnSpc>
              <a:spcBef>
                <a:spcPts val="1000"/>
              </a:spcBef>
              <a:spcAft>
                <a:spcPts val="0"/>
              </a:spcAft>
              <a:buClr>
                <a:srgbClr val="000000"/>
              </a:buClr>
              <a:buSzPct val="100000"/>
              <a:buChar char="●"/>
            </a:pPr>
            <a:r>
              <a:rPr lang="en" sz="5500" b="1" dirty="0">
                <a:solidFill>
                  <a:srgbClr val="000000"/>
                </a:solidFill>
              </a:rPr>
              <a:t>Renegotiated USMCA:</a:t>
            </a:r>
            <a:endParaRPr sz="5500" b="1" dirty="0">
              <a:solidFill>
                <a:srgbClr val="000000"/>
              </a:solidFill>
            </a:endParaRPr>
          </a:p>
          <a:p>
            <a:pPr marL="914400" lvl="1" indent="-304800" algn="l" rtl="0">
              <a:lnSpc>
                <a:spcPct val="150000"/>
              </a:lnSpc>
              <a:spcBef>
                <a:spcPts val="0"/>
              </a:spcBef>
              <a:spcAft>
                <a:spcPts val="0"/>
              </a:spcAft>
              <a:buClr>
                <a:srgbClr val="000000"/>
              </a:buClr>
              <a:buSzPct val="100000"/>
              <a:buChar char="○"/>
            </a:pPr>
            <a:r>
              <a:rPr lang="en" sz="4000" dirty="0">
                <a:solidFill>
                  <a:srgbClr val="000000"/>
                </a:solidFill>
              </a:rPr>
              <a:t>Heavily focused on the automobile industry</a:t>
            </a:r>
            <a:endParaRPr sz="4000" dirty="0">
              <a:solidFill>
                <a:srgbClr val="000000"/>
              </a:solidFill>
            </a:endParaRPr>
          </a:p>
          <a:p>
            <a:pPr marL="457200" lvl="0" indent="-315912" algn="l" rtl="0">
              <a:lnSpc>
                <a:spcPct val="150000"/>
              </a:lnSpc>
              <a:spcBef>
                <a:spcPts val="1000"/>
              </a:spcBef>
              <a:spcAft>
                <a:spcPts val="0"/>
              </a:spcAft>
              <a:buClr>
                <a:srgbClr val="000000"/>
              </a:buClr>
              <a:buSzPct val="100000"/>
              <a:buChar char="●"/>
            </a:pPr>
            <a:r>
              <a:rPr lang="en" sz="5500" b="1" dirty="0">
                <a:solidFill>
                  <a:srgbClr val="000000"/>
                </a:solidFill>
              </a:rPr>
              <a:t>Views on “China shock 2.0”</a:t>
            </a:r>
            <a:endParaRPr sz="5500" b="1" dirty="0">
              <a:solidFill>
                <a:srgbClr val="000000"/>
              </a:solidFill>
            </a:endParaRPr>
          </a:p>
          <a:p>
            <a:pPr marL="914400" lvl="1" indent="-304800" algn="l" rtl="0">
              <a:lnSpc>
                <a:spcPct val="150000"/>
              </a:lnSpc>
              <a:spcBef>
                <a:spcPts val="0"/>
              </a:spcBef>
              <a:spcAft>
                <a:spcPts val="0"/>
              </a:spcAft>
              <a:buClr>
                <a:srgbClr val="000000"/>
              </a:buClr>
              <a:buSzPct val="100000"/>
              <a:buChar char="○"/>
            </a:pPr>
            <a:r>
              <a:rPr lang="en" sz="4800" b="1" dirty="0">
                <a:solidFill>
                  <a:srgbClr val="000000"/>
                </a:solidFill>
              </a:rPr>
              <a:t>Janet Yellen (D.) </a:t>
            </a:r>
            <a:r>
              <a:rPr lang="en" sz="4800" dirty="0">
                <a:solidFill>
                  <a:srgbClr val="000000"/>
                </a:solidFill>
              </a:rPr>
              <a:t>- “China’s exports of cheap goods were thought to be positive, but now start to hollow out U.S. industries.” (WSJ 2023)</a:t>
            </a:r>
            <a:endParaRPr sz="4800" dirty="0">
              <a:solidFill>
                <a:srgbClr val="000000"/>
              </a:solidFill>
            </a:endParaRPr>
          </a:p>
          <a:p>
            <a:pPr marL="914400" lvl="1" indent="-304800" algn="l" rtl="0">
              <a:lnSpc>
                <a:spcPct val="150000"/>
              </a:lnSpc>
              <a:spcBef>
                <a:spcPts val="0"/>
              </a:spcBef>
              <a:spcAft>
                <a:spcPts val="0"/>
              </a:spcAft>
              <a:buClr>
                <a:srgbClr val="000000"/>
              </a:buClr>
              <a:buSzPct val="100000"/>
              <a:buChar char="○"/>
            </a:pPr>
            <a:r>
              <a:rPr lang="en" sz="4800" b="1" dirty="0">
                <a:solidFill>
                  <a:srgbClr val="000000"/>
                </a:solidFill>
              </a:rPr>
              <a:t>Autor et al</a:t>
            </a:r>
            <a:r>
              <a:rPr lang="en" sz="4800" dirty="0">
                <a:solidFill>
                  <a:srgbClr val="000000"/>
                </a:solidFill>
              </a:rPr>
              <a:t>. (2025): “We Warned About the First China Shock. The Next One Will Be Worse.”  </a:t>
            </a:r>
            <a:endParaRPr sz="4800" dirty="0">
              <a:solidFill>
                <a:srgbClr val="000000"/>
              </a:solidFill>
            </a:endParaRPr>
          </a:p>
          <a:p>
            <a:pPr marL="914400" lvl="1" indent="-304800" algn="l" rtl="0">
              <a:lnSpc>
                <a:spcPct val="150000"/>
              </a:lnSpc>
              <a:spcBef>
                <a:spcPts val="0"/>
              </a:spcBef>
              <a:spcAft>
                <a:spcPts val="0"/>
              </a:spcAft>
              <a:buClr>
                <a:srgbClr val="000000"/>
              </a:buClr>
              <a:buSzPct val="100000"/>
              <a:buChar char="○"/>
            </a:pPr>
            <a:r>
              <a:rPr lang="en" sz="4800" b="1" dirty="0">
                <a:solidFill>
                  <a:srgbClr val="000000"/>
                </a:solidFill>
              </a:rPr>
              <a:t>EU:</a:t>
            </a:r>
            <a:r>
              <a:rPr lang="en" sz="4800" dirty="0">
                <a:solidFill>
                  <a:srgbClr val="000000"/>
                </a:solidFill>
              </a:rPr>
              <a:t> “EV shock: The Chinese threat to Europe’s industrial heartland” (ECFR 2025)</a:t>
            </a:r>
            <a:endParaRPr sz="4800" dirty="0">
              <a:solidFill>
                <a:srgbClr val="000000"/>
              </a:solidFill>
            </a:endParaRPr>
          </a:p>
          <a:p>
            <a:pPr marL="0" lvl="0" indent="0" algn="l" rtl="0">
              <a:lnSpc>
                <a:spcPct val="150000"/>
              </a:lnSpc>
              <a:spcBef>
                <a:spcPts val="1200"/>
              </a:spcBef>
              <a:spcAft>
                <a:spcPts val="0"/>
              </a:spcAft>
              <a:buNone/>
            </a:pPr>
            <a:endParaRPr sz="1500" dirty="0">
              <a:solidFill>
                <a:srgbClr val="000000"/>
              </a:solidFill>
            </a:endParaRPr>
          </a:p>
          <a:p>
            <a:pPr marL="457200" lvl="0" indent="0" algn="l" rtl="0">
              <a:spcBef>
                <a:spcPts val="1200"/>
              </a:spcBef>
              <a:spcAft>
                <a:spcPts val="1200"/>
              </a:spcAft>
              <a:buNone/>
            </a:pPr>
            <a:endParaRPr sz="1600" dirty="0">
              <a:solidFill>
                <a:srgbClr val="00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0"/>
          <p:cNvSpPr txBox="1">
            <a:spLocks noGrp="1"/>
          </p:cNvSpPr>
          <p:nvPr>
            <p:ph type="title"/>
          </p:nvPr>
        </p:nvSpPr>
        <p:spPr>
          <a:xfrm>
            <a:off x="1556375" y="1864350"/>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Conceptualization &amp; Theorization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Application Scope</a:t>
            </a:r>
            <a:endParaRPr dirty="0"/>
          </a:p>
          <a:p>
            <a:pPr marL="0" lvl="0" indent="0" algn="l" rtl="0">
              <a:spcBef>
                <a:spcPts val="0"/>
              </a:spcBef>
              <a:spcAft>
                <a:spcPts val="0"/>
              </a:spcAft>
              <a:buNone/>
            </a:pPr>
            <a:endParaRPr dirty="0"/>
          </a:p>
        </p:txBody>
      </p:sp>
      <p:sp>
        <p:nvSpPr>
          <p:cNvPr id="144" name="Google Shape;144;p22"/>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l" rtl="0">
              <a:spcBef>
                <a:spcPts val="1000"/>
              </a:spcBef>
              <a:spcAft>
                <a:spcPts val="0"/>
              </a:spcAft>
              <a:buClr>
                <a:srgbClr val="000000"/>
              </a:buClr>
              <a:buSzPts val="1800"/>
              <a:buChar char="-"/>
            </a:pPr>
            <a:r>
              <a:rPr lang="en" sz="1600" b="1" dirty="0">
                <a:solidFill>
                  <a:srgbClr val="000000"/>
                </a:solidFill>
              </a:rPr>
              <a:t>Inter-industry </a:t>
            </a:r>
            <a:r>
              <a:rPr lang="en" sz="1000" b="1" dirty="0">
                <a:solidFill>
                  <a:srgbClr val="999999"/>
                </a:solidFill>
              </a:rPr>
              <a:t>(RV/HO/EK)</a:t>
            </a:r>
            <a:r>
              <a:rPr lang="en" sz="1600" dirty="0">
                <a:solidFill>
                  <a:srgbClr val="000000"/>
                </a:solidFill>
              </a:rPr>
              <a:t>: U.S. automobile vs. Bangladesh's textile</a:t>
            </a:r>
            <a:endParaRPr sz="1600" dirty="0">
              <a:solidFill>
                <a:srgbClr val="000000"/>
              </a:solidFill>
            </a:endParaRPr>
          </a:p>
          <a:p>
            <a:pPr marL="457200" lvl="0" indent="-342900" algn="l" rtl="0">
              <a:spcBef>
                <a:spcPts val="1200"/>
              </a:spcBef>
              <a:spcAft>
                <a:spcPts val="0"/>
              </a:spcAft>
              <a:buClr>
                <a:srgbClr val="000000"/>
              </a:buClr>
              <a:buSzPts val="1800"/>
              <a:buChar char="-"/>
            </a:pPr>
            <a:r>
              <a:rPr lang="en" sz="1600" b="1" dirty="0">
                <a:solidFill>
                  <a:srgbClr val="000000"/>
                </a:solidFill>
              </a:rPr>
              <a:t>Intra-industry </a:t>
            </a:r>
            <a:r>
              <a:rPr lang="en" sz="1000" b="1" dirty="0">
                <a:solidFill>
                  <a:srgbClr val="999999"/>
                </a:solidFill>
              </a:rPr>
              <a:t>(Krugman 1980)</a:t>
            </a:r>
            <a:r>
              <a:rPr lang="en" sz="1600" dirty="0">
                <a:solidFill>
                  <a:srgbClr val="000000"/>
                </a:solidFill>
              </a:rPr>
              <a:t>: EU’s pharmaceutical vs. India’s pharmaceutical</a:t>
            </a:r>
            <a:endParaRPr sz="1600" dirty="0">
              <a:solidFill>
                <a:srgbClr val="000000"/>
              </a:solidFill>
            </a:endParaRPr>
          </a:p>
          <a:p>
            <a:pPr marL="457200" lvl="0" indent="-342900" algn="l" rtl="0">
              <a:spcBef>
                <a:spcPts val="1200"/>
              </a:spcBef>
              <a:spcAft>
                <a:spcPts val="0"/>
              </a:spcAft>
              <a:buClr>
                <a:srgbClr val="000000"/>
              </a:buClr>
              <a:buSzPts val="1800"/>
              <a:buChar char="-"/>
            </a:pPr>
            <a:r>
              <a:rPr lang="en" sz="1600" b="1" dirty="0">
                <a:solidFill>
                  <a:srgbClr val="000000"/>
                </a:solidFill>
              </a:rPr>
              <a:t>Intra-firm</a:t>
            </a:r>
            <a:r>
              <a:rPr lang="en" sz="1600" b="1" dirty="0">
                <a:solidFill>
                  <a:srgbClr val="999999"/>
                </a:solidFill>
              </a:rPr>
              <a:t> </a:t>
            </a:r>
            <a:r>
              <a:rPr lang="en" sz="1000" b="1" dirty="0">
                <a:solidFill>
                  <a:srgbClr val="999999"/>
                </a:solidFill>
              </a:rPr>
              <a:t>(Melitz 2003)</a:t>
            </a:r>
            <a:r>
              <a:rPr lang="en" sz="1600" dirty="0">
                <a:solidFill>
                  <a:srgbClr val="000000"/>
                </a:solidFill>
              </a:rPr>
              <a:t>: California’s iPhone R&amp;D vs. Vietnam’s assembly </a:t>
            </a:r>
            <a:endParaRPr sz="1600" dirty="0">
              <a:solidFill>
                <a:srgbClr val="000000"/>
              </a:solidFill>
            </a:endParaRPr>
          </a:p>
          <a:p>
            <a:pPr marL="457200" lvl="0" indent="-330200" algn="l" rtl="0">
              <a:spcBef>
                <a:spcPts val="1200"/>
              </a:spcBef>
              <a:spcAft>
                <a:spcPts val="0"/>
              </a:spcAft>
              <a:buClr>
                <a:srgbClr val="000000"/>
              </a:buClr>
              <a:buSzPts val="1600"/>
              <a:buChar char="-"/>
            </a:pPr>
            <a:r>
              <a:rPr lang="en" sz="1600" b="1" dirty="0">
                <a:solidFill>
                  <a:srgbClr val="000000"/>
                </a:solidFill>
              </a:rPr>
              <a:t>Service</a:t>
            </a:r>
            <a:r>
              <a:rPr lang="en" sz="1600" dirty="0">
                <a:solidFill>
                  <a:srgbClr val="000000"/>
                </a:solidFill>
              </a:rPr>
              <a:t>: internet, finance, pharma R&amp;D</a:t>
            </a:r>
            <a:endParaRPr sz="1600" dirty="0">
              <a:solidFill>
                <a:srgbClr val="000000"/>
              </a:solidFill>
            </a:endParaRPr>
          </a:p>
          <a:p>
            <a:pPr marL="457200" lvl="0" indent="0" algn="l" rtl="0">
              <a:spcBef>
                <a:spcPts val="1200"/>
              </a:spcBef>
              <a:spcAft>
                <a:spcPts val="0"/>
              </a:spcAft>
              <a:buNone/>
            </a:pPr>
            <a:endParaRPr dirty="0">
              <a:solidFill>
                <a:srgbClr val="000000"/>
              </a:solidFill>
            </a:endParaRPr>
          </a:p>
          <a:p>
            <a:pPr marL="457200" lvl="0" indent="0" algn="l" rtl="0">
              <a:spcBef>
                <a:spcPts val="1200"/>
              </a:spcBef>
              <a:spcAft>
                <a:spcPts val="1200"/>
              </a:spcAft>
              <a:buNone/>
            </a:pPr>
            <a:r>
              <a:rPr lang="en" sz="1400" dirty="0">
                <a:solidFill>
                  <a:srgbClr val="000000"/>
                </a:solidFill>
              </a:rPr>
              <a:t>⇒ In any case, a country expects to “</a:t>
            </a:r>
            <a:r>
              <a:rPr lang="en" sz="1400" i="1" u="sng" dirty="0">
                <a:solidFill>
                  <a:srgbClr val="000000"/>
                </a:solidFill>
              </a:rPr>
              <a:t>export” CA</a:t>
            </a:r>
            <a:r>
              <a:rPr lang="en" sz="1400" dirty="0">
                <a:solidFill>
                  <a:srgbClr val="000000"/>
                </a:solidFill>
              </a:rPr>
              <a:t> to realize sustainable trade gains</a:t>
            </a:r>
            <a:endParaRPr sz="1400" dirty="0">
              <a:solidFill>
                <a:srgbClr val="00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Competing Theories</a:t>
            </a:r>
            <a:endParaRPr/>
          </a:p>
        </p:txBody>
      </p:sp>
      <p:sp>
        <p:nvSpPr>
          <p:cNvPr id="164" name="Google Shape;164;p25"/>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rgbClr val="000000"/>
              </a:buClr>
              <a:buSzPts val="1800"/>
              <a:buChar char="●"/>
            </a:pPr>
            <a:r>
              <a:rPr lang="en" b="1" dirty="0">
                <a:solidFill>
                  <a:srgbClr val="000000"/>
                </a:solidFill>
              </a:rPr>
              <a:t>New losers?</a:t>
            </a:r>
            <a:r>
              <a:rPr lang="en" sz="1900" b="1" dirty="0">
                <a:solidFill>
                  <a:srgbClr val="000000"/>
                </a:solidFill>
              </a:rPr>
              <a:t> </a:t>
            </a:r>
            <a:endParaRPr sz="1900" b="1" dirty="0">
              <a:solidFill>
                <a:srgbClr val="000000"/>
              </a:solidFill>
            </a:endParaRPr>
          </a:p>
          <a:p>
            <a:pPr marL="0" lvl="0" indent="457200" algn="l" rtl="0">
              <a:spcBef>
                <a:spcPts val="1200"/>
              </a:spcBef>
              <a:spcAft>
                <a:spcPts val="0"/>
              </a:spcAft>
              <a:buNone/>
            </a:pPr>
            <a:r>
              <a:rPr lang="en" sz="1400" dirty="0">
                <a:solidFill>
                  <a:srgbClr val="000000"/>
                </a:solidFill>
              </a:rPr>
              <a:t>Moving from textile to furniture to consumer electronics, no opposition. </a:t>
            </a:r>
            <a:endParaRPr sz="1400" dirty="0">
              <a:solidFill>
                <a:srgbClr val="000000"/>
              </a:solidFill>
            </a:endParaRPr>
          </a:p>
          <a:p>
            <a:pPr marL="457200" lvl="0" indent="-342900" algn="l" rtl="0">
              <a:spcBef>
                <a:spcPts val="1000"/>
              </a:spcBef>
              <a:spcAft>
                <a:spcPts val="0"/>
              </a:spcAft>
              <a:buClr>
                <a:srgbClr val="000000"/>
              </a:buClr>
              <a:buSzPts val="1800"/>
              <a:buChar char="●"/>
            </a:pPr>
            <a:r>
              <a:rPr lang="en" b="1" dirty="0">
                <a:solidFill>
                  <a:srgbClr val="000000"/>
                </a:solidFill>
              </a:rPr>
              <a:t>Higher value-added?</a:t>
            </a:r>
            <a:endParaRPr b="1" dirty="0">
              <a:solidFill>
                <a:srgbClr val="000000"/>
              </a:solidFill>
            </a:endParaRPr>
          </a:p>
          <a:p>
            <a:pPr marL="457200" lvl="0" indent="0" algn="l" rtl="0">
              <a:spcBef>
                <a:spcPts val="1200"/>
              </a:spcBef>
              <a:spcAft>
                <a:spcPts val="0"/>
              </a:spcAft>
              <a:buNone/>
            </a:pPr>
            <a:r>
              <a:rPr lang="en" sz="1400" dirty="0">
                <a:solidFill>
                  <a:srgbClr val="000000"/>
                </a:solidFill>
              </a:rPr>
              <a:t>Silent on passenger rail, shipbuilding, telecom, DRAM, chip manufacturing…</a:t>
            </a:r>
            <a:endParaRPr sz="1400" dirty="0">
              <a:solidFill>
                <a:srgbClr val="000000"/>
              </a:solidFill>
            </a:endParaRPr>
          </a:p>
          <a:p>
            <a:pPr marL="457200" lvl="0" indent="-342900" algn="l" rtl="0">
              <a:spcBef>
                <a:spcPts val="1200"/>
              </a:spcBef>
              <a:spcAft>
                <a:spcPts val="0"/>
              </a:spcAft>
              <a:buClr>
                <a:srgbClr val="000000"/>
              </a:buClr>
              <a:buSzPts val="1800"/>
              <a:buChar char="●"/>
            </a:pPr>
            <a:r>
              <a:rPr lang="en" b="1" dirty="0" err="1">
                <a:solidFill>
                  <a:srgbClr val="000000"/>
                </a:solidFill>
              </a:rPr>
              <a:t>Sociotropic</a:t>
            </a:r>
            <a:r>
              <a:rPr lang="en" b="1" dirty="0">
                <a:solidFill>
                  <a:srgbClr val="000000"/>
                </a:solidFill>
              </a:rPr>
              <a:t>? National identity? Developmental? Security?</a:t>
            </a:r>
            <a:endParaRPr b="1" dirty="0">
              <a:solidFill>
                <a:srgbClr val="000000"/>
              </a:solidFill>
            </a:endParaRPr>
          </a:p>
          <a:p>
            <a:pPr marL="457200" lvl="0" indent="0" algn="l" rtl="0">
              <a:spcBef>
                <a:spcPts val="1200"/>
              </a:spcBef>
              <a:spcAft>
                <a:spcPts val="1200"/>
              </a:spcAft>
              <a:buNone/>
            </a:pPr>
            <a:r>
              <a:rPr lang="en" sz="1400" dirty="0">
                <a:solidFill>
                  <a:srgbClr val="000000"/>
                </a:solidFill>
              </a:rPr>
              <a:t>Part of mechanisms, but not same. </a:t>
            </a:r>
            <a:endParaRPr sz="140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Elite Opinion: Congressional Speech </a:t>
            </a:r>
            <a:endParaRPr/>
          </a:p>
          <a:p>
            <a:pPr marL="0" lvl="0" indent="0" algn="l" rtl="0">
              <a:spcBef>
                <a:spcPts val="0"/>
              </a:spcBef>
              <a:spcAft>
                <a:spcPts val="0"/>
              </a:spcAft>
              <a:buNone/>
            </a:pPr>
            <a:r>
              <a:rPr lang="en" sz="1466"/>
              <a:t>(Keywords: Free Trade)</a:t>
            </a:r>
            <a:endParaRPr sz="1466"/>
          </a:p>
        </p:txBody>
      </p:sp>
      <p:sp>
        <p:nvSpPr>
          <p:cNvPr id="190" name="Google Shape;190;p29"/>
          <p:cNvSpPr txBox="1"/>
          <p:nvPr/>
        </p:nvSpPr>
        <p:spPr>
          <a:xfrm>
            <a:off x="400350" y="1313150"/>
            <a:ext cx="8383200" cy="265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latin typeface="Open Sans"/>
                <a:ea typeface="Open Sans"/>
                <a:cs typeface="Open Sans"/>
                <a:sym typeface="Open Sans"/>
              </a:rPr>
              <a:t>Examples:</a:t>
            </a:r>
            <a:endParaRPr sz="1800">
              <a:solidFill>
                <a:schemeClr val="dk2"/>
              </a:solidFill>
              <a:latin typeface="Open Sans"/>
              <a:ea typeface="Open Sans"/>
              <a:cs typeface="Open Sans"/>
              <a:sym typeface="Open Sans"/>
            </a:endParaRPr>
          </a:p>
          <a:p>
            <a:pPr marL="0" lvl="0" indent="0" algn="l" rtl="0">
              <a:spcBef>
                <a:spcPts val="0"/>
              </a:spcBef>
              <a:spcAft>
                <a:spcPts val="0"/>
              </a:spcAft>
              <a:buNone/>
            </a:pPr>
            <a:endParaRPr sz="1800">
              <a:solidFill>
                <a:schemeClr val="dk2"/>
              </a:solidFill>
              <a:latin typeface="Open Sans"/>
              <a:ea typeface="Open Sans"/>
              <a:cs typeface="Open Sans"/>
              <a:sym typeface="Open Sans"/>
            </a:endParaRPr>
          </a:p>
          <a:p>
            <a:pPr marL="0" lvl="0" indent="0" algn="l" rtl="0">
              <a:spcBef>
                <a:spcPts val="0"/>
              </a:spcBef>
              <a:spcAft>
                <a:spcPts val="0"/>
              </a:spcAft>
              <a:buNone/>
            </a:pPr>
            <a:r>
              <a:rPr lang="en" sz="1100">
                <a:solidFill>
                  <a:srgbClr val="222222"/>
                </a:solidFill>
                <a:highlight>
                  <a:srgbClr val="FFFFFF"/>
                </a:highlight>
              </a:rPr>
              <a:t>“... we are not going to have a strong economy unless we have a strong manufacturing capability. unless companies are reinvesting in Colorado or Vermont. creating good jobs here… “ (GY: good jobs/strong mfg cannot refer to disadv. sectors)</a:t>
            </a:r>
            <a:endParaRPr sz="1100">
              <a:solidFill>
                <a:srgbClr val="222222"/>
              </a:solidFill>
              <a:highlight>
                <a:srgbClr val="FFFFFF"/>
              </a:highlight>
            </a:endParaRPr>
          </a:p>
          <a:p>
            <a:pPr marL="0" lvl="0" indent="0" algn="l" rtl="0">
              <a:spcBef>
                <a:spcPts val="0"/>
              </a:spcBef>
              <a:spcAft>
                <a:spcPts val="0"/>
              </a:spcAft>
              <a:buNone/>
            </a:pPr>
            <a:endParaRPr sz="1100">
              <a:solidFill>
                <a:srgbClr val="222222"/>
              </a:solidFill>
              <a:highlight>
                <a:srgbClr val="FFFFFF"/>
              </a:highlight>
            </a:endParaRPr>
          </a:p>
          <a:p>
            <a:pPr marL="0" lvl="0" indent="0" algn="l" rtl="0">
              <a:spcBef>
                <a:spcPts val="0"/>
              </a:spcBef>
              <a:spcAft>
                <a:spcPts val="0"/>
              </a:spcAft>
              <a:buNone/>
            </a:pPr>
            <a:r>
              <a:rPr lang="en" sz="1100">
                <a:solidFill>
                  <a:srgbClr val="222222"/>
                </a:solidFill>
                <a:highlight>
                  <a:srgbClr val="FFFFFF"/>
                </a:highlight>
              </a:rPr>
              <a:t>“... This raw deal would be particularly bad for my district and districts around the country that support our domestic auto industry, auto suppliers and parts makers… ”</a:t>
            </a:r>
            <a:endParaRPr sz="1100">
              <a:solidFill>
                <a:srgbClr val="222222"/>
              </a:solidFill>
              <a:highlight>
                <a:srgbClr val="FFFFFF"/>
              </a:highlight>
            </a:endParaRPr>
          </a:p>
          <a:p>
            <a:pPr marL="0" lvl="0" indent="0" algn="l" rtl="0">
              <a:spcBef>
                <a:spcPts val="0"/>
              </a:spcBef>
              <a:spcAft>
                <a:spcPts val="0"/>
              </a:spcAft>
              <a:buNone/>
            </a:pPr>
            <a:endParaRPr sz="1100">
              <a:solidFill>
                <a:srgbClr val="222222"/>
              </a:solidFill>
              <a:highlight>
                <a:srgbClr val="FFFFFF"/>
              </a:highlight>
            </a:endParaRPr>
          </a:p>
          <a:p>
            <a:pPr marL="0" lvl="0" indent="0" algn="l" rtl="0">
              <a:spcBef>
                <a:spcPts val="0"/>
              </a:spcBef>
              <a:spcAft>
                <a:spcPts val="0"/>
              </a:spcAft>
              <a:buNone/>
            </a:pPr>
            <a:r>
              <a:rPr lang="en" sz="1100">
                <a:solidFill>
                  <a:srgbClr val="222222"/>
                </a:solidFill>
                <a:highlight>
                  <a:srgbClr val="FFFFFF"/>
                </a:highlight>
              </a:rPr>
              <a:t>“(in 1997) ...and there is some reason to fear that in 10 or 20 years. Detroit and automobile production in this country will be diminished as car manufacturing moves to China. …”</a:t>
            </a:r>
            <a:endParaRPr sz="1100">
              <a:solidFill>
                <a:srgbClr val="222222"/>
              </a:solidFill>
              <a:highlight>
                <a:srgbClr val="FFFFFF"/>
              </a:highlight>
            </a:endParaRPr>
          </a:p>
          <a:p>
            <a:pPr marL="0" lvl="0" indent="0" algn="l" rtl="0">
              <a:spcBef>
                <a:spcPts val="0"/>
              </a:spcBef>
              <a:spcAft>
                <a:spcPts val="0"/>
              </a:spcAft>
              <a:buNone/>
            </a:pPr>
            <a:endParaRPr sz="1100">
              <a:solidFill>
                <a:srgbClr val="222222"/>
              </a:solidFill>
              <a:highlight>
                <a:srgbClr val="FFFFFF"/>
              </a:highlight>
            </a:endParaRPr>
          </a:p>
          <a:p>
            <a:pPr marL="0" lvl="0" indent="0" algn="l" rtl="0">
              <a:spcBef>
                <a:spcPts val="0"/>
              </a:spcBef>
              <a:spcAft>
                <a:spcPts val="0"/>
              </a:spcAft>
              <a:buNone/>
            </a:pPr>
            <a:r>
              <a:rPr lang="en" sz="1100">
                <a:solidFill>
                  <a:srgbClr val="222222"/>
                </a:solidFill>
                <a:highlight>
                  <a:srgbClr val="FFFFFF"/>
                </a:highlight>
              </a:rPr>
              <a:t>“...The titans who run these global transnational corporations. their operatives. and the Wall Street giants that finance them couldnt care less about workers anywhere or the communities in which they live… ” (GY: refer to GVC)</a:t>
            </a:r>
            <a:endParaRPr sz="1100">
              <a:solidFill>
                <a:srgbClr val="222222"/>
              </a:solidFill>
              <a:highlight>
                <a:srgbClr val="FFFFFF"/>
              </a:highlight>
            </a:endParaRPr>
          </a:p>
          <a:p>
            <a:pPr marL="0" lvl="0" indent="0" algn="l" rtl="0">
              <a:spcBef>
                <a:spcPts val="0"/>
              </a:spcBef>
              <a:spcAft>
                <a:spcPts val="0"/>
              </a:spcAft>
              <a:buNone/>
            </a:pPr>
            <a:endParaRPr sz="1100">
              <a:solidFill>
                <a:srgbClr val="222222"/>
              </a:solidFill>
              <a:highlight>
                <a:srgbClr val="FFFFFF"/>
              </a:highlight>
            </a:endParaRPr>
          </a:p>
          <a:p>
            <a:pPr marL="0" lvl="0" indent="0" algn="l" rtl="0">
              <a:spcBef>
                <a:spcPts val="0"/>
              </a:spcBef>
              <a:spcAft>
                <a:spcPts val="0"/>
              </a:spcAft>
              <a:buNone/>
            </a:pPr>
            <a:endParaRPr sz="1100">
              <a:solidFill>
                <a:srgbClr val="222222"/>
              </a:solidFill>
              <a:highlight>
                <a:srgbClr val="FFFFFF"/>
              </a:highlight>
            </a:endParaRPr>
          </a:p>
          <a:p>
            <a:pPr marL="0" lvl="0" indent="0" algn="l" rtl="0">
              <a:spcBef>
                <a:spcPts val="0"/>
              </a:spcBef>
              <a:spcAft>
                <a:spcPts val="0"/>
              </a:spcAft>
              <a:buNone/>
            </a:pPr>
            <a:endParaRPr sz="1800">
              <a:solidFill>
                <a:schemeClr val="dk2"/>
              </a:solidFill>
              <a:latin typeface="Open Sans"/>
              <a:ea typeface="Open Sans"/>
              <a:cs typeface="Open Sans"/>
              <a:sym typeface="Open Sans"/>
            </a:endParaRPr>
          </a:p>
          <a:p>
            <a:pPr marL="0" lvl="0" indent="0" algn="l" rtl="0">
              <a:spcBef>
                <a:spcPts val="0"/>
              </a:spcBef>
              <a:spcAft>
                <a:spcPts val="0"/>
              </a:spcAft>
              <a:buNone/>
            </a:pPr>
            <a:endParaRPr sz="1800">
              <a:solidFill>
                <a:schemeClr val="dk2"/>
              </a:solidFill>
              <a:latin typeface="Open Sans"/>
              <a:ea typeface="Open Sans"/>
              <a:cs typeface="Open Sans"/>
              <a:sym typeface="Open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Elite Opinion: Congressional Speech </a:t>
            </a:r>
            <a:endParaRPr sz="1466"/>
          </a:p>
          <a:p>
            <a:pPr marL="0" lvl="0" indent="0" algn="l" rtl="0">
              <a:spcBef>
                <a:spcPts val="0"/>
              </a:spcBef>
              <a:spcAft>
                <a:spcPts val="0"/>
              </a:spcAft>
              <a:buNone/>
            </a:pPr>
            <a:r>
              <a:rPr lang="en" sz="1466"/>
              <a:t>(Keywords: Chinese Imports, Trade w/ China)</a:t>
            </a:r>
            <a:endParaRPr sz="1466"/>
          </a:p>
        </p:txBody>
      </p:sp>
      <p:sp>
        <p:nvSpPr>
          <p:cNvPr id="203" name="Google Shape;203;p31"/>
          <p:cNvSpPr txBox="1">
            <a:spLocks noGrp="1"/>
          </p:cNvSpPr>
          <p:nvPr>
            <p:ph type="body" idx="1"/>
          </p:nvPr>
        </p:nvSpPr>
        <p:spPr>
          <a:xfrm>
            <a:off x="480450" y="1281150"/>
            <a:ext cx="8039100" cy="33789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365"/>
              <a:buNone/>
            </a:pPr>
            <a:r>
              <a:rPr lang="en" sz="1290">
                <a:solidFill>
                  <a:srgbClr val="000000"/>
                </a:solidFill>
              </a:rPr>
              <a:t>Examples</a:t>
            </a:r>
            <a:endParaRPr sz="1290">
              <a:solidFill>
                <a:srgbClr val="000000"/>
              </a:solidFill>
            </a:endParaRPr>
          </a:p>
          <a:p>
            <a:pPr marL="0" lvl="0" indent="0" algn="l" rtl="0">
              <a:lnSpc>
                <a:spcPct val="95000"/>
              </a:lnSpc>
              <a:spcBef>
                <a:spcPts val="0"/>
              </a:spcBef>
              <a:spcAft>
                <a:spcPts val="0"/>
              </a:spcAft>
              <a:buSzPts val="365"/>
              <a:buNone/>
            </a:pPr>
            <a:endParaRPr sz="1290">
              <a:solidFill>
                <a:srgbClr val="000000"/>
              </a:solidFill>
            </a:endParaRPr>
          </a:p>
          <a:p>
            <a:pPr marL="0" lvl="0" indent="0" algn="l" rtl="0">
              <a:lnSpc>
                <a:spcPct val="95000"/>
              </a:lnSpc>
              <a:spcBef>
                <a:spcPts val="0"/>
              </a:spcBef>
              <a:spcAft>
                <a:spcPts val="0"/>
              </a:spcAft>
              <a:buSzPts val="365"/>
              <a:buNone/>
            </a:pPr>
            <a:r>
              <a:rPr lang="en" sz="1290">
                <a:solidFill>
                  <a:srgbClr val="000000"/>
                </a:solidFill>
              </a:rPr>
              <a:t>“...</a:t>
            </a:r>
            <a:r>
              <a:rPr lang="en" sz="1035">
                <a:solidFill>
                  <a:srgbClr val="222222"/>
                </a:solidFill>
                <a:highlight>
                  <a:srgbClr val="FFFFFF"/>
                </a:highlight>
                <a:latin typeface="Arial"/>
                <a:ea typeface="Arial"/>
                <a:cs typeface="Arial"/>
                <a:sym typeface="Arial"/>
              </a:rPr>
              <a:t>If the United States is to remain a major industrial power. producing real products and creating goodpaying jobs. we cannot continue the failed, unfettered free trade policies</a:t>
            </a:r>
            <a:r>
              <a:rPr lang="en" sz="1290">
                <a:solidFill>
                  <a:srgbClr val="000000"/>
                </a:solidFill>
              </a:rPr>
              <a:t>”</a:t>
            </a:r>
            <a:endParaRPr sz="1290">
              <a:solidFill>
                <a:srgbClr val="000000"/>
              </a:solidFill>
            </a:endParaRPr>
          </a:p>
          <a:p>
            <a:pPr marL="0" lvl="0" indent="0" algn="l" rtl="0">
              <a:lnSpc>
                <a:spcPct val="95000"/>
              </a:lnSpc>
              <a:spcBef>
                <a:spcPts val="0"/>
              </a:spcBef>
              <a:spcAft>
                <a:spcPts val="0"/>
              </a:spcAft>
              <a:buSzPts val="365"/>
              <a:buNone/>
            </a:pPr>
            <a:endParaRPr sz="1290">
              <a:solidFill>
                <a:srgbClr val="000000"/>
              </a:solidFill>
            </a:endParaRPr>
          </a:p>
          <a:p>
            <a:pPr marL="0" lvl="0" indent="0" algn="l" rtl="0">
              <a:lnSpc>
                <a:spcPct val="95000"/>
              </a:lnSpc>
              <a:spcBef>
                <a:spcPts val="0"/>
              </a:spcBef>
              <a:spcAft>
                <a:spcPts val="0"/>
              </a:spcAft>
              <a:buSzPts val="365"/>
              <a:buNone/>
            </a:pPr>
            <a:r>
              <a:rPr lang="en" sz="1290">
                <a:solidFill>
                  <a:srgbClr val="000000"/>
                </a:solidFill>
              </a:rPr>
              <a:t>“...</a:t>
            </a:r>
            <a:r>
              <a:rPr lang="en" sz="1035">
                <a:solidFill>
                  <a:srgbClr val="222222"/>
                </a:solidFill>
                <a:highlight>
                  <a:srgbClr val="FFFFFF"/>
                </a:highlight>
                <a:latin typeface="Arial"/>
                <a:ea typeface="Arial"/>
                <a:cs typeface="Arial"/>
                <a:sym typeface="Arial"/>
              </a:rPr>
              <a:t>Chinese imports did overwhelm U.S. industry. The Cato Institute was dead wrong.</a:t>
            </a:r>
            <a:r>
              <a:rPr lang="en" sz="1290">
                <a:solidFill>
                  <a:srgbClr val="000000"/>
                </a:solidFill>
              </a:rPr>
              <a:t>”</a:t>
            </a:r>
            <a:endParaRPr sz="1290">
              <a:solidFill>
                <a:srgbClr val="000000"/>
              </a:solidFill>
            </a:endParaRPr>
          </a:p>
          <a:p>
            <a:pPr marL="0" lvl="0" indent="0" algn="l" rtl="0">
              <a:lnSpc>
                <a:spcPct val="95000"/>
              </a:lnSpc>
              <a:spcBef>
                <a:spcPts val="0"/>
              </a:spcBef>
              <a:spcAft>
                <a:spcPts val="0"/>
              </a:spcAft>
              <a:buSzPts val="365"/>
              <a:buNone/>
            </a:pPr>
            <a:endParaRPr sz="1290">
              <a:solidFill>
                <a:srgbClr val="000000"/>
              </a:solidFill>
            </a:endParaRPr>
          </a:p>
          <a:p>
            <a:pPr marL="0" lvl="0" indent="0" algn="l" rtl="0">
              <a:lnSpc>
                <a:spcPct val="95000"/>
              </a:lnSpc>
              <a:spcBef>
                <a:spcPts val="0"/>
              </a:spcBef>
              <a:spcAft>
                <a:spcPts val="0"/>
              </a:spcAft>
              <a:buSzPts val="365"/>
              <a:buNone/>
            </a:pPr>
            <a:r>
              <a:rPr lang="en" sz="1290">
                <a:solidFill>
                  <a:srgbClr val="000000"/>
                </a:solidFill>
              </a:rPr>
              <a:t>“...</a:t>
            </a:r>
            <a:r>
              <a:rPr lang="en" sz="1035">
                <a:solidFill>
                  <a:srgbClr val="222222"/>
                </a:solidFill>
                <a:highlight>
                  <a:srgbClr val="FFFFFF"/>
                </a:highlight>
                <a:latin typeface="Arial"/>
                <a:ea typeface="Arial"/>
                <a:cs typeface="Arial"/>
                <a:sym typeface="Arial"/>
              </a:rPr>
              <a:t>"We will buy American airplanes only if they are manufactured in China." It is another way of saying. "We want to trade with you. but we want American. jobs to move to China." That is not fair trade.</a:t>
            </a:r>
            <a:r>
              <a:rPr lang="en" sz="1290">
                <a:solidFill>
                  <a:srgbClr val="000000"/>
                </a:solidFill>
              </a:rPr>
              <a:t>”</a:t>
            </a:r>
            <a:endParaRPr sz="1290">
              <a:solidFill>
                <a:srgbClr val="000000"/>
              </a:solidFill>
            </a:endParaRPr>
          </a:p>
          <a:p>
            <a:pPr marL="0" lvl="0" indent="0" algn="l" rtl="0">
              <a:lnSpc>
                <a:spcPct val="95000"/>
              </a:lnSpc>
              <a:spcBef>
                <a:spcPts val="0"/>
              </a:spcBef>
              <a:spcAft>
                <a:spcPts val="0"/>
              </a:spcAft>
              <a:buSzPts val="365"/>
              <a:buNone/>
            </a:pPr>
            <a:endParaRPr sz="1290">
              <a:solidFill>
                <a:srgbClr val="000000"/>
              </a:solidFill>
            </a:endParaRPr>
          </a:p>
          <a:p>
            <a:pPr marL="0" lvl="0" indent="0" algn="l" rtl="0">
              <a:lnSpc>
                <a:spcPct val="95000"/>
              </a:lnSpc>
              <a:spcBef>
                <a:spcPts val="0"/>
              </a:spcBef>
              <a:spcAft>
                <a:spcPts val="0"/>
              </a:spcAft>
              <a:buSzPts val="365"/>
              <a:buNone/>
            </a:pPr>
            <a:r>
              <a:rPr lang="en" sz="1290">
                <a:solidFill>
                  <a:srgbClr val="000000"/>
                </a:solidFill>
              </a:rPr>
              <a:t>“... </a:t>
            </a:r>
            <a:r>
              <a:rPr lang="en" sz="1035">
                <a:solidFill>
                  <a:srgbClr val="222222"/>
                </a:solidFill>
                <a:highlight>
                  <a:srgbClr val="FFFFFF"/>
                </a:highlight>
                <a:latin typeface="Arial"/>
                <a:ea typeface="Arial"/>
                <a:cs typeface="Arial"/>
                <a:sym typeface="Arial"/>
              </a:rPr>
              <a:t>In fact. we were told that permanent normal trade relations with China would create hundreds of thousands of American jobs. Well. not quite. [GY: expect adv. sectors exporting...]</a:t>
            </a:r>
            <a:r>
              <a:rPr lang="en" sz="1290">
                <a:solidFill>
                  <a:srgbClr val="000000"/>
                </a:solidFill>
              </a:rPr>
              <a:t>”</a:t>
            </a:r>
            <a:endParaRPr sz="1290">
              <a:solidFill>
                <a:srgbClr val="000000"/>
              </a:solidFill>
            </a:endParaRPr>
          </a:p>
          <a:p>
            <a:pPr marL="0" lvl="0" indent="0" algn="l" rtl="0">
              <a:lnSpc>
                <a:spcPct val="95000"/>
              </a:lnSpc>
              <a:spcBef>
                <a:spcPts val="0"/>
              </a:spcBef>
              <a:spcAft>
                <a:spcPts val="0"/>
              </a:spcAft>
              <a:buSzPts val="365"/>
              <a:buNone/>
            </a:pPr>
            <a:endParaRPr sz="1290">
              <a:solidFill>
                <a:srgbClr val="000000"/>
              </a:solidFill>
            </a:endParaRPr>
          </a:p>
          <a:p>
            <a:pPr marL="0" lvl="0" indent="0" algn="l" rtl="0">
              <a:lnSpc>
                <a:spcPct val="95000"/>
              </a:lnSpc>
              <a:spcBef>
                <a:spcPts val="0"/>
              </a:spcBef>
              <a:spcAft>
                <a:spcPts val="0"/>
              </a:spcAft>
              <a:buSzPts val="365"/>
              <a:buNone/>
            </a:pPr>
            <a:r>
              <a:rPr lang="en" sz="1290">
                <a:solidFill>
                  <a:srgbClr val="000000"/>
                </a:solidFill>
              </a:rPr>
              <a:t>“...</a:t>
            </a:r>
            <a:r>
              <a:rPr lang="en" sz="1035">
                <a:solidFill>
                  <a:srgbClr val="222222"/>
                </a:solidFill>
                <a:highlight>
                  <a:srgbClr val="FFFFFF"/>
                </a:highlight>
                <a:latin typeface="Arial"/>
                <a:ea typeface="Arial"/>
                <a:cs typeface="Arial"/>
                <a:sym typeface="Arial"/>
              </a:rPr>
              <a:t>China tilts the playing field against American firms, innovators, and workers and gets the technology they need to leapfrog the competition.</a:t>
            </a:r>
            <a:r>
              <a:rPr lang="en" sz="1290">
                <a:solidFill>
                  <a:srgbClr val="000000"/>
                </a:solidFill>
              </a:rPr>
              <a:t>”</a:t>
            </a:r>
            <a:endParaRPr sz="1290">
              <a:solidFill>
                <a:srgbClr val="000000"/>
              </a:solidFill>
            </a:endParaRPr>
          </a:p>
          <a:p>
            <a:pPr marL="0" lvl="0" indent="0" algn="l" rtl="0">
              <a:lnSpc>
                <a:spcPct val="95000"/>
              </a:lnSpc>
              <a:spcBef>
                <a:spcPts val="0"/>
              </a:spcBef>
              <a:spcAft>
                <a:spcPts val="0"/>
              </a:spcAft>
              <a:buSzPts val="365"/>
              <a:buNone/>
            </a:pPr>
            <a:endParaRPr sz="1290">
              <a:solidFill>
                <a:srgbClr val="000000"/>
              </a:solidFill>
            </a:endParaRPr>
          </a:p>
          <a:p>
            <a:pPr marL="0" lvl="0" indent="0" algn="l" rtl="0">
              <a:lnSpc>
                <a:spcPct val="95000"/>
              </a:lnSpc>
              <a:spcBef>
                <a:spcPts val="0"/>
              </a:spcBef>
              <a:spcAft>
                <a:spcPts val="0"/>
              </a:spcAft>
              <a:buSzPts val="365"/>
              <a:buNone/>
            </a:pPr>
            <a:r>
              <a:rPr lang="en" sz="1290">
                <a:solidFill>
                  <a:srgbClr val="000000"/>
                </a:solidFill>
              </a:rPr>
              <a:t>“...</a:t>
            </a:r>
            <a:r>
              <a:rPr lang="en" sz="1035">
                <a:solidFill>
                  <a:srgbClr val="222222"/>
                </a:solidFill>
                <a:highlight>
                  <a:srgbClr val="FFFFFF"/>
                </a:highlight>
                <a:latin typeface="Arial"/>
                <a:ea typeface="Arial"/>
                <a:cs typeface="Arial"/>
                <a:sym typeface="Arial"/>
              </a:rPr>
              <a:t>Now General Motors says a Chinese firm knocked off an entire vehicleand Americans could soon start buying its cars…</a:t>
            </a:r>
            <a:r>
              <a:rPr lang="en" sz="1290">
                <a:solidFill>
                  <a:srgbClr val="000000"/>
                </a:solidFill>
              </a:rPr>
              <a:t>”</a:t>
            </a:r>
            <a:endParaRPr sz="1290">
              <a:solidFill>
                <a:srgbClr val="00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Elite Opinion: Summary </a:t>
            </a:r>
            <a:endParaRPr/>
          </a:p>
        </p:txBody>
      </p:sp>
      <p:sp>
        <p:nvSpPr>
          <p:cNvPr id="209" name="Google Shape;209;p32"/>
          <p:cNvSpPr txBox="1">
            <a:spLocks noGrp="1"/>
          </p:cNvSpPr>
          <p:nvPr>
            <p:ph type="body" idx="1"/>
          </p:nvPr>
        </p:nvSpPr>
        <p:spPr>
          <a:xfrm>
            <a:off x="311700" y="1049200"/>
            <a:ext cx="8520600" cy="3302700"/>
          </a:xfrm>
          <a:prstGeom prst="rect">
            <a:avLst/>
          </a:prstGeom>
        </p:spPr>
        <p:txBody>
          <a:bodyPr spcFirstLastPara="1" wrap="square" lIns="91425" tIns="91425" rIns="91425" bIns="91425" anchor="t" anchorCtr="0">
            <a:normAutofit fontScale="92500"/>
          </a:bodyPr>
          <a:lstStyle/>
          <a:p>
            <a:pPr marL="0" lvl="0" indent="0" algn="l" rtl="0">
              <a:spcBef>
                <a:spcPts val="0"/>
              </a:spcBef>
              <a:spcAft>
                <a:spcPts val="0"/>
              </a:spcAft>
              <a:buNone/>
            </a:pPr>
            <a:endParaRPr/>
          </a:p>
          <a:p>
            <a:pPr marL="457200" lvl="0" indent="-330200" algn="l" rtl="0">
              <a:lnSpc>
                <a:spcPct val="100000"/>
              </a:lnSpc>
              <a:spcBef>
                <a:spcPts val="1200"/>
              </a:spcBef>
              <a:spcAft>
                <a:spcPts val="0"/>
              </a:spcAft>
              <a:buSzPts val="1600"/>
              <a:buChar char="●"/>
            </a:pPr>
            <a:r>
              <a:rPr lang="en" sz="1600"/>
              <a:t>Concerns over losing good-paying jobs and deindus. dominate all other concerns about trade. Bipartisan. Logically, losing adv sectors. triggers all these reactions.</a:t>
            </a:r>
            <a:endParaRPr sz="1600"/>
          </a:p>
          <a:p>
            <a:pPr marL="457200" lvl="0" indent="-330200" algn="l" rtl="0">
              <a:lnSpc>
                <a:spcPct val="100000"/>
              </a:lnSpc>
              <a:spcBef>
                <a:spcPts val="1000"/>
              </a:spcBef>
              <a:spcAft>
                <a:spcPts val="0"/>
              </a:spcAft>
              <a:buSzPts val="1600"/>
              <a:buChar char="●"/>
            </a:pPr>
            <a:r>
              <a:rPr lang="en" sz="1600"/>
              <a:t>As concerns over deindus reaches some level, anti-free trade rhetoric (dormant between 1995/WTO and early 2010s) spikes. </a:t>
            </a:r>
            <a:endParaRPr sz="1600"/>
          </a:p>
          <a:p>
            <a:pPr marL="457200" lvl="0" indent="-330200" algn="l" rtl="0">
              <a:lnSpc>
                <a:spcPct val="100000"/>
              </a:lnSpc>
              <a:spcBef>
                <a:spcPts val="1000"/>
              </a:spcBef>
              <a:spcAft>
                <a:spcPts val="0"/>
              </a:spcAft>
              <a:buSzPts val="1600"/>
              <a:buChar char="●"/>
            </a:pPr>
            <a:r>
              <a:rPr lang="en" sz="1600"/>
              <a:t>No other major competing factors such as security, geopolitics, inequality, etc are as salient. </a:t>
            </a:r>
            <a:endParaRPr sz="1600"/>
          </a:p>
          <a:p>
            <a:pPr marL="457200" lvl="0" indent="-330200" algn="l" rtl="0">
              <a:lnSpc>
                <a:spcPct val="100000"/>
              </a:lnSpc>
              <a:spcBef>
                <a:spcPts val="1000"/>
              </a:spcBef>
              <a:spcAft>
                <a:spcPts val="0"/>
              </a:spcAft>
              <a:buSzPts val="1600"/>
              <a:buChar char="●"/>
            </a:pPr>
            <a:r>
              <a:rPr lang="en" sz="1600"/>
              <a:t>Human rights, econ security, etc later were framed as justifying anti-free trade views. </a:t>
            </a:r>
            <a:endParaRPr sz="1600"/>
          </a:p>
          <a:p>
            <a:pPr marL="457200" lvl="0" indent="0" algn="l" rtl="0">
              <a:spcBef>
                <a:spcPts val="1200"/>
              </a:spcBef>
              <a:spcAft>
                <a:spcPts val="1200"/>
              </a:spcAft>
              <a:buNone/>
            </a:pPr>
            <a:r>
              <a:rPr lang="en" sz="800"/>
              <a:t>(</a:t>
            </a:r>
            <a:r>
              <a:rPr lang="en" sz="800">
                <a:solidFill>
                  <a:srgbClr val="500050"/>
                </a:solidFill>
                <a:highlight>
                  <a:srgbClr val="FFFFFF"/>
                </a:highlight>
                <a:latin typeface="Arial"/>
                <a:ea typeface="Arial"/>
                <a:cs typeface="Arial"/>
                <a:sym typeface="Arial"/>
              </a:rPr>
              <a:t>e.g. “Free trade with China has surely been a one-sided deal. Just as China shows a blatant disdain for human rights and rule of law in their own country, she tramples upon international law and seeks to overturn the global rules- based order. As a strategic competitor, she seeks to spread its propaganda and tear down the virtues of democracy."</a:t>
            </a:r>
            <a:r>
              <a:rPr lang="en" sz="800"/>
              <a:t>)</a:t>
            </a:r>
            <a:endParaRPr sz="800"/>
          </a:p>
        </p:txBody>
      </p:sp>
    </p:spTree>
  </p:cSld>
  <p:clrMapOvr>
    <a:masterClrMapping/>
  </p:clrMapOvr>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1451</TotalTime>
  <Words>3393</Words>
  <Application>Microsoft Macintosh PowerPoint</Application>
  <PresentationFormat>On-screen Show (16:9)</PresentationFormat>
  <Paragraphs>282</Paragraphs>
  <Slides>25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PT Sans Narrow</vt:lpstr>
      <vt:lpstr>Wingdings</vt:lpstr>
      <vt:lpstr>Hanken Grotesk</vt:lpstr>
      <vt:lpstr>Hanken Grotesk Light</vt:lpstr>
      <vt:lpstr>Neuton Light</vt:lpstr>
      <vt:lpstr>Open Sans</vt:lpstr>
      <vt:lpstr>Arial</vt:lpstr>
      <vt:lpstr>Tropic</vt:lpstr>
      <vt:lpstr>After Equilibrium</vt:lpstr>
      <vt:lpstr>Intensified Anti-Globalization Tensions</vt:lpstr>
      <vt:lpstr>Existing Theories …</vt:lpstr>
      <vt:lpstr>Theoretical Distinction </vt:lpstr>
      <vt:lpstr>“After Equilibrium”: Visualization (net loss)</vt:lpstr>
      <vt:lpstr>Theory: Expectation Mismatch</vt:lpstr>
      <vt:lpstr>Theory: Expectation Mismatch</vt:lpstr>
      <vt:lpstr>Why Politically Matter?</vt:lpstr>
      <vt:lpstr>Theoretical Expectations</vt:lpstr>
      <vt:lpstr>Empirical Evidence: Mixed-methods</vt:lpstr>
      <vt:lpstr>Elite Opinion: Congressional Speech  (Keywords: Free Trade, excl. Free Trade Agreement)</vt:lpstr>
      <vt:lpstr>Elite Opinion: Congressional Speech - by party  (Keywords: Free Trade)</vt:lpstr>
      <vt:lpstr>Elite Opinion: Congressional Speech  (Keywords: Chinese Imports, Trade w/ China)</vt:lpstr>
      <vt:lpstr>Section 301: List 1 and 2 (2018/19) </vt:lpstr>
      <vt:lpstr>Section 301: List 1 and 2 </vt:lpstr>
      <vt:lpstr>Case Study </vt:lpstr>
      <vt:lpstr>(TODO) Public Opinion: Conjoint </vt:lpstr>
      <vt:lpstr>Contribution</vt:lpstr>
      <vt:lpstr>Possible Examples of AE</vt:lpstr>
      <vt:lpstr>Conceptualization &amp; Theorization</vt:lpstr>
      <vt:lpstr>Application Scope </vt:lpstr>
      <vt:lpstr>Competing Theories</vt:lpstr>
      <vt:lpstr>Elite Opinion: Congressional Speech  (Keywords: Free Trade)</vt:lpstr>
      <vt:lpstr>Elite Opinion: Congressional Speech  (Keywords: Chinese Imports, Trade w/ China)</vt:lpstr>
      <vt:lpstr>Elite Opinion: Summary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After Equilibrium</dc:title>
  <cp:lastModifiedBy>Yean, George</cp:lastModifiedBy>
  <cp:revision>61</cp:revision>
  <dcterms:modified xsi:type="dcterms:W3CDTF">2026-04-25T15:46:08Z</dcterms:modified>
</cp:coreProperties>
</file>