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854" r:id="rId1"/>
  </p:sldMasterIdLst>
  <p:notesMasterIdLst>
    <p:notesMasterId r:id="rId37"/>
  </p:notesMasterIdLst>
  <p:handoutMasterIdLst>
    <p:handoutMasterId r:id="rId38"/>
  </p:handoutMasterIdLst>
  <p:sldIdLst>
    <p:sldId id="319" r:id="rId2"/>
    <p:sldId id="347" r:id="rId3"/>
    <p:sldId id="352" r:id="rId4"/>
    <p:sldId id="400" r:id="rId5"/>
    <p:sldId id="402" r:id="rId6"/>
    <p:sldId id="403" r:id="rId7"/>
    <p:sldId id="396" r:id="rId8"/>
    <p:sldId id="406" r:id="rId9"/>
    <p:sldId id="348" r:id="rId10"/>
    <p:sldId id="405" r:id="rId11"/>
    <p:sldId id="404" r:id="rId12"/>
    <p:sldId id="393" r:id="rId13"/>
    <p:sldId id="351" r:id="rId14"/>
    <p:sldId id="401" r:id="rId15"/>
    <p:sldId id="418" r:id="rId16"/>
    <p:sldId id="395" r:id="rId17"/>
    <p:sldId id="407" r:id="rId18"/>
    <p:sldId id="408" r:id="rId19"/>
    <p:sldId id="409" r:id="rId20"/>
    <p:sldId id="410" r:id="rId21"/>
    <p:sldId id="411" r:id="rId22"/>
    <p:sldId id="414" r:id="rId23"/>
    <p:sldId id="415" r:id="rId24"/>
    <p:sldId id="416" r:id="rId25"/>
    <p:sldId id="412" r:id="rId26"/>
    <p:sldId id="413" r:id="rId27"/>
    <p:sldId id="419" r:id="rId28"/>
    <p:sldId id="420" r:id="rId29"/>
    <p:sldId id="421" r:id="rId30"/>
    <p:sldId id="385" r:id="rId31"/>
    <p:sldId id="356" r:id="rId32"/>
    <p:sldId id="417" r:id="rId33"/>
    <p:sldId id="317" r:id="rId34"/>
    <p:sldId id="388" r:id="rId35"/>
    <p:sldId id="367" r:id="rId36"/>
  </p:sldIdLst>
  <p:sldSz cx="9144000" cy="5143500" type="screen16x9"/>
  <p:notesSz cx="6858000" cy="9144000"/>
  <p:embeddedFontLst>
    <p:embeddedFont>
      <p:font typeface="Source Sans Pro" panose="020B0503030403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71"/>
    <p:restoredTop sz="92527"/>
  </p:normalViewPr>
  <p:slideViewPr>
    <p:cSldViewPr snapToGrid="0">
      <p:cViewPr varScale="1">
        <p:scale>
          <a:sx n="202" d="100"/>
          <a:sy n="202" d="100"/>
        </p:scale>
        <p:origin x="848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48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68B32B-9AA4-0D45-8F97-CCFD6817D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D8887-4A2F-7C45-B4BA-2173A31E0C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84AA2-BAA8-944E-9FE8-F1AF751FD20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07653-09B8-8042-9F20-86EC40E97A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George Yean, Harvard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D6AE3-F096-9D4E-B1C5-7785AEBC74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6F10E-E859-3F49-8596-10B2F19FC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963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208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question is important, as ppl may wonder how the issues matter so to seek solutions, and patrons may prioritize some issues due to resource constraint</a:t>
            </a:r>
          </a:p>
        </p:txBody>
      </p:sp>
    </p:spTree>
    <p:extLst>
      <p:ext uri="{BB962C8B-B14F-4D97-AF65-F5344CB8AC3E}">
        <p14:creationId xmlns:p14="http://schemas.microsoft.com/office/powerpoint/2010/main" val="291873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29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042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13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36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53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003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diminished legitimacy, dysfunctional governance, and crippled performance (March and Olsen 1984; North 1990; Pierson 2000).</a:t>
            </a:r>
          </a:p>
          <a:p>
            <a:r>
              <a:rPr lang="en-US" dirty="0"/>
              <a:t>An international order can be undermined in multiple ways including violating rules and norms, waging conflicts, subverting institutions, or abandoning support</a:t>
            </a:r>
          </a:p>
          <a:p>
            <a:r>
              <a:rPr lang="en-US" dirty="0"/>
              <a:t>Most important is member </a:t>
            </a:r>
          </a:p>
        </p:txBody>
      </p:sp>
    </p:spTree>
    <p:extLst>
      <p:ext uri="{BB962C8B-B14F-4D97-AF65-F5344CB8AC3E}">
        <p14:creationId xmlns:p14="http://schemas.microsoft.com/office/powerpoint/2010/main" val="3721775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504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485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Clam, think, thank, admit, quick</a:t>
            </a:r>
          </a:p>
        </p:txBody>
      </p:sp>
    </p:spTree>
    <p:extLst>
      <p:ext uri="{BB962C8B-B14F-4D97-AF65-F5344CB8AC3E}">
        <p14:creationId xmlns:p14="http://schemas.microsoft.com/office/powerpoint/2010/main" val="1390804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Imbalances are defined as the long-run cross-country differences in current account balances</a:t>
            </a:r>
          </a:p>
        </p:txBody>
      </p:sp>
    </p:spTree>
    <p:extLst>
      <p:ext uri="{BB962C8B-B14F-4D97-AF65-F5344CB8AC3E}">
        <p14:creationId xmlns:p14="http://schemas.microsoft.com/office/powerpoint/2010/main" val="3948336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392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5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084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021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206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907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415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726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25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917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259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573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8741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3508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544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Explains why despite China’s efforts to build its order, we see slow effect</a:t>
            </a:r>
          </a:p>
        </p:txBody>
      </p:sp>
    </p:spTree>
    <p:extLst>
      <p:ext uri="{BB962C8B-B14F-4D97-AF65-F5344CB8AC3E}">
        <p14:creationId xmlns:p14="http://schemas.microsoft.com/office/powerpoint/2010/main" val="7841914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2800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 Yun, then Chinese economic czar, abhorred the ballooning trade deficits; the nation had to cut back scarce investments to trim the deficits that threatened balance-of-payment 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25157987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521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33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to12w122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727086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45998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95158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6722133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102428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568565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5021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799826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574791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57443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210643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8E4EA-2C5B-F249-B765-F61E1789693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0942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" y="0"/>
            <a:ext cx="5650966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722" y="1815150"/>
            <a:ext cx="342900" cy="34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E0014D-A2E1-1747-8F4E-220F283A9D0A}"/>
              </a:ext>
            </a:extLst>
          </p:cNvPr>
          <p:cNvSpPr/>
          <p:nvPr/>
        </p:nvSpPr>
        <p:spPr>
          <a:xfrm>
            <a:off x="182040" y="1322472"/>
            <a:ext cx="5749424" cy="2725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3">
              <a:lnSpc>
                <a:spcPct val="90000"/>
              </a:lnSpc>
              <a:spcBef>
                <a:spcPct val="0"/>
              </a:spcBef>
              <a:spcAft>
                <a:spcPts val="514"/>
              </a:spcAft>
            </a:pPr>
            <a:r>
              <a:rPr lang="en-CA" sz="32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Globalization Backlash and Order Contestation</a:t>
            </a:r>
            <a:endParaRPr lang="en-CA" sz="1600" b="1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3">
              <a:lnSpc>
                <a:spcPct val="90000"/>
              </a:lnSpc>
              <a:spcBef>
                <a:spcPts val="600"/>
              </a:spcBef>
              <a:spcAft>
                <a:spcPts val="514"/>
              </a:spcAft>
            </a:pPr>
            <a:r>
              <a:rPr lang="en-CA" sz="28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</a:t>
            </a:r>
            <a:r>
              <a:rPr lang="en-CA" sz="28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CA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 Issue-based Theory</a:t>
            </a:r>
            <a:endParaRPr lang="en-US" sz="5400" b="1" kern="12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  <a:sym typeface="Georg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84A62-164E-444A-A7A5-1B6C29B028D0}"/>
              </a:ext>
            </a:extLst>
          </p:cNvPr>
          <p:cNvSpPr txBox="1"/>
          <p:nvPr/>
        </p:nvSpPr>
        <p:spPr>
          <a:xfrm>
            <a:off x="2113614" y="3889899"/>
            <a:ext cx="1548822" cy="774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4"/>
              </a:spcAft>
            </a:pPr>
            <a:r>
              <a:rPr lang="en-US" sz="1200" b="1" i="0" u="none" strike="noStrike" cap="none" dirty="0">
                <a:solidFill>
                  <a:schemeClr val="bg1"/>
                </a:solidFill>
                <a:sym typeface="Arial"/>
              </a:rPr>
              <a:t>George Yean</a:t>
            </a:r>
          </a:p>
          <a:p>
            <a:pPr>
              <a:spcAft>
                <a:spcPts val="504"/>
              </a:spcAft>
            </a:pPr>
            <a:r>
              <a:rPr lang="en-US" sz="1200" b="1" dirty="0">
                <a:solidFill>
                  <a:schemeClr val="bg1"/>
                </a:solidFill>
              </a:rPr>
              <a:t>Harvard University</a:t>
            </a:r>
          </a:p>
          <a:p>
            <a:pPr>
              <a:spcAft>
                <a:spcPts val="504"/>
              </a:spcAft>
            </a:pPr>
            <a:r>
              <a:rPr lang="en-US" sz="1200" b="1" i="0" u="none" strike="noStrike" cap="none" dirty="0">
                <a:solidFill>
                  <a:schemeClr val="bg1"/>
                </a:solidFill>
                <a:sym typeface="Arial"/>
              </a:rPr>
              <a:t>MPSA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C1FE7-AE26-0A0D-9245-54985A8BA618}"/>
              </a:ext>
            </a:extLst>
          </p:cNvPr>
          <p:cNvSpPr txBox="1"/>
          <p:nvPr/>
        </p:nvSpPr>
        <p:spPr>
          <a:xfrm>
            <a:off x="6018925" y="1946547"/>
            <a:ext cx="2619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Paper link: </a:t>
            </a:r>
            <a:r>
              <a:rPr lang="en-US" sz="1000" i="1" dirty="0" err="1"/>
              <a:t>georgeyean.github.io</a:t>
            </a:r>
            <a:r>
              <a:rPr lang="en-US" sz="1000" i="1" dirty="0"/>
              <a:t>/files/</a:t>
            </a:r>
            <a:r>
              <a:rPr lang="en-US" sz="1000" i="1" dirty="0" err="1"/>
              <a:t>gi.pdf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2224763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The Liberal International Order (LIO) in Crisis</a:t>
            </a:r>
            <a:endParaRPr lang="en-US" sz="1600" b="1" kern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08C54-9D33-C3FA-6F11-7360D04AFF77}"/>
              </a:ext>
            </a:extLst>
          </p:cNvPr>
          <p:cNvSpPr txBox="1"/>
          <p:nvPr/>
        </p:nvSpPr>
        <p:spPr>
          <a:xfrm>
            <a:off x="367901" y="1586039"/>
            <a:ext cx="8408193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The LIO is in crisis  </a:t>
            </a:r>
            <a:endParaRPr lang="en-US" sz="16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285750" lvl="3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Established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since end of WWII:  vs. imperialism, realism, multipolarity </a:t>
            </a:r>
          </a:p>
          <a:p>
            <a:pPr marL="285750" lvl="3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Definition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: West-led int’l order with liberal features and sub-orders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(Lake et al. 2021)</a:t>
            </a:r>
          </a:p>
          <a:p>
            <a:pPr marL="2857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Credited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with advancing peace, prosperity &amp; liberty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(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Ikenberry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2011; Lake eta al. 2021)</a:t>
            </a:r>
          </a:p>
          <a:p>
            <a:pPr marL="2857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Future uncertain, important but challenging to study (macro, limited variation)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lvl="2"/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LIO Issues  </a:t>
            </a:r>
          </a:p>
          <a:p>
            <a:pPr marL="2857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“…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this time might be different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.” – Lake et al. 2021</a:t>
            </a:r>
          </a:p>
          <a:p>
            <a:pPr marL="2857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Issues/challenges: 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financial instability, development inequality, governance deficit, collective security, ideational and social contestation, hegemonic power abuse…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(IO 75</a:t>
            </a:r>
            <a:r>
              <a:rPr lang="en-US" sz="1200" baseline="300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th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special issue)</a:t>
            </a:r>
          </a:p>
          <a:p>
            <a:pPr marL="2857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Structural &amp; distributional consequences: 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source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of contestation </a:t>
            </a:r>
          </a:p>
        </p:txBody>
      </p:sp>
    </p:spTree>
    <p:extLst>
      <p:ext uri="{BB962C8B-B14F-4D97-AF65-F5344CB8AC3E}">
        <p14:creationId xmlns:p14="http://schemas.microsoft.com/office/powerpoint/2010/main" val="414169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Research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5E09E-E9EE-8455-C8AD-F8AFFFF8284F}"/>
              </a:ext>
            </a:extLst>
          </p:cNvPr>
          <p:cNvSpPr txBox="1"/>
          <p:nvPr/>
        </p:nvSpPr>
        <p:spPr>
          <a:xfrm>
            <a:off x="566442" y="1764064"/>
            <a:ext cx="779194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Q: When do issues within international order drive </a:t>
            </a:r>
            <a:r>
              <a:rPr lang="en-US" sz="1600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voice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6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vs. </a:t>
            </a:r>
            <a:r>
              <a:rPr lang="en-US" sz="1600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deep order contestation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specifically, state disengagement toward alternative authority (state disengagement hereafter)?</a:t>
            </a:r>
          </a:p>
          <a:p>
            <a:endParaRPr lang="en-US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Order Contestation: (Lake and Wiener 2024; Lake et al. 2024)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</a:t>
            </a: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Normal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” policy disputes – voice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</a:t>
            </a: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Deep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” contestation – costly disengagement, e.g., challenge to principles/authority</a:t>
            </a:r>
          </a:p>
          <a:p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endParaRPr lang="en-US" sz="120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46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1463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Theory: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5E09E-E9EE-8455-C8AD-F8AFFFF8284F}"/>
              </a:ext>
            </a:extLst>
          </p:cNvPr>
          <p:cNvSpPr txBox="1"/>
          <p:nvPr/>
        </p:nvSpPr>
        <p:spPr>
          <a:xfrm>
            <a:off x="367902" y="1675051"/>
            <a:ext cx="702388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Mechanism I: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all issues cause</a:t>
            </a: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escalation to deep disengagement because disengagement is costly for average leaders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itchFamily="2" charset="2"/>
              </a:rPr>
              <a:t>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depends on loyalty collapse.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Mechanism II: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even then, disengagement depends on the credulity of outside options.</a:t>
            </a:r>
          </a:p>
          <a:p>
            <a:pPr>
              <a:spcBef>
                <a:spcPts val="600"/>
              </a:spcBef>
            </a:pP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itchFamily="2" charset="2"/>
              </a:rPr>
              <a:t> Conditional order resilience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86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Theory Setup: scope condition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5E09E-E9EE-8455-C8AD-F8AFFFF8284F}"/>
              </a:ext>
            </a:extLst>
          </p:cNvPr>
          <p:cNvSpPr txBox="1"/>
          <p:nvPr/>
        </p:nvSpPr>
        <p:spPr>
          <a:xfrm>
            <a:off x="367902" y="1453824"/>
            <a:ext cx="7707949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Scope condition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net disengagement costs (for </a:t>
            </a:r>
            <a:r>
              <a:rPr lang="en-US" sz="16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average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leaders)</a:t>
            </a:r>
          </a:p>
          <a:p>
            <a:pPr lvl="1">
              <a:spcBef>
                <a:spcPts val="1200"/>
              </a:spcBef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</a:t>
            </a: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(1) LIO’s high disengagement costs: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networked, selective inclusion, sunk/reputation/oppo cost 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(Carnegie and Clark 2023;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Lipscy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and Lee 2019)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(2) Uncompetitive outside options: </a:t>
            </a:r>
            <a:r>
              <a:rPr lang="en-US" sz="12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vis-à-vis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China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(3) Institutional stickiness: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structural constraint, loyalty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(Hirschman 1970; Johnston 2001; Pierson 200)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itchFamily="2" charset="2"/>
              </a:rPr>
              <a:t>	</a:t>
            </a:r>
          </a:p>
          <a:p>
            <a:pPr>
              <a:spcBef>
                <a:spcPts val="600"/>
              </a:spcBef>
            </a:pP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1DB663-6733-704F-BCF8-551957AC4FA4}"/>
              </a:ext>
            </a:extLst>
          </p:cNvPr>
          <p:cNvSpPr txBox="1"/>
          <p:nvPr/>
        </p:nvSpPr>
        <p:spPr>
          <a:xfrm>
            <a:off x="663548" y="3365995"/>
            <a:ext cx="491995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Example: </a:t>
            </a:r>
          </a:p>
          <a:p>
            <a:endParaRPr lang="en-US" sz="1050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Italian populist leaders cautiously embraced the BRI, framing it as non-committal within existing EU-China frameworks (Atkins et al. 2023)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majority of  states chose to send no representative to the first BRI summit despite invitations (Broz et al.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Welcome Chinese investment, but harbor concerns (e.g., Sri Lanka 99-year port lease)</a:t>
            </a:r>
          </a:p>
        </p:txBody>
      </p:sp>
    </p:spTree>
    <p:extLst>
      <p:ext uri="{BB962C8B-B14F-4D97-AF65-F5344CB8AC3E}">
        <p14:creationId xmlns:p14="http://schemas.microsoft.com/office/powerpoint/2010/main" val="345375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Theory Setup: two competing forces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5E09E-E9EE-8455-C8AD-F8AFFFF8284F}"/>
              </a:ext>
            </a:extLst>
          </p:cNvPr>
          <p:cNvSpPr txBox="1"/>
          <p:nvPr/>
        </p:nvSpPr>
        <p:spPr>
          <a:xfrm>
            <a:off x="367902" y="1456566"/>
            <a:ext cx="7707949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Two competing forces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(rational-choice &amp; sociological institutionalism):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en-US" b="1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External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disengagement benefits (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&amp; costs (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  <a:p>
            <a:pPr lvl="8">
              <a:spcBef>
                <a:spcPts val="600"/>
              </a:spcBef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(e.g., support rewards, issue relief, bargaining leverage, sunk/diplomatic/reputation costs…)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en-US" b="1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Internal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loyalty as a stock construct (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(Hirschman 1970; Poulsen 2020)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   (e.g., long-term institutional rewards, ideology affinity, social benefits … )</a:t>
            </a:r>
          </a:p>
          <a:p>
            <a:pPr>
              <a:spcBef>
                <a:spcPts val="600"/>
              </a:spcBef>
            </a:pP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Disengagement, if:       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- C &gt; L</a:t>
            </a:r>
          </a:p>
          <a:p>
            <a:pPr>
              <a:spcBef>
                <a:spcPts val="600"/>
              </a:spcBef>
            </a:pP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 in Hirschman’s “</a:t>
            </a:r>
            <a:r>
              <a:rPr lang="en-US" sz="12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exit-voice-loyalty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” model (1970):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                          </a:t>
            </a:r>
            <a:r>
              <a:rPr lang="en-US" sz="12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E(exit) &gt; E(stay)    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itchFamily="2" charset="2"/>
              </a:rPr>
              <a:t>    </a:t>
            </a:r>
            <a:r>
              <a:rPr lang="en-US" sz="1200" i="1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itchFamily="2" charset="2"/>
              </a:rPr>
              <a:t>B - C &gt; p*voice + L</a:t>
            </a:r>
            <a:endParaRPr lang="en-US" sz="1200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00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96072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Mechanism I: Grievance-Disengagement Nonlinearity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726443-1EAD-EC4E-9E4B-7BF7384AD04B}"/>
              </a:ext>
            </a:extLst>
          </p:cNvPr>
          <p:cNvSpPr txBox="1"/>
          <p:nvPr/>
        </p:nvSpPr>
        <p:spPr>
          <a:xfrm>
            <a:off x="442523" y="1295896"/>
            <a:ext cx="8498541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Argument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Given net disengagement costs, rational disengagement requires the collapse of loyalty. (recall: </a:t>
            </a:r>
            <a:r>
              <a:rPr lang="en-US" sz="16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B-C &gt; L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Nonlinear loyalty erosion: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Erode gradually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Collapse by unbearable grievance </a:t>
            </a:r>
          </a:p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   (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Kuran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1991; Scarry 1985; 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Wintrobe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1990)</a:t>
            </a:r>
          </a:p>
          <a:p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44FE6-F98F-D0FD-0FAD-91A74A42F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028" y="1860636"/>
            <a:ext cx="4691036" cy="33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35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An issue typology: loyalty-collapsing Issues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726443-1EAD-EC4E-9E4B-7BF7384AD04B}"/>
              </a:ext>
            </a:extLst>
          </p:cNvPr>
          <p:cNvSpPr txBox="1"/>
          <p:nvPr/>
        </p:nvSpPr>
        <p:spPr>
          <a:xfrm>
            <a:off x="277554" y="1388771"/>
            <a:ext cx="7256587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Loyalty collapse is latent, but needs leaders: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Stopping seeing continued benefits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Stopping seeing reform hope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Observable Conditions of loyalty-collapsing issues: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Persistent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Severe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Attributable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LIO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i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Unaddressable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by domestic solution or order-level voice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24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Mechanism II: Outside-option Endogeneity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B8063A-4F78-5942-9247-FA59272F809E}"/>
              </a:ext>
            </a:extLst>
          </p:cNvPr>
          <p:cNvSpPr txBox="1"/>
          <p:nvPr/>
        </p:nvSpPr>
        <p:spPr>
          <a:xfrm>
            <a:off x="367902" y="1564105"/>
            <a:ext cx="806399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Argument: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outside options are implicated in contested issues, their credibility decreases, impeding disengagement.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Example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leaders unlikely to turn to the USSR over nuclear proliferation concerns or to China over import-competition. </a:t>
            </a:r>
          </a:p>
          <a:p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96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Combined Mechanism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A5383-C895-694C-1065-336AC5C89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75" y="1676417"/>
            <a:ext cx="7772400" cy="268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0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Hypotheses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726443-1EAD-EC4E-9E4B-7BF7384AD04B}"/>
              </a:ext>
            </a:extLst>
          </p:cNvPr>
          <p:cNvSpPr txBox="1"/>
          <p:nvPr/>
        </p:nvSpPr>
        <p:spPr>
          <a:xfrm>
            <a:off x="555812" y="1524000"/>
            <a:ext cx="8498541" cy="1900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H1.1: threshold-based grievance effect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H1.2: loyalty-collapsing issues disproportionately trigger disengagement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H2: disengagement damped if challenger is implicated 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460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237AB-7C45-344C-84B0-57E2005C3551}"/>
              </a:ext>
            </a:extLst>
          </p:cNvPr>
          <p:cNvSpPr txBox="1"/>
          <p:nvPr/>
        </p:nvSpPr>
        <p:spPr>
          <a:xfrm>
            <a:off x="4933954" y="456482"/>
            <a:ext cx="3848084" cy="9866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600" b="1" kern="120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Georgi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0987" y="1700281"/>
            <a:ext cx="342900" cy="34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224;p42">
            <a:extLst>
              <a:ext uri="{FF2B5EF4-FFF2-40B4-BE49-F238E27FC236}">
                <a16:creationId xmlns:a16="http://schemas.microsoft.com/office/drawing/2014/main" id="{C5F9EE68-850D-7B48-AB2E-D4F61CA41A46}"/>
              </a:ext>
            </a:extLst>
          </p:cNvPr>
          <p:cNvSpPr txBox="1">
            <a:spLocks/>
          </p:cNvSpPr>
          <p:nvPr/>
        </p:nvSpPr>
        <p:spPr>
          <a:xfrm>
            <a:off x="5050987" y="2248802"/>
            <a:ext cx="3972207" cy="280479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1800" b="1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Georg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FD034-2CA7-B44A-872F-839AFD7ED33C}"/>
              </a:ext>
            </a:extLst>
          </p:cNvPr>
          <p:cNvSpPr txBox="1"/>
          <p:nvPr/>
        </p:nvSpPr>
        <p:spPr>
          <a:xfrm>
            <a:off x="5606685" y="1468467"/>
            <a:ext cx="301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Empirics</a:t>
            </a:r>
          </a:p>
        </p:txBody>
      </p:sp>
    </p:spTree>
    <p:extLst>
      <p:ext uri="{BB962C8B-B14F-4D97-AF65-F5344CB8AC3E}">
        <p14:creationId xmlns:p14="http://schemas.microsoft.com/office/powerpoint/2010/main" val="3885024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Example: Global Imbalances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48B4D7-6469-9C4B-B8E6-78703EF19D7E}"/>
              </a:ext>
            </a:extLst>
          </p:cNvPr>
          <p:cNvSpPr txBox="1"/>
          <p:nvPr/>
        </p:nvSpPr>
        <p:spPr>
          <a:xfrm>
            <a:off x="5742940" y="1143897"/>
            <a:ext cx="3239695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1" indent="-1714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Since 1970s - “Nixon shock”: trade and financial causes</a:t>
            </a:r>
          </a:p>
          <a:p>
            <a:pPr marL="171450" lvl="1" indent="-1714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Distributional consequences: domestic impact</a:t>
            </a:r>
          </a:p>
          <a:p>
            <a:pPr marL="171450" lvl="1" indent="-1714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Hotly contested: trade backlash, geopolitical instrument …</a:t>
            </a:r>
          </a:p>
          <a:p>
            <a:pPr marL="171450" lvl="1" indent="-1714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Under-studied in IR/</a:t>
            </a:r>
            <a:r>
              <a:rPr lang="en-US" sz="12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polisci</a:t>
            </a:r>
            <a:endParaRPr lang="en-US" sz="12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0CA8CC-894B-6043-B27A-5BD731470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0626"/>
            <a:ext cx="5742940" cy="26433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E1FD4E-08FD-983B-F937-122D9700B45E}"/>
              </a:ext>
            </a:extLst>
          </p:cNvPr>
          <p:cNvSpPr txBox="1"/>
          <p:nvPr/>
        </p:nvSpPr>
        <p:spPr>
          <a:xfrm>
            <a:off x="5894082" y="3231726"/>
            <a:ext cx="293741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i="1" dirty="0"/>
          </a:p>
          <a:p>
            <a:r>
              <a:rPr lang="en-US" sz="900" i="1" dirty="0"/>
              <a:t>“probably the most complex macroeconomic issue” </a:t>
            </a:r>
          </a:p>
          <a:p>
            <a:r>
              <a:rPr lang="en-US" sz="900" i="1" dirty="0"/>
              <a:t>    – Blanchard and </a:t>
            </a:r>
            <a:r>
              <a:rPr lang="en-US" sz="900" i="1" dirty="0" err="1"/>
              <a:t>Milesi</a:t>
            </a:r>
            <a:r>
              <a:rPr lang="en-US" sz="900" i="1" dirty="0"/>
              <a:t>-Ferretti (2009)</a:t>
            </a:r>
          </a:p>
          <a:p>
            <a:endParaRPr lang="en-US" sz="900" i="1" dirty="0"/>
          </a:p>
          <a:p>
            <a:r>
              <a:rPr lang="en-US" sz="900" i="1" dirty="0"/>
              <a:t>“that dominates policy debate”</a:t>
            </a:r>
          </a:p>
          <a:p>
            <a:r>
              <a:rPr lang="en-US" sz="900" i="1" dirty="0"/>
              <a:t>    – Chinn and Ito (2022)</a:t>
            </a:r>
          </a:p>
          <a:p>
            <a:endParaRPr lang="en-US" sz="900" i="1" dirty="0"/>
          </a:p>
        </p:txBody>
      </p:sp>
    </p:spTree>
    <p:extLst>
      <p:ext uri="{BB962C8B-B14F-4D97-AF65-F5344CB8AC3E}">
        <p14:creationId xmlns:p14="http://schemas.microsoft.com/office/powerpoint/2010/main" val="218647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90DE2E-7343-578F-8732-0F3DEE1B1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7270"/>
            <a:ext cx="7772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18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  <a:sym typeface="Wingdings" pitchFamily="2" charset="2"/>
              </a:rPr>
              <a:t>Example: Global Imbalances</a:t>
            </a:r>
            <a:endParaRPr lang="en-US" sz="2400" b="1" kern="12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EBCE15-754F-00E5-2B78-1238E436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49" y="2265136"/>
            <a:ext cx="7772400" cy="27011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77FC9-9397-3BA6-B617-27065B730502}"/>
              </a:ext>
            </a:extLst>
          </p:cNvPr>
          <p:cNvSpPr txBox="1"/>
          <p:nvPr/>
        </p:nvSpPr>
        <p:spPr>
          <a:xfrm>
            <a:off x="509666" y="1311639"/>
            <a:ext cx="72747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 non-trivial set of countries:</a:t>
            </a:r>
          </a:p>
          <a:p>
            <a:endParaRPr lang="en-US" dirty="0"/>
          </a:p>
          <a:p>
            <a:r>
              <a:rPr lang="en-US" dirty="0"/>
              <a:t>1. persistent  2. severe. 3. LIO-attributable 4. resistant to domestic or order-level solutions</a:t>
            </a:r>
          </a:p>
        </p:txBody>
      </p:sp>
    </p:spTree>
    <p:extLst>
      <p:ext uri="{BB962C8B-B14F-4D97-AF65-F5344CB8AC3E}">
        <p14:creationId xmlns:p14="http://schemas.microsoft.com/office/powerpoint/2010/main" val="2708109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Classifying Helpless Issues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726443-1EAD-EC4E-9E4B-7BF7384AD04B}"/>
              </a:ext>
            </a:extLst>
          </p:cNvPr>
          <p:cNvSpPr txBox="1"/>
          <p:nvPr/>
        </p:nvSpPr>
        <p:spPr>
          <a:xfrm>
            <a:off x="555812" y="1524000"/>
            <a:ext cx="8498541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Identify ten issues from IO 75</a:t>
            </a:r>
            <a:r>
              <a:rPr lang="en-US" sz="1200" baseline="3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special issue on LIO (all papers), excluding ideational, territory, climate, etc.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Qualitative assessment based on statistical facts, literature, domain knowledge (three domain experts).</a:t>
            </a:r>
          </a:p>
          <a:p>
            <a:pPr lvl="1">
              <a:spcBef>
                <a:spcPts val="600"/>
              </a:spcBef>
            </a:pPr>
            <a:r>
              <a:rPr lang="en-US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*Overall classification robust, despite dimensional differences.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ADF0E-1AAD-A880-C017-22AACB549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77" y="2424039"/>
            <a:ext cx="6816777" cy="262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2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Cross-validation: Media Perception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BA61A-2C6D-A5C4-D18D-E42751A2D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274" y="1363646"/>
            <a:ext cx="6300726" cy="3464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5D2E37-A39D-8D57-EC08-1B203F64AD15}"/>
              </a:ext>
            </a:extLst>
          </p:cNvPr>
          <p:cNvSpPr txBox="1"/>
          <p:nvPr/>
        </p:nvSpPr>
        <p:spPr>
          <a:xfrm>
            <a:off x="232744" y="1979280"/>
            <a:ext cx="248862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LLM-based rating: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(e.g., severity – “how extremely is the issue damaging to domestic economy?” )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Robustness</a:t>
            </a:r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alternative LLMs, window-sizes </a:t>
            </a:r>
          </a:p>
        </p:txBody>
      </p:sp>
    </p:spTree>
    <p:extLst>
      <p:ext uri="{BB962C8B-B14F-4D97-AF65-F5344CB8AC3E}">
        <p14:creationId xmlns:p14="http://schemas.microsoft.com/office/powerpoint/2010/main" val="34192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Measuring Grievance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726443-1EAD-EC4E-9E4B-7BF7384AD04B}"/>
              </a:ext>
            </a:extLst>
          </p:cNvPr>
          <p:cNvSpPr txBox="1"/>
          <p:nvPr/>
        </p:nvSpPr>
        <p:spPr>
          <a:xfrm>
            <a:off x="466799" y="1451171"/>
            <a:ext cx="8498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Time-discounted (d=0.05) weighted average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of past N years (e.g., current-account balance)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C3E5E-700E-1518-F560-7396AE5B9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953" y="1856264"/>
            <a:ext cx="2393950" cy="704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189C2C-73DB-B460-F547-4E4B234652F7}"/>
              </a:ext>
            </a:extLst>
          </p:cNvPr>
          <p:cNvSpPr txBox="1"/>
          <p:nvPr/>
        </p:nvSpPr>
        <p:spPr>
          <a:xfrm>
            <a:off x="466799" y="2985961"/>
            <a:ext cx="6292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Globalization Grievance (GG) Score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proxy aggregate grievances (1990-2022)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E9FED7-4930-9D49-A104-CD9CF9DF2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242" y="3604703"/>
            <a:ext cx="4691072" cy="78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7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GG Score: Face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1C6AE-C3EB-936C-69BC-3542B333D6C4}"/>
              </a:ext>
            </a:extLst>
          </p:cNvPr>
          <p:cNvSpPr txBox="1"/>
          <p:nvPr/>
        </p:nvSpPr>
        <p:spPr>
          <a:xfrm>
            <a:off x="609442" y="2428602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Weight of helpless issues = 5 </a:t>
            </a:r>
          </a:p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(3, 10:  similar results)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A6586-67EE-5B4C-90C9-82DA5EE72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825" y="1041227"/>
            <a:ext cx="5702975" cy="410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87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GG Score: Face Validation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90DFFC-58D7-81C9-338E-4E5001C3D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26" y="1233437"/>
            <a:ext cx="6928807" cy="369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42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VS. Random Labelling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CACE3-C4B5-A566-88A6-4BF14EA3A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8" y="1352367"/>
            <a:ext cx="7772400" cy="305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64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Mechanism I: Threshold Effect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05EAF-CF46-EF64-5B9F-04F98A184C1D}"/>
              </a:ext>
            </a:extLst>
          </p:cNvPr>
          <p:cNvSpPr txBox="1"/>
          <p:nvPr/>
        </p:nvSpPr>
        <p:spPr>
          <a:xfrm>
            <a:off x="500330" y="1428260"/>
            <a:ext cx="3316931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Grievance-level (GG score)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Robust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bootstrap, GG score (rank-based, income-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residualized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0F549-EFC4-1674-E240-3F5F3252F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215" y="1290820"/>
            <a:ext cx="5353933" cy="378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8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Mechanism I: Threshold Effect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05EAF-CF46-EF64-5B9F-04F98A184C1D}"/>
              </a:ext>
            </a:extLst>
          </p:cNvPr>
          <p:cNvSpPr txBox="1"/>
          <p:nvPr/>
        </p:nvSpPr>
        <p:spPr>
          <a:xfrm>
            <a:off x="273012" y="1439114"/>
            <a:ext cx="291572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Issue-level 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Two operationalizations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pooling issues, helpless dummy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C4CAC-6CB2-B08D-915F-8DBD99BC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57" y="2464985"/>
            <a:ext cx="2725948" cy="6873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4717979-B3A5-1958-9B2F-53B98E7FA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405" y="1290142"/>
            <a:ext cx="6359577" cy="37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1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Cross-domain (M1): UNES-11/1 Resolution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05EAF-CF46-EF64-5B9F-04F98A184C1D}"/>
              </a:ext>
            </a:extLst>
          </p:cNvPr>
          <p:cNvSpPr txBox="1"/>
          <p:nvPr/>
        </p:nvSpPr>
        <p:spPr>
          <a:xfrm>
            <a:off x="500331" y="1428260"/>
            <a:ext cx="604711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UNES-11/1 Resolution: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first vote to demand Russia’s withdraw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Non-compliance: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costly signal for order defiance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Results: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1) only GI and financial instability. 2) threshold-based effect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6E1ABA-A1F7-F3A0-B1B5-231DFEB70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8" y="2415706"/>
            <a:ext cx="5683197" cy="2686121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8B85A69A-B939-EF04-65E3-9DC7C38DEB48}"/>
              </a:ext>
            </a:extLst>
          </p:cNvPr>
          <p:cNvSpPr/>
          <p:nvPr/>
        </p:nvSpPr>
        <p:spPr>
          <a:xfrm>
            <a:off x="5868063" y="4500438"/>
            <a:ext cx="564542" cy="601389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10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Mechanism I: Outside-option Endogeneity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633F4-15B4-F43C-5128-575922A93AB6}"/>
              </a:ext>
            </a:extLst>
          </p:cNvPr>
          <p:cNvSpPr txBox="1"/>
          <p:nvPr/>
        </p:nvSpPr>
        <p:spPr>
          <a:xfrm>
            <a:off x="509799" y="1416106"/>
            <a:ext cx="32685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DV: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2017 BRI Summit attendance </a:t>
            </a:r>
          </a:p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DV criteria: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Interpretable as order-targeting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Costly signal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Grievance-related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D4D84-D3B9-B454-D634-1E66154F3D4E}"/>
              </a:ext>
            </a:extLst>
          </p:cNvPr>
          <p:cNvSpPr txBox="1"/>
          <p:nvPr/>
        </p:nvSpPr>
        <p:spPr>
          <a:xfrm>
            <a:off x="4226001" y="1471371"/>
            <a:ext cx="3632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LPM model (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robust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Probit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IPW, IV, sensitivity)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D35040-C0EA-4375-1075-4852C02B9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263" y="1864109"/>
            <a:ext cx="5269938" cy="3279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E7C9B-29DB-2C73-3781-8D5265F39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371" y="1125786"/>
            <a:ext cx="4748842" cy="37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0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Cross-domain (M2): UNGA Vote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05EAF-CF46-EF64-5B9F-04F98A184C1D}"/>
              </a:ext>
            </a:extLst>
          </p:cNvPr>
          <p:cNvSpPr txBox="1"/>
          <p:nvPr/>
        </p:nvSpPr>
        <p:spPr>
          <a:xfrm>
            <a:off x="500331" y="1428260"/>
            <a:ext cx="57710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Attribution effect 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manifest in routine diplomacy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Bilateral trade affects voting behavior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(Bailey et al. 2017; Flores-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Mac´ıas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and Kreps 2013)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D667C-2CE5-8C34-D069-808DC826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91" y="2179742"/>
            <a:ext cx="6909758" cy="278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91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Micro-level Rhetorical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05EAF-CF46-EF64-5B9F-04F98A184C1D}"/>
              </a:ext>
            </a:extLst>
          </p:cNvPr>
          <p:cNvSpPr txBox="1"/>
          <p:nvPr/>
        </p:nvSpPr>
        <p:spPr>
          <a:xfrm>
            <a:off x="367903" y="1428260"/>
            <a:ext cx="286700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United Nations General Debate Corpus (UNGDC)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10,000+ statements delivered by national leaders (one country per year)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LLM rating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6C7B0F-DC90-E442-14A4-A93012D50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366" y="1048260"/>
            <a:ext cx="5455532" cy="403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1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Rhetorical Evidence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AA1543-E23C-2888-E026-6AA5C74B8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033" y="34504"/>
            <a:ext cx="4900818" cy="5143500"/>
          </a:xfrm>
          <a:prstGeom prst="rect">
            <a:avLst/>
          </a:prstGeom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BCFFFAB5-A806-04F9-CA5D-8462C5D360CC}"/>
              </a:ext>
            </a:extLst>
          </p:cNvPr>
          <p:cNvSpPr/>
          <p:nvPr/>
        </p:nvSpPr>
        <p:spPr>
          <a:xfrm>
            <a:off x="6176513" y="765020"/>
            <a:ext cx="1457864" cy="28324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98C459D-6EB9-EB0B-8885-621CEACE5F3A}"/>
              </a:ext>
            </a:extLst>
          </p:cNvPr>
          <p:cNvSpPr/>
          <p:nvPr/>
        </p:nvSpPr>
        <p:spPr>
          <a:xfrm>
            <a:off x="4088921" y="2372262"/>
            <a:ext cx="353683" cy="767751"/>
          </a:xfrm>
          <a:prstGeom prst="lef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AC27C348-31E0-2F6F-5AAD-83E92C0F3E7E}"/>
              </a:ext>
            </a:extLst>
          </p:cNvPr>
          <p:cNvSpPr/>
          <p:nvPr/>
        </p:nvSpPr>
        <p:spPr>
          <a:xfrm>
            <a:off x="7694762" y="3096883"/>
            <a:ext cx="586596" cy="353683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2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Qualitative Cases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28F8AE-7DA9-5CB1-4006-F768DC006AB2}"/>
              </a:ext>
            </a:extLst>
          </p:cNvPr>
          <p:cNvSpPr txBox="1"/>
          <p:nvPr/>
        </p:nvSpPr>
        <p:spPr>
          <a:xfrm>
            <a:off x="569343" y="1595887"/>
            <a:ext cx="111921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Italy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Canada</a:t>
            </a:r>
          </a:p>
        </p:txBody>
      </p:sp>
    </p:spTree>
    <p:extLst>
      <p:ext uri="{BB962C8B-B14F-4D97-AF65-F5344CB8AC3E}">
        <p14:creationId xmlns:p14="http://schemas.microsoft.com/office/powerpoint/2010/main" val="287544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Conclusion &amp; Implications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3907E7-A296-0D45-B7BB-FB756E0E7286}"/>
              </a:ext>
            </a:extLst>
          </p:cNvPr>
          <p:cNvSpPr txBox="1"/>
          <p:nvPr/>
        </p:nvSpPr>
        <p:spPr>
          <a:xfrm>
            <a:off x="241248" y="1276483"/>
            <a:ext cx="8067865" cy="2078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b="1" dirty="0">
                <a:sym typeface="Wingdings" pitchFamily="2" charset="2"/>
              </a:rPr>
              <a:t>Beyond domestic backlash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b="1" dirty="0">
                <a:sym typeface="Wingdings" pitchFamily="2" charset="2"/>
              </a:rPr>
              <a:t>Understanding structural issues </a:t>
            </a:r>
          </a:p>
          <a:p>
            <a:pPr lvl="8">
              <a:lnSpc>
                <a:spcPct val="150000"/>
              </a:lnSpc>
            </a:pPr>
            <a:r>
              <a:rPr lang="en-US" sz="1200" dirty="0">
                <a:sym typeface="Wingdings" pitchFamily="2" charset="2"/>
              </a:rPr>
              <a:t>           - Why backlash persists?</a:t>
            </a:r>
          </a:p>
          <a:p>
            <a:pPr lvl="8">
              <a:lnSpc>
                <a:spcPct val="150000"/>
              </a:lnSpc>
            </a:pPr>
            <a:r>
              <a:rPr lang="en-US" sz="1200" dirty="0">
                <a:sym typeface="Wingdings" pitchFamily="2" charset="2"/>
              </a:rPr>
              <a:t>           - Seeking priority &amp; solutions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b="1" dirty="0">
                <a:sym typeface="Wingdings" pitchFamily="2" charset="2"/>
              </a:rPr>
              <a:t>More complicated than HST &amp; PTT.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b="1" dirty="0">
                <a:sym typeface="Wingdings" pitchFamily="2" charset="2"/>
              </a:rPr>
              <a:t>Political consequence of global imbalances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DBE87-1CB9-66A1-8BDC-EFA73738F1C5}"/>
              </a:ext>
            </a:extLst>
          </p:cNvPr>
          <p:cNvSpPr txBox="1"/>
          <p:nvPr/>
        </p:nvSpPr>
        <p:spPr>
          <a:xfrm>
            <a:off x="6925197" y="3054149"/>
            <a:ext cx="1168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Thank you   </a:t>
            </a:r>
          </a:p>
        </p:txBody>
      </p:sp>
    </p:spTree>
    <p:extLst>
      <p:ext uri="{BB962C8B-B14F-4D97-AF65-F5344CB8AC3E}">
        <p14:creationId xmlns:p14="http://schemas.microsoft.com/office/powerpoint/2010/main" val="1968810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  <a:sym typeface="Wingdings" pitchFamily="2" charset="2"/>
              </a:rPr>
              <a:t>Psychological Update: Grievance</a:t>
            </a:r>
            <a:endParaRPr lang="en-US" sz="2400" b="1" kern="1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B0CC5-FF80-3040-A124-35672D94AE35}"/>
              </a:ext>
            </a:extLst>
          </p:cNvPr>
          <p:cNvSpPr txBox="1"/>
          <p:nvPr/>
        </p:nvSpPr>
        <p:spPr>
          <a:xfrm>
            <a:off x="367902" y="1733828"/>
            <a:ext cx="3996707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Inherent Aversion</a:t>
            </a:r>
          </a:p>
          <a:p>
            <a:pPr marL="285750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sz="1100" dirty="0"/>
              <a:t>Psychologically salient </a:t>
            </a:r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(Bhatia 2013; Kahneman 2013)</a:t>
            </a:r>
          </a:p>
          <a:p>
            <a:pPr marL="285750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sz="1100" dirty="0"/>
              <a:t>Household budget experience </a:t>
            </a:r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(Barnes and Hicks 2020)</a:t>
            </a:r>
            <a:endParaRPr lang="en-CA" sz="1200" dirty="0"/>
          </a:p>
          <a:p>
            <a:endParaRPr lang="en-CA" sz="1200" dirty="0"/>
          </a:p>
          <a:p>
            <a:r>
              <a:rPr lang="en-CA" sz="1200" b="1" dirty="0"/>
              <a:t>Concerns about related issues</a:t>
            </a:r>
          </a:p>
          <a:p>
            <a:pPr marL="285750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sz="1100" dirty="0"/>
              <a:t>Mercantilists of 17/18c </a:t>
            </a:r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(Irwin 1998) </a:t>
            </a:r>
            <a:r>
              <a:rPr lang="en-CA" sz="1100" dirty="0"/>
              <a:t>Keynes </a:t>
            </a:r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(Crowther 1948)  </a:t>
            </a:r>
            <a:r>
              <a:rPr lang="en-CA" sz="1100" dirty="0"/>
              <a:t>Friedman </a:t>
            </a:r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(Friedman and Friedman 1980)</a:t>
            </a:r>
          </a:p>
          <a:p>
            <a:pPr marL="285750" indent="-2857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sz="1100" dirty="0"/>
              <a:t>OECD, IMF, and EU </a:t>
            </a:r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CA" sz="700" dirty="0" err="1">
                <a:solidFill>
                  <a:schemeClr val="bg1">
                    <a:lumMod val="65000"/>
                  </a:schemeClr>
                </a:solidFill>
              </a:rPr>
              <a:t>Delpeuch</a:t>
            </a:r>
            <a:r>
              <a:rPr lang="en-CA" sz="700" dirty="0">
                <a:solidFill>
                  <a:schemeClr val="bg1">
                    <a:lumMod val="65000"/>
                  </a:schemeClr>
                </a:solidFill>
              </a:rPr>
              <a:t> et al. 2021)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B5C32-385A-7614-6E8A-D6FF66DBBDB3}"/>
              </a:ext>
            </a:extLst>
          </p:cNvPr>
          <p:cNvSpPr txBox="1"/>
          <p:nvPr/>
        </p:nvSpPr>
        <p:spPr>
          <a:xfrm>
            <a:off x="4364609" y="1726795"/>
            <a:ext cx="435518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/>
              <a:t>Peer Comparison</a:t>
            </a:r>
          </a:p>
          <a:p>
            <a:pPr marL="171450" indent="-1714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sz="1100" dirty="0"/>
              <a:t>Public perception: surplus as winner </a:t>
            </a:r>
            <a:r>
              <a:rPr lang="en-CA" sz="600" dirty="0">
                <a:solidFill>
                  <a:schemeClr val="bg1">
                    <a:lumMod val="65000"/>
                  </a:schemeClr>
                </a:solidFill>
              </a:rPr>
              <a:t>(Krugman 2019; Stiglitz/Bernanke)</a:t>
            </a:r>
          </a:p>
          <a:p>
            <a:pPr marL="171450" indent="-1714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sz="1100" dirty="0"/>
              <a:t>“Trump: deficit with China makes U.S. ‘biggest loser’” </a:t>
            </a:r>
            <a:r>
              <a:rPr lang="en-CA" sz="600" dirty="0">
                <a:solidFill>
                  <a:schemeClr val="bg1">
                    <a:lumMod val="65000"/>
                  </a:schemeClr>
                </a:solidFill>
              </a:rPr>
              <a:t>(NYT 2016)</a:t>
            </a:r>
          </a:p>
          <a:p>
            <a:pPr marL="171450" indent="-1714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sz="1100" dirty="0"/>
              <a:t>Geopolitical: relative gains </a:t>
            </a:r>
            <a:r>
              <a:rPr lang="en-CA" sz="600" dirty="0">
                <a:solidFill>
                  <a:schemeClr val="bg1">
                    <a:lumMod val="65000"/>
                  </a:schemeClr>
                </a:solidFill>
              </a:rPr>
              <a:t>(Liberman 1998; Smith 1776)</a:t>
            </a:r>
          </a:p>
          <a:p>
            <a:endParaRPr lang="en-CA" sz="1200" dirty="0"/>
          </a:p>
          <a:p>
            <a:r>
              <a:rPr lang="en-CA" sz="1200" b="1" dirty="0"/>
              <a:t>Temporal Contrast</a:t>
            </a:r>
          </a:p>
          <a:p>
            <a:pPr marL="171450" indent="-171450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CA" sz="1100" dirty="0"/>
              <a:t>1980/90s liberalization: </a:t>
            </a:r>
            <a:r>
              <a:rPr lang="en-CA" sz="1100" dirty="0">
                <a:solidFill>
                  <a:schemeClr val="tx1"/>
                </a:solidFill>
              </a:rPr>
              <a:t>expect better – </a:t>
            </a:r>
            <a:r>
              <a:rPr lang="en-CA" sz="1100" dirty="0"/>
              <a:t>socioeconomic, political, and national power </a:t>
            </a:r>
            <a:r>
              <a:rPr lang="en-CA" sz="600" dirty="0">
                <a:solidFill>
                  <a:schemeClr val="bg1">
                    <a:lumMod val="65000"/>
                  </a:schemeClr>
                </a:solidFill>
              </a:rPr>
              <a:t>(Quinn and Toyoda 2007; Krasner 1985)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7398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AEAC58-AD91-4C00-0450-AAC18EE61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3952"/>
            <a:ext cx="7772400" cy="395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73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237AB-7C45-344C-84B0-57E2005C3551}"/>
              </a:ext>
            </a:extLst>
          </p:cNvPr>
          <p:cNvSpPr txBox="1"/>
          <p:nvPr/>
        </p:nvSpPr>
        <p:spPr>
          <a:xfrm>
            <a:off x="4933954" y="265858"/>
            <a:ext cx="3848084" cy="1243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Georgia"/>
              </a:rPr>
              <a:t>Robert </a:t>
            </a:r>
            <a:r>
              <a:rPr lang="en-US" sz="16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Georgia"/>
              </a:rPr>
              <a:t>Lighthizer</a:t>
            </a:r>
            <a:r>
              <a:rPr lang="en-US" sz="16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Georgia"/>
              </a:rPr>
              <a:t> (USTR </a:t>
            </a:r>
            <a:r>
              <a:rPr lang="en-US" sz="16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Georgia"/>
              </a:rPr>
              <a:t>amb</a:t>
            </a:r>
            <a:r>
              <a:rPr lang="en-US" sz="16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Georgia"/>
              </a:rPr>
              <a:t>. 2017-20) was anxious about the U.S. trade deficit ($400b) w/ China, as if “</a:t>
            </a:r>
            <a:r>
              <a:rPr lang="en-US" sz="1600" b="1" i="1" kern="1200" dirty="0">
                <a:solidFill>
                  <a:srgbClr val="C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Georgia"/>
              </a:rPr>
              <a:t>the U.S. is losing</a:t>
            </a:r>
            <a:r>
              <a:rPr lang="en-US" sz="16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Georgia"/>
              </a:rPr>
              <a:t>.”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0987" y="1700281"/>
            <a:ext cx="342900" cy="34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224;p42">
            <a:extLst>
              <a:ext uri="{FF2B5EF4-FFF2-40B4-BE49-F238E27FC236}">
                <a16:creationId xmlns:a16="http://schemas.microsoft.com/office/drawing/2014/main" id="{C5F9EE68-850D-7B48-AB2E-D4F61CA41A46}"/>
              </a:ext>
            </a:extLst>
          </p:cNvPr>
          <p:cNvSpPr txBox="1">
            <a:spLocks/>
          </p:cNvSpPr>
          <p:nvPr/>
        </p:nvSpPr>
        <p:spPr>
          <a:xfrm>
            <a:off x="5050987" y="2248802"/>
            <a:ext cx="4093013" cy="280479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4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eorgia"/>
              </a:rPr>
              <a:t>China (1980s, Chen Yun, deficit)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4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eorgia"/>
              </a:rPr>
              <a:t>U.S. (trade war)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14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eorgia"/>
              </a:rPr>
              <a:t>EU, India, Mexico, Indonesia … 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§"/>
            </a:pPr>
            <a:endParaRPr lang="en-US" sz="18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Georgia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§"/>
            </a:pPr>
            <a:endParaRPr lang="en-US" sz="18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Georgia"/>
            </a:endParaRP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8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Georgia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 b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Georgia"/>
              </a:rPr>
              <a:t> </a:t>
            </a:r>
            <a:r>
              <a:rPr lang="en-US" sz="1800" b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 political psychology &amp; behavior</a:t>
            </a:r>
            <a:endParaRPr lang="en-US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Georgia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18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A5951-32E0-E04A-B702-AF67E2B8C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33" y="356799"/>
            <a:ext cx="3678742" cy="417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1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More Robustness Tests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8060E-6EFC-B647-96D7-D324925DCC5E}"/>
              </a:ext>
            </a:extLst>
          </p:cNvPr>
          <p:cNvSpPr txBox="1"/>
          <p:nvPr/>
        </p:nvSpPr>
        <p:spPr>
          <a:xfrm>
            <a:off x="462427" y="1388225"/>
            <a:ext cx="821914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CA" dirty="0"/>
              <a:t>Power tests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CA" dirty="0"/>
              <a:t>Trimming tail data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CA" dirty="0"/>
              <a:t>Missing data: Multiple Imputation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CA" dirty="0"/>
              <a:t>More control variables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CA" dirty="0"/>
              <a:t>Recoding some IV/DV 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CA" dirty="0"/>
              <a:t>Separating current account and trade balances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CA" dirty="0"/>
              <a:t>…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12917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BDE2B-B100-114B-A6D0-271A1A542B87}"/>
              </a:ext>
            </a:extLst>
          </p:cNvPr>
          <p:cNvSpPr txBox="1"/>
          <p:nvPr/>
        </p:nvSpPr>
        <p:spPr>
          <a:xfrm>
            <a:off x="367902" y="489633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400" b="1" kern="1200" dirty="0">
                <a:solidFill>
                  <a:schemeClr val="bg1"/>
                </a:solidFill>
              </a:rPr>
              <a:t>Case: Italy’s Attending, Joining and Leaving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8060E-6EFC-B647-96D7-D324925DCC5E}"/>
              </a:ext>
            </a:extLst>
          </p:cNvPr>
          <p:cNvSpPr txBox="1"/>
          <p:nvPr/>
        </p:nvSpPr>
        <p:spPr>
          <a:xfrm>
            <a:off x="462427" y="1388225"/>
            <a:ext cx="821914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CA" dirty="0"/>
              <a:t>The only G7 state to attend the BRI summit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Courier New" panose="02070309020205020404" pitchFamily="49" charset="0"/>
              <a:buChar char="o"/>
            </a:pPr>
            <a:endParaRPr lang="en-CA" sz="1100" dirty="0"/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CA" dirty="0"/>
              <a:t>March 2019, when joining the BRI, Italy had years of financial/economic grievances and was hoping to solve trade imbalance through the BRI </a:t>
            </a:r>
            <a:r>
              <a:rPr lang="en-CA" sz="900" dirty="0">
                <a:solidFill>
                  <a:schemeClr val="bg1">
                    <a:lumMod val="65000"/>
                  </a:schemeClr>
                </a:solidFill>
              </a:rPr>
              <a:t>(Aljazeera 2019)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Courier New" panose="02070309020205020404" pitchFamily="49" charset="0"/>
              <a:buChar char="o"/>
            </a:pPr>
            <a:endParaRPr lang="en-CA" sz="800" dirty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CA" dirty="0"/>
              <a:t>July 2023, when quitting the BRI, Italy Defense Minister Guido </a:t>
            </a:r>
            <a:r>
              <a:rPr lang="en-CA" dirty="0" err="1"/>
              <a:t>Crosetto</a:t>
            </a:r>
            <a:r>
              <a:rPr lang="en-CA" dirty="0"/>
              <a:t>: “. . . Joining the Silk Road (BRI) was an improvised and wicked act. . . we exported a load of oranges to China, they tripled exports to Italy in three years. . . ” </a:t>
            </a:r>
            <a:r>
              <a:rPr lang="en-CA" sz="900" dirty="0">
                <a:solidFill>
                  <a:schemeClr val="bg1">
                    <a:lumMod val="65000"/>
                  </a:schemeClr>
                </a:solidFill>
              </a:rPr>
              <a:t>(Politico 2023)</a:t>
            </a:r>
          </a:p>
          <a:p>
            <a:pPr>
              <a:spcBef>
                <a:spcPts val="600"/>
              </a:spcBef>
            </a:pPr>
            <a:endParaRPr lang="en-CA" dirty="0"/>
          </a:p>
          <a:p>
            <a:pPr>
              <a:spcBef>
                <a:spcPts val="600"/>
              </a:spcBef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751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354454</TotalTime>
  <Words>1615</Words>
  <Application>Microsoft Macintosh PowerPoint</Application>
  <PresentationFormat>On-screen Show (16:9)</PresentationFormat>
  <Paragraphs>204</Paragraphs>
  <Slides>35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Calibri</vt:lpstr>
      <vt:lpstr>Wingdings</vt:lpstr>
      <vt:lpstr>Courier New</vt:lpstr>
      <vt:lpstr>Source Sans Pro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(Not) Support the Liberal Order？  The Great Cleavage, Hopelessness and Ambivalence </dc:title>
  <cp:lastModifiedBy>Yean, George</cp:lastModifiedBy>
  <cp:revision>1331</cp:revision>
  <cp:lastPrinted>2023-11-13T19:04:36Z</cp:lastPrinted>
  <dcterms:modified xsi:type="dcterms:W3CDTF">2026-04-24T15:06:47Z</dcterms:modified>
</cp:coreProperties>
</file>